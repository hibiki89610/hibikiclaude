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9" d="100"/>
          <a:sy n="119" d="100"/>
        </p:scale>
        <p:origin x="21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2335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903970" y="2629357"/>
            <a:ext cx="2743200" cy="2743200"/>
          </a:xfrm>
          <a:prstGeom prst="ellipse">
            <a:avLst/>
          </a:prstGeom>
          <a:solidFill>
            <a:srgbClr val="8541DC">
              <a:alpha val="30000"/>
            </a:srgbClr>
          </a:solidFill>
          <a:ln/>
        </p:spPr>
        <p:txBody>
          <a:bodyPr/>
          <a:lstStyle/>
          <a:p>
            <a:endParaRPr lang="ja-JP" altLang="en-US"/>
          </a:p>
        </p:txBody>
      </p:sp>
      <p:sp>
        <p:nvSpPr>
          <p:cNvPr id="3" name="Shape 1"/>
          <p:cNvSpPr/>
          <p:nvPr/>
        </p:nvSpPr>
        <p:spPr>
          <a:xfrm>
            <a:off x="8115300" y="3891229"/>
            <a:ext cx="2743200" cy="2743200"/>
          </a:xfrm>
          <a:prstGeom prst="ellipse">
            <a:avLst/>
          </a:prstGeom>
          <a:solidFill>
            <a:srgbClr val="A970E8">
              <a:alpha val="30000"/>
            </a:srgbClr>
          </a:solidFill>
          <a:ln/>
        </p:spPr>
        <p:txBody>
          <a:bodyPr/>
          <a:lstStyle/>
          <a:p>
            <a:endParaRPr lang="ja-JP" altLang="en-US"/>
          </a:p>
        </p:txBody>
      </p:sp>
      <p:sp>
        <p:nvSpPr>
          <p:cNvPr id="4" name="Shape 2"/>
          <p:cNvSpPr/>
          <p:nvPr/>
        </p:nvSpPr>
        <p:spPr>
          <a:xfrm>
            <a:off x="9692640" y="3891229"/>
            <a:ext cx="2743200" cy="2743200"/>
          </a:xfrm>
          <a:prstGeom prst="ellipse">
            <a:avLst/>
          </a:prstGeom>
          <a:solidFill>
            <a:srgbClr val="6A2FB8">
              <a:alpha val="30000"/>
            </a:srgbClr>
          </a:solidFill>
          <a:ln/>
        </p:spPr>
        <p:txBody>
          <a:bodyPr/>
          <a:lstStyle/>
          <a:p>
            <a:endParaRPr lang="ja-JP" altLang="en-US"/>
          </a:p>
        </p:txBody>
      </p:sp>
      <p:sp>
        <p:nvSpPr>
          <p:cNvPr id="5" name="Text 3"/>
          <p:cNvSpPr/>
          <p:nvPr/>
        </p:nvSpPr>
        <p:spPr>
          <a:xfrm>
            <a:off x="822960" y="1371600"/>
            <a:ext cx="9144000" cy="320040"/>
          </a:xfrm>
          <a:prstGeom prst="rect">
            <a:avLst/>
          </a:prstGeom>
          <a:noFill/>
          <a:ln/>
        </p:spPr>
        <p:txBody>
          <a:bodyPr wrap="square" lIns="0" tIns="0" rIns="0" bIns="0" rtlCol="0" anchor="ctr"/>
          <a:lstStyle/>
          <a:p>
            <a:pPr marL="0" indent="0">
              <a:buNone/>
            </a:pPr>
            <a:r>
              <a:rPr lang="en-US" sz="1300" b="1" kern="0" spc="300" dirty="0">
                <a:solidFill>
                  <a:srgbClr val="D9CBF2"/>
                </a:solidFill>
                <a:latin typeface="Noto Sans JP" pitchFamily="34" charset="0"/>
                <a:ea typeface="Noto Sans JP" pitchFamily="34" charset="-122"/>
                <a:cs typeface="Noto Sans JP" pitchFamily="34" charset="-120"/>
              </a:rPr>
              <a:t>LLMO 現状分析レポート｜B2B</a:t>
            </a:r>
            <a:endParaRPr lang="en-US" sz="1300" dirty="0"/>
          </a:p>
        </p:txBody>
      </p:sp>
      <p:sp>
        <p:nvSpPr>
          <p:cNvPr id="6" name="Text 4"/>
          <p:cNvSpPr/>
          <p:nvPr/>
        </p:nvSpPr>
        <p:spPr>
          <a:xfrm>
            <a:off x="822960" y="1874520"/>
            <a:ext cx="10058400" cy="1737360"/>
          </a:xfrm>
          <a:prstGeom prst="rect">
            <a:avLst/>
          </a:prstGeom>
          <a:noFill/>
          <a:ln/>
        </p:spPr>
        <p:txBody>
          <a:bodyPr wrap="square" lIns="0" tIns="0" rIns="0" bIns="0" rtlCol="0" anchor="ctr"/>
          <a:lstStyle/>
          <a:p>
            <a:pPr marL="0" indent="0">
              <a:lnSpc>
                <a:spcPct val="115000"/>
              </a:lnSpc>
              <a:buNone/>
            </a:pPr>
            <a:r>
              <a:rPr lang="en-US" sz="3800" b="1" dirty="0">
                <a:solidFill>
                  <a:srgbClr val="FFFFFF"/>
                </a:solidFill>
                <a:latin typeface="Noto Sans JP" pitchFamily="34" charset="0"/>
                <a:ea typeface="Noto Sans JP" pitchFamily="34" charset="-122"/>
                <a:cs typeface="Noto Sans JP" pitchFamily="34" charset="-120"/>
              </a:rPr>
              <a:t>購買担当者に、</a:t>
            </a:r>
            <a:endParaRPr lang="en-US" sz="3800" dirty="0"/>
          </a:p>
          <a:p>
            <a:pPr marL="0" indent="0">
              <a:lnSpc>
                <a:spcPct val="115000"/>
              </a:lnSpc>
              <a:buNone/>
            </a:pPr>
            <a:r>
              <a:rPr lang="en-US" sz="3800" b="1" dirty="0">
                <a:solidFill>
                  <a:srgbClr val="FFFFFF"/>
                </a:solidFill>
                <a:latin typeface="Noto Sans JP" pitchFamily="34" charset="0"/>
                <a:ea typeface="Noto Sans JP" pitchFamily="34" charset="-122"/>
                <a:cs typeface="Noto Sans JP" pitchFamily="34" charset="-120"/>
              </a:rPr>
              <a:t>AIから“選ばれる”ために。</a:t>
            </a:r>
            <a:endParaRPr lang="en-US" sz="3800" dirty="0"/>
          </a:p>
        </p:txBody>
      </p:sp>
      <p:sp>
        <p:nvSpPr>
          <p:cNvPr id="7" name="Text 5"/>
          <p:cNvSpPr/>
          <p:nvPr/>
        </p:nvSpPr>
        <p:spPr>
          <a:xfrm>
            <a:off x="841248" y="3977640"/>
            <a:ext cx="8686800" cy="457200"/>
          </a:xfrm>
          <a:prstGeom prst="rect">
            <a:avLst/>
          </a:prstGeom>
          <a:noFill/>
          <a:ln/>
        </p:spPr>
        <p:txBody>
          <a:bodyPr wrap="square" lIns="0" tIns="0" rIns="0" bIns="0" rtlCol="0" anchor="ctr"/>
          <a:lstStyle/>
          <a:p>
            <a:pPr marL="0" indent="0">
              <a:buNone/>
            </a:pPr>
            <a:r>
              <a:rPr lang="en-US" sz="1700" b="1" dirty="0">
                <a:solidFill>
                  <a:srgbClr val="FFFFFF"/>
                </a:solidFill>
                <a:latin typeface="Noto Sans JP" pitchFamily="34" charset="0"/>
                <a:ea typeface="Noto Sans JP" pitchFamily="34" charset="-122"/>
                <a:cs typeface="Noto Sans JP" pitchFamily="34" charset="-120"/>
              </a:rPr>
              <a:t>株式会社Onwords 様</a:t>
            </a:r>
            <a:endParaRPr lang="en-US" sz="1700" dirty="0"/>
          </a:p>
        </p:txBody>
      </p:sp>
      <p:sp>
        <p:nvSpPr>
          <p:cNvPr id="8" name="Text 6"/>
          <p:cNvSpPr/>
          <p:nvPr/>
        </p:nvSpPr>
        <p:spPr>
          <a:xfrm>
            <a:off x="841248" y="4526280"/>
            <a:ext cx="9601200" cy="822960"/>
          </a:xfrm>
          <a:prstGeom prst="rect">
            <a:avLst/>
          </a:prstGeom>
          <a:noFill/>
          <a:ln/>
        </p:spPr>
        <p:txBody>
          <a:bodyPr wrap="square" lIns="0" tIns="0" rIns="0" bIns="0" rtlCol="0" anchor="ctr"/>
          <a:lstStyle/>
          <a:p>
            <a:pPr marL="0" indent="0">
              <a:lnSpc>
                <a:spcPct val="140000"/>
              </a:lnSpc>
              <a:buNone/>
            </a:pPr>
            <a:r>
              <a:rPr lang="en-US" sz="1250" dirty="0">
                <a:solidFill>
                  <a:srgbClr val="D9CBF2"/>
                </a:solidFill>
                <a:latin typeface="Noto Sans JP" pitchFamily="34" charset="0"/>
                <a:ea typeface="Noto Sans JP" pitchFamily="34" charset="-122"/>
                <a:cs typeface="Noto Sans JP" pitchFamily="34" charset="-120"/>
              </a:rPr>
              <a:t>対象：インバウンド×観光DX支援（onwords.co.jp）</a:t>
            </a:r>
            <a:endParaRPr lang="en-US" sz="1250" dirty="0"/>
          </a:p>
          <a:p>
            <a:pPr marL="0" indent="0">
              <a:lnSpc>
                <a:spcPct val="140000"/>
              </a:lnSpc>
              <a:buNone/>
            </a:pPr>
            <a:r>
              <a:rPr lang="en-US" sz="1250" dirty="0">
                <a:solidFill>
                  <a:srgbClr val="D9CBF2"/>
                </a:solidFill>
                <a:latin typeface="Noto Sans JP" pitchFamily="34" charset="0"/>
                <a:ea typeface="Noto Sans JP" pitchFamily="34" charset="-122"/>
                <a:cs typeface="Noto Sans JP" pitchFamily="34" charset="-120"/>
              </a:rPr>
              <a:t>計測エンジン：ChatGPT・Gemini・AI Overviews ｜ 取得日：2026-08-26 ｜ 直近30日</a:t>
            </a:r>
            <a:endParaRPr lang="en-US" sz="1250" dirty="0"/>
          </a:p>
        </p:txBody>
      </p:sp>
      <p:sp>
        <p:nvSpPr>
          <p:cNvPr id="9" name="Text 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EXIDEA Inc. / EmmaTools LLMO</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AGENDA</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本日お話しすること</a:t>
            </a:r>
            <a:endParaRPr lang="en-US" sz="2500" dirty="0"/>
          </a:p>
        </p:txBody>
      </p:sp>
      <p:sp>
        <p:nvSpPr>
          <p:cNvPr id="4" name="Shape 2"/>
          <p:cNvSpPr/>
          <p:nvPr/>
        </p:nvSpPr>
        <p:spPr>
          <a:xfrm>
            <a:off x="502920" y="1463040"/>
            <a:ext cx="11183112" cy="640080"/>
          </a:xfrm>
          <a:prstGeom prst="roundRect">
            <a:avLst>
              <a:gd name="adj" fmla="val 15714"/>
            </a:avLst>
          </a:prstGeom>
          <a:solidFill>
            <a:srgbClr val="F5F5F7"/>
          </a:solidFill>
          <a:ln/>
        </p:spPr>
        <p:txBody>
          <a:bodyPr/>
          <a:lstStyle/>
          <a:p>
            <a:endParaRPr lang="ja-JP" altLang="en-US"/>
          </a:p>
        </p:txBody>
      </p:sp>
      <p:sp>
        <p:nvSpPr>
          <p:cNvPr id="5" name="Text 3"/>
          <p:cNvSpPr/>
          <p:nvPr/>
        </p:nvSpPr>
        <p:spPr>
          <a:xfrm>
            <a:off x="777240" y="1463040"/>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01</a:t>
            </a:r>
            <a:endParaRPr lang="en-US" sz="2000" dirty="0"/>
          </a:p>
        </p:txBody>
      </p:sp>
      <p:sp>
        <p:nvSpPr>
          <p:cNvPr id="6" name="Text 4"/>
          <p:cNvSpPr/>
          <p:nvPr/>
        </p:nvSpPr>
        <p:spPr>
          <a:xfrm>
            <a:off x="1828800" y="1463040"/>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LLMOの考え方</a:t>
            </a:r>
            <a:endParaRPr lang="en-US" sz="1350" dirty="0"/>
          </a:p>
        </p:txBody>
      </p:sp>
      <p:sp>
        <p:nvSpPr>
          <p:cNvPr id="7" name="Text 5"/>
          <p:cNvSpPr/>
          <p:nvPr/>
        </p:nvSpPr>
        <p:spPr>
          <a:xfrm>
            <a:off x="5852160" y="1463040"/>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AI時代に“選ばれる”とは何か（当社の考え方）</a:t>
            </a:r>
            <a:endParaRPr lang="en-US" sz="1050" dirty="0"/>
          </a:p>
        </p:txBody>
      </p:sp>
      <p:sp>
        <p:nvSpPr>
          <p:cNvPr id="8" name="Shape 6"/>
          <p:cNvSpPr/>
          <p:nvPr/>
        </p:nvSpPr>
        <p:spPr>
          <a:xfrm>
            <a:off x="502920" y="2231136"/>
            <a:ext cx="11183112" cy="640080"/>
          </a:xfrm>
          <a:prstGeom prst="roundRect">
            <a:avLst>
              <a:gd name="adj" fmla="val 15714"/>
            </a:avLst>
          </a:prstGeom>
          <a:solidFill>
            <a:srgbClr val="F5F5F7"/>
          </a:solidFill>
          <a:ln/>
        </p:spPr>
        <p:txBody>
          <a:bodyPr/>
          <a:lstStyle/>
          <a:p>
            <a:endParaRPr lang="ja-JP" altLang="en-US"/>
          </a:p>
        </p:txBody>
      </p:sp>
      <p:sp>
        <p:nvSpPr>
          <p:cNvPr id="9" name="Text 7"/>
          <p:cNvSpPr/>
          <p:nvPr/>
        </p:nvSpPr>
        <p:spPr>
          <a:xfrm>
            <a:off x="777240" y="2231136"/>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02</a:t>
            </a:r>
            <a:endParaRPr lang="en-US" sz="2000" dirty="0"/>
          </a:p>
        </p:txBody>
      </p:sp>
      <p:sp>
        <p:nvSpPr>
          <p:cNvPr id="10" name="Text 8"/>
          <p:cNvSpPr/>
          <p:nvPr/>
        </p:nvSpPr>
        <p:spPr>
          <a:xfrm>
            <a:off x="1828800" y="2231136"/>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調査の前提</a:t>
            </a:r>
            <a:endParaRPr lang="en-US" sz="1350" dirty="0"/>
          </a:p>
        </p:txBody>
      </p:sp>
      <p:sp>
        <p:nvSpPr>
          <p:cNvPr id="11" name="Text 9"/>
          <p:cNvSpPr/>
          <p:nvPr/>
        </p:nvSpPr>
        <p:spPr>
          <a:xfrm>
            <a:off x="5852160" y="2231136"/>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計測したプロンプトと読み方</a:t>
            </a:r>
            <a:endParaRPr lang="en-US" sz="1050" dirty="0"/>
          </a:p>
        </p:txBody>
      </p:sp>
      <p:sp>
        <p:nvSpPr>
          <p:cNvPr id="12" name="Shape 10"/>
          <p:cNvSpPr/>
          <p:nvPr/>
        </p:nvSpPr>
        <p:spPr>
          <a:xfrm>
            <a:off x="502920" y="2999232"/>
            <a:ext cx="11183112" cy="640080"/>
          </a:xfrm>
          <a:prstGeom prst="roundRect">
            <a:avLst>
              <a:gd name="adj" fmla="val 15714"/>
            </a:avLst>
          </a:prstGeom>
          <a:solidFill>
            <a:srgbClr val="F0E6FC"/>
          </a:solidFill>
          <a:ln/>
        </p:spPr>
        <p:txBody>
          <a:bodyPr/>
          <a:lstStyle/>
          <a:p>
            <a:endParaRPr lang="ja-JP" altLang="en-US"/>
          </a:p>
        </p:txBody>
      </p:sp>
      <p:sp>
        <p:nvSpPr>
          <p:cNvPr id="13" name="Text 11"/>
          <p:cNvSpPr/>
          <p:nvPr/>
        </p:nvSpPr>
        <p:spPr>
          <a:xfrm>
            <a:off x="777240" y="2999232"/>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03</a:t>
            </a:r>
            <a:endParaRPr lang="en-US" sz="2000" dirty="0"/>
          </a:p>
        </p:txBody>
      </p:sp>
      <p:sp>
        <p:nvSpPr>
          <p:cNvPr id="14" name="Text 12"/>
          <p:cNvSpPr/>
          <p:nvPr/>
        </p:nvSpPr>
        <p:spPr>
          <a:xfrm>
            <a:off x="1828800" y="2999232"/>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現状分析</a:t>
            </a:r>
            <a:endParaRPr lang="en-US" sz="1350" dirty="0"/>
          </a:p>
        </p:txBody>
      </p:sp>
      <p:sp>
        <p:nvSpPr>
          <p:cNvPr id="15" name="Text 13"/>
          <p:cNvSpPr/>
          <p:nvPr/>
        </p:nvSpPr>
        <p:spPr>
          <a:xfrm>
            <a:off x="5852160" y="2999232"/>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AIランキング登場状況・競合・参照ソース・自社サイト</a:t>
            </a:r>
            <a:endParaRPr lang="en-US" sz="1050" dirty="0"/>
          </a:p>
        </p:txBody>
      </p:sp>
      <p:sp>
        <p:nvSpPr>
          <p:cNvPr id="16" name="Shape 14"/>
          <p:cNvSpPr/>
          <p:nvPr/>
        </p:nvSpPr>
        <p:spPr>
          <a:xfrm>
            <a:off x="502920" y="3767328"/>
            <a:ext cx="11183112" cy="640080"/>
          </a:xfrm>
          <a:prstGeom prst="roundRect">
            <a:avLst>
              <a:gd name="adj" fmla="val 15714"/>
            </a:avLst>
          </a:prstGeom>
          <a:solidFill>
            <a:srgbClr val="F5F5F7"/>
          </a:solidFill>
          <a:ln/>
        </p:spPr>
        <p:txBody>
          <a:bodyPr/>
          <a:lstStyle/>
          <a:p>
            <a:endParaRPr lang="ja-JP" altLang="en-US"/>
          </a:p>
        </p:txBody>
      </p:sp>
      <p:sp>
        <p:nvSpPr>
          <p:cNvPr id="17" name="Text 15"/>
          <p:cNvSpPr/>
          <p:nvPr/>
        </p:nvSpPr>
        <p:spPr>
          <a:xfrm>
            <a:off x="777240" y="3767328"/>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04</a:t>
            </a:r>
            <a:endParaRPr lang="en-US" sz="2000" dirty="0"/>
          </a:p>
        </p:txBody>
      </p:sp>
      <p:sp>
        <p:nvSpPr>
          <p:cNvPr id="18" name="Text 16"/>
          <p:cNvSpPr/>
          <p:nvPr/>
        </p:nvSpPr>
        <p:spPr>
          <a:xfrm>
            <a:off x="1828800" y="3767328"/>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戦略提言（4つの柱）</a:t>
            </a:r>
            <a:endParaRPr lang="en-US" sz="1350" dirty="0"/>
          </a:p>
        </p:txBody>
      </p:sp>
      <p:sp>
        <p:nvSpPr>
          <p:cNvPr id="19" name="Text 17"/>
          <p:cNvSpPr/>
          <p:nvPr/>
        </p:nvSpPr>
        <p:spPr>
          <a:xfrm>
            <a:off x="5852160" y="3767328"/>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最初に取り組むべき方向性</a:t>
            </a:r>
            <a:endParaRPr lang="en-US" sz="1050" dirty="0"/>
          </a:p>
        </p:txBody>
      </p:sp>
      <p:sp>
        <p:nvSpPr>
          <p:cNvPr id="20" name="Shape 18"/>
          <p:cNvSpPr/>
          <p:nvPr/>
        </p:nvSpPr>
        <p:spPr>
          <a:xfrm>
            <a:off x="502920" y="4535424"/>
            <a:ext cx="11183112" cy="640080"/>
          </a:xfrm>
          <a:prstGeom prst="roundRect">
            <a:avLst>
              <a:gd name="adj" fmla="val 15714"/>
            </a:avLst>
          </a:prstGeom>
          <a:solidFill>
            <a:srgbClr val="F5F5F7"/>
          </a:solidFill>
          <a:ln/>
        </p:spPr>
        <p:txBody>
          <a:bodyPr/>
          <a:lstStyle/>
          <a:p>
            <a:endParaRPr lang="ja-JP" altLang="en-US"/>
          </a:p>
        </p:txBody>
      </p:sp>
      <p:sp>
        <p:nvSpPr>
          <p:cNvPr id="21" name="Text 19"/>
          <p:cNvSpPr/>
          <p:nvPr/>
        </p:nvSpPr>
        <p:spPr>
          <a:xfrm>
            <a:off x="777240" y="4535424"/>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05</a:t>
            </a:r>
            <a:endParaRPr lang="en-US" sz="2000" dirty="0"/>
          </a:p>
        </p:txBody>
      </p:sp>
      <p:sp>
        <p:nvSpPr>
          <p:cNvPr id="22" name="Text 20"/>
          <p:cNvSpPr/>
          <p:nvPr/>
        </p:nvSpPr>
        <p:spPr>
          <a:xfrm>
            <a:off x="1828800" y="4535424"/>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ロードマップ</a:t>
            </a:r>
            <a:endParaRPr lang="en-US" sz="1350" dirty="0"/>
          </a:p>
        </p:txBody>
      </p:sp>
      <p:sp>
        <p:nvSpPr>
          <p:cNvPr id="23" name="Text 21"/>
          <p:cNvSpPr/>
          <p:nvPr/>
        </p:nvSpPr>
        <p:spPr>
          <a:xfrm>
            <a:off x="5852160" y="4535424"/>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効果が出るまでの道筋</a:t>
            </a:r>
            <a:endParaRPr lang="en-US" sz="1050" dirty="0"/>
          </a:p>
        </p:txBody>
      </p:sp>
      <p:sp>
        <p:nvSpPr>
          <p:cNvPr id="24" name="Shape 22"/>
          <p:cNvSpPr/>
          <p:nvPr/>
        </p:nvSpPr>
        <p:spPr>
          <a:xfrm>
            <a:off x="502920" y="5303520"/>
            <a:ext cx="11183112" cy="640080"/>
          </a:xfrm>
          <a:prstGeom prst="roundRect">
            <a:avLst>
              <a:gd name="adj" fmla="val 15714"/>
            </a:avLst>
          </a:prstGeom>
          <a:solidFill>
            <a:srgbClr val="F5F5F7"/>
          </a:solidFill>
          <a:ln/>
        </p:spPr>
        <p:txBody>
          <a:bodyPr/>
          <a:lstStyle/>
          <a:p>
            <a:endParaRPr lang="ja-JP" altLang="en-US"/>
          </a:p>
        </p:txBody>
      </p:sp>
      <p:sp>
        <p:nvSpPr>
          <p:cNvPr id="25" name="Text 23"/>
          <p:cNvSpPr/>
          <p:nvPr/>
        </p:nvSpPr>
        <p:spPr>
          <a:xfrm>
            <a:off x="777240" y="5303520"/>
            <a:ext cx="914400" cy="640080"/>
          </a:xfrm>
          <a:prstGeom prst="rect">
            <a:avLst/>
          </a:prstGeom>
          <a:noFill/>
          <a:ln/>
        </p:spPr>
        <p:txBody>
          <a:bodyPr wrap="square" lIns="0" tIns="0" rIns="0" bIns="0" rtlCol="0" anchor="ctr"/>
          <a:lstStyle/>
          <a:p>
            <a:pPr marL="0" indent="0">
              <a:buNone/>
            </a:pPr>
            <a:r>
              <a:rPr lang="en-US" sz="2000" b="1" dirty="0">
                <a:solidFill>
                  <a:srgbClr val="8541DC"/>
                </a:solidFill>
                <a:latin typeface="Noto Sans JP" pitchFamily="34" charset="0"/>
                <a:ea typeface="Noto Sans JP" pitchFamily="34" charset="-122"/>
                <a:cs typeface="Noto Sans JP" pitchFamily="34" charset="-120"/>
              </a:rPr>
              <a:t>06</a:t>
            </a:r>
            <a:endParaRPr lang="en-US" sz="2000" dirty="0"/>
          </a:p>
        </p:txBody>
      </p:sp>
      <p:sp>
        <p:nvSpPr>
          <p:cNvPr id="26" name="Text 24"/>
          <p:cNvSpPr/>
          <p:nvPr/>
        </p:nvSpPr>
        <p:spPr>
          <a:xfrm>
            <a:off x="1828800" y="5303520"/>
            <a:ext cx="3931920" cy="640080"/>
          </a:xfrm>
          <a:prstGeom prst="rect">
            <a:avLst/>
          </a:prstGeom>
          <a:noFill/>
          <a:ln/>
        </p:spPr>
        <p:txBody>
          <a:bodyPr wrap="square" lIns="0" tIns="0" rIns="0" bIns="0" rtlCol="0" anchor="ctr"/>
          <a:lstStyle/>
          <a:p>
            <a:pPr marL="0" indent="0">
              <a:buNone/>
            </a:pPr>
            <a:r>
              <a:rPr lang="en-US" sz="1350" b="1" dirty="0">
                <a:solidFill>
                  <a:srgbClr val="222222"/>
                </a:solidFill>
                <a:latin typeface="Noto Sans JP" pitchFamily="34" charset="0"/>
                <a:ea typeface="Noto Sans JP" pitchFamily="34" charset="-122"/>
                <a:cs typeface="Noto Sans JP" pitchFamily="34" charset="-120"/>
              </a:rPr>
              <a:t>AI経由売上の測り方</a:t>
            </a:r>
            <a:endParaRPr lang="en-US" sz="1350" dirty="0"/>
          </a:p>
        </p:txBody>
      </p:sp>
      <p:sp>
        <p:nvSpPr>
          <p:cNvPr id="27" name="Text 25"/>
          <p:cNvSpPr/>
          <p:nvPr/>
        </p:nvSpPr>
        <p:spPr>
          <a:xfrm>
            <a:off x="5852160" y="5303520"/>
            <a:ext cx="5577840" cy="640080"/>
          </a:xfrm>
          <a:prstGeom prst="rect">
            <a:avLst/>
          </a:prstGeom>
          <a:noFill/>
          <a:ln/>
        </p:spPr>
        <p:txBody>
          <a:bodyPr wrap="square" lIns="0" tIns="0" rIns="0" bIns="0" rtlCol="0" anchor="ctr"/>
          <a:lstStyle/>
          <a:p>
            <a:pPr marL="0" indent="0">
              <a:buNone/>
            </a:pPr>
            <a:r>
              <a:rPr lang="en-US" sz="1050" dirty="0">
                <a:solidFill>
                  <a:srgbClr val="555A63"/>
                </a:solidFill>
                <a:latin typeface="Noto Sans JP" pitchFamily="34" charset="0"/>
                <a:ea typeface="Noto Sans JP" pitchFamily="34" charset="-122"/>
                <a:cs typeface="Noto Sans JP" pitchFamily="34" charset="-120"/>
              </a:rPr>
              <a:t>露出で終わらせず、貢献額を金額で示す</a:t>
            </a:r>
            <a:endParaRPr lang="en-US" sz="1050" dirty="0"/>
          </a:p>
        </p:txBody>
      </p:sp>
      <p:sp>
        <p:nvSpPr>
          <p:cNvPr id="28" name="Text 2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9" name="Text 2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01</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LLMOの考え方</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まず「AIに選ばれる」とは何かを揃えます。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ADOPTION — 生成AIの普及</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生成AIは、1年で“情報インフラ”になった</a:t>
            </a:r>
            <a:endParaRPr lang="en-US" sz="2500" dirty="0"/>
          </a:p>
        </p:txBody>
      </p:sp>
      <p:sp>
        <p:nvSpPr>
          <p:cNvPr id="4" name="Text 2"/>
          <p:cNvSpPr/>
          <p:nvPr/>
        </p:nvSpPr>
        <p:spPr>
          <a:xfrm>
            <a:off x="64008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51%</a:t>
            </a:r>
            <a:endParaRPr lang="en-US" sz="4400" dirty="0"/>
          </a:p>
        </p:txBody>
      </p:sp>
      <p:sp>
        <p:nvSpPr>
          <p:cNvPr id="5" name="Text 3"/>
          <p:cNvSpPr/>
          <p:nvPr/>
        </p:nvSpPr>
        <p:spPr>
          <a:xfrm>
            <a:off x="64008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日本の生成AI利用率（1年で27%→51%・1.9倍）</a:t>
            </a:r>
            <a:endParaRPr lang="en-US" sz="1250" dirty="0"/>
          </a:p>
        </p:txBody>
      </p:sp>
      <p:sp>
        <p:nvSpPr>
          <p:cNvPr id="6" name="Text 4"/>
          <p:cNvSpPr/>
          <p:nvPr/>
        </p:nvSpPr>
        <p:spPr>
          <a:xfrm>
            <a:off x="64008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NTTドコモ モバイル社会研究所 2026</a:t>
            </a:r>
            <a:endParaRPr lang="en-US" sz="850" dirty="0"/>
          </a:p>
        </p:txBody>
      </p:sp>
      <p:sp>
        <p:nvSpPr>
          <p:cNvPr id="7" name="Text 5"/>
          <p:cNvSpPr/>
          <p:nvPr/>
        </p:nvSpPr>
        <p:spPr>
          <a:xfrm>
            <a:off x="443484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57%</a:t>
            </a:r>
            <a:endParaRPr lang="en-US" sz="4400" dirty="0"/>
          </a:p>
        </p:txBody>
      </p:sp>
      <p:sp>
        <p:nvSpPr>
          <p:cNvPr id="8" name="Text 6"/>
          <p:cNvSpPr/>
          <p:nvPr/>
        </p:nvSpPr>
        <p:spPr>
          <a:xfrm>
            <a:off x="443484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商品推薦で生成AIを主要ツールに（16%→57%）</a:t>
            </a:r>
            <a:endParaRPr lang="en-US" sz="1250" dirty="0"/>
          </a:p>
        </p:txBody>
      </p:sp>
      <p:sp>
        <p:nvSpPr>
          <p:cNvPr id="9" name="Text 7"/>
          <p:cNvSpPr/>
          <p:nvPr/>
        </p:nvSpPr>
        <p:spPr>
          <a:xfrm>
            <a:off x="443484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Capgemini 2025</a:t>
            </a:r>
            <a:endParaRPr lang="en-US" sz="850" dirty="0"/>
          </a:p>
        </p:txBody>
      </p:sp>
      <p:sp>
        <p:nvSpPr>
          <p:cNvPr id="10" name="Text 8"/>
          <p:cNvSpPr/>
          <p:nvPr/>
        </p:nvSpPr>
        <p:spPr>
          <a:xfrm>
            <a:off x="8229600" y="1874520"/>
            <a:ext cx="3474720" cy="868680"/>
          </a:xfrm>
          <a:prstGeom prst="rect">
            <a:avLst/>
          </a:prstGeom>
          <a:noFill/>
          <a:ln/>
        </p:spPr>
        <p:txBody>
          <a:bodyPr wrap="square" lIns="0" tIns="0" rIns="0" bIns="0" rtlCol="0" anchor="ctr"/>
          <a:lstStyle/>
          <a:p>
            <a:pPr marL="0" indent="0" algn="l">
              <a:buNone/>
            </a:pPr>
            <a:r>
              <a:rPr lang="en-US" sz="4400" b="1" dirty="0">
                <a:solidFill>
                  <a:srgbClr val="F57527"/>
                </a:solidFill>
                <a:latin typeface="Noto Sans JP" pitchFamily="34" charset="0"/>
                <a:ea typeface="Noto Sans JP" pitchFamily="34" charset="-122"/>
                <a:cs typeface="Noto Sans JP" pitchFamily="34" charset="-120"/>
              </a:rPr>
              <a:t>44%</a:t>
            </a:r>
            <a:endParaRPr lang="en-US" sz="4400" dirty="0"/>
          </a:p>
        </p:txBody>
      </p:sp>
      <p:sp>
        <p:nvSpPr>
          <p:cNvPr id="11" name="Text 9"/>
          <p:cNvSpPr/>
          <p:nvPr/>
        </p:nvSpPr>
        <p:spPr>
          <a:xfrm>
            <a:off x="8229600" y="2770632"/>
            <a:ext cx="347472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購買判断の主要情報源1位＝AI検索（従来検索31%）</a:t>
            </a:r>
            <a:endParaRPr lang="en-US" sz="1250" dirty="0"/>
          </a:p>
        </p:txBody>
      </p:sp>
      <p:sp>
        <p:nvSpPr>
          <p:cNvPr id="12" name="Text 10"/>
          <p:cNvSpPr/>
          <p:nvPr/>
        </p:nvSpPr>
        <p:spPr>
          <a:xfrm>
            <a:off x="8229600" y="3355848"/>
            <a:ext cx="347472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McKinsey</a:t>
            </a:r>
            <a:endParaRPr lang="en-US" sz="850" dirty="0"/>
          </a:p>
        </p:txBody>
      </p:sp>
      <p:sp>
        <p:nvSpPr>
          <p:cNvPr id="13" name="Shape 11"/>
          <p:cNvSpPr/>
          <p:nvPr/>
        </p:nvSpPr>
        <p:spPr>
          <a:xfrm>
            <a:off x="502920" y="3977640"/>
            <a:ext cx="11183112" cy="2057400"/>
          </a:xfrm>
          <a:prstGeom prst="roundRect">
            <a:avLst>
              <a:gd name="adj" fmla="val 4889"/>
            </a:avLst>
          </a:prstGeom>
          <a:solidFill>
            <a:srgbClr val="F5F5F7"/>
          </a:solidFill>
          <a:ln/>
        </p:spPr>
        <p:txBody>
          <a:bodyPr/>
          <a:lstStyle/>
          <a:p>
            <a:endParaRPr lang="ja-JP" altLang="en-US"/>
          </a:p>
        </p:txBody>
      </p:sp>
      <p:sp>
        <p:nvSpPr>
          <p:cNvPr id="14" name="Text 12"/>
          <p:cNvSpPr/>
          <p:nvPr/>
        </p:nvSpPr>
        <p:spPr>
          <a:xfrm>
            <a:off x="868680" y="4187952"/>
            <a:ext cx="10424160" cy="365760"/>
          </a:xfrm>
          <a:prstGeom prst="rect">
            <a:avLst/>
          </a:prstGeom>
          <a:noFill/>
          <a:ln/>
        </p:spPr>
        <p:txBody>
          <a:bodyPr wrap="square" lIns="0" tIns="0" rIns="0" bIns="0" rtlCol="0" anchor="ctr"/>
          <a:lstStyle/>
          <a:p>
            <a:pPr marL="0" indent="0">
              <a:buNone/>
            </a:pPr>
            <a:r>
              <a:rPr lang="en-US" sz="1400" b="1" dirty="0">
                <a:solidFill>
                  <a:srgbClr val="8541DC"/>
                </a:solidFill>
                <a:latin typeface="Noto Sans JP" pitchFamily="34" charset="0"/>
                <a:ea typeface="Noto Sans JP" pitchFamily="34" charset="-122"/>
                <a:cs typeface="Noto Sans JP" pitchFamily="34" charset="-120"/>
              </a:rPr>
              <a:t>要するに</a:t>
            </a:r>
            <a:endParaRPr lang="en-US" sz="1400" dirty="0"/>
          </a:p>
        </p:txBody>
      </p:sp>
      <p:sp>
        <p:nvSpPr>
          <p:cNvPr id="15" name="Text 13"/>
          <p:cNvSpPr/>
          <p:nvPr/>
        </p:nvSpPr>
        <p:spPr>
          <a:xfrm>
            <a:off x="868680" y="4617720"/>
            <a:ext cx="10424160" cy="128016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商品・サービス選びの入口が、検索エンジンからAIへ移りつつある</a:t>
            </a:r>
            <a:endParaRPr lang="en-US" sz="1200" dirty="0"/>
          </a:p>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検索順位ではなく“AI上での選定率”が、問い合わせ・売上を左右する</a:t>
            </a:r>
            <a:endParaRPr lang="en-US" sz="1200" dirty="0"/>
          </a:p>
          <a:p>
            <a:pPr marL="152400" indent="-152400">
              <a:lnSpc>
                <a:spcPct val="128000"/>
              </a:lnSpc>
              <a:spcAft>
                <a:spcPts val="700"/>
              </a:spcAft>
              <a:buSzPct val="100000"/>
              <a:buChar char="•"/>
            </a:pPr>
            <a:r>
              <a:rPr lang="en-US" sz="1200" dirty="0">
                <a:solidFill>
                  <a:srgbClr val="222222"/>
                </a:solidFill>
                <a:latin typeface="Noto Sans JP" pitchFamily="34" charset="0"/>
                <a:ea typeface="Noto Sans JP" pitchFamily="34" charset="-122"/>
                <a:cs typeface="Noto Sans JP" pitchFamily="34" charset="-120"/>
              </a:rPr>
              <a:t>AIに出てこない＝比較の土俵に乗っていない、という状態になりうる</a:t>
            </a:r>
            <a:endParaRPr lang="en-US" sz="1200" dirty="0"/>
          </a:p>
        </p:txBody>
      </p:sp>
      <p:sp>
        <p:nvSpPr>
          <p:cNvPr id="16" name="Text 1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7" name="Text 1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SALES IMPACT — 売上への直撃</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AIは、すでに“候補選び”を変えている</a:t>
            </a:r>
            <a:endParaRPr lang="en-US" sz="2500" dirty="0"/>
          </a:p>
        </p:txBody>
      </p:sp>
      <p:sp>
        <p:nvSpPr>
          <p:cNvPr id="4" name="Text 2"/>
          <p:cNvSpPr/>
          <p:nvPr/>
        </p:nvSpPr>
        <p:spPr>
          <a:xfrm>
            <a:off x="64008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89%</a:t>
            </a:r>
            <a:endParaRPr lang="en-US" sz="4400" dirty="0"/>
          </a:p>
        </p:txBody>
      </p:sp>
      <p:sp>
        <p:nvSpPr>
          <p:cNvPr id="5" name="Text 3"/>
          <p:cNvSpPr/>
          <p:nvPr/>
        </p:nvSpPr>
        <p:spPr>
          <a:xfrm>
            <a:off x="64008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BtoB買い手が購買で生成AIを利用（95%が今後も継続）</a:t>
            </a:r>
            <a:endParaRPr lang="en-US" sz="1250" dirty="0"/>
          </a:p>
        </p:txBody>
      </p:sp>
      <p:sp>
        <p:nvSpPr>
          <p:cNvPr id="6" name="Text 4"/>
          <p:cNvSpPr/>
          <p:nvPr/>
        </p:nvSpPr>
        <p:spPr>
          <a:xfrm>
            <a:off x="64008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Forrester</a:t>
            </a:r>
            <a:endParaRPr lang="en-US" sz="850" dirty="0"/>
          </a:p>
        </p:txBody>
      </p:sp>
      <p:sp>
        <p:nvSpPr>
          <p:cNvPr id="7" name="Text 5"/>
          <p:cNvSpPr/>
          <p:nvPr/>
        </p:nvSpPr>
        <p:spPr>
          <a:xfrm>
            <a:off x="4434840" y="1874520"/>
            <a:ext cx="356616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50%+</a:t>
            </a:r>
            <a:endParaRPr lang="en-US" sz="4400" dirty="0"/>
          </a:p>
        </p:txBody>
      </p:sp>
      <p:sp>
        <p:nvSpPr>
          <p:cNvPr id="8" name="Text 6"/>
          <p:cNvSpPr/>
          <p:nvPr/>
        </p:nvSpPr>
        <p:spPr>
          <a:xfrm>
            <a:off x="4434840" y="2770632"/>
            <a:ext cx="356616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AIによって“従来より多く/異なる候補”を検討に入れた</a:t>
            </a:r>
            <a:endParaRPr lang="en-US" sz="1250" dirty="0"/>
          </a:p>
        </p:txBody>
      </p:sp>
      <p:sp>
        <p:nvSpPr>
          <p:cNvPr id="9" name="Text 7"/>
          <p:cNvSpPr/>
          <p:nvPr/>
        </p:nvSpPr>
        <p:spPr>
          <a:xfrm>
            <a:off x="4434840" y="3355848"/>
            <a:ext cx="356616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Forrester</a:t>
            </a:r>
            <a:endParaRPr lang="en-US" sz="850" dirty="0"/>
          </a:p>
        </p:txBody>
      </p:sp>
      <p:sp>
        <p:nvSpPr>
          <p:cNvPr id="10" name="Text 8"/>
          <p:cNvSpPr/>
          <p:nvPr/>
        </p:nvSpPr>
        <p:spPr>
          <a:xfrm>
            <a:off x="8229600" y="1874520"/>
            <a:ext cx="3474720" cy="868680"/>
          </a:xfrm>
          <a:prstGeom prst="rect">
            <a:avLst/>
          </a:prstGeom>
          <a:noFill/>
          <a:ln/>
        </p:spPr>
        <p:txBody>
          <a:bodyPr wrap="square" lIns="0" tIns="0" rIns="0" bIns="0" rtlCol="0" anchor="ctr"/>
          <a:lstStyle/>
          <a:p>
            <a:pPr marL="0" indent="0" algn="l">
              <a:buNone/>
            </a:pPr>
            <a:r>
              <a:rPr lang="en-US" sz="4400" b="1" dirty="0">
                <a:solidFill>
                  <a:srgbClr val="F57527"/>
                </a:solidFill>
                <a:latin typeface="Noto Sans JP" pitchFamily="34" charset="0"/>
                <a:ea typeface="Noto Sans JP" pitchFamily="34" charset="-122"/>
                <a:cs typeface="Noto Sans JP" pitchFamily="34" charset="-120"/>
              </a:rPr>
              <a:t>90〜95%</a:t>
            </a:r>
            <a:endParaRPr lang="en-US" sz="4400" dirty="0"/>
          </a:p>
        </p:txBody>
      </p:sp>
      <p:sp>
        <p:nvSpPr>
          <p:cNvPr id="11" name="Text 9"/>
          <p:cNvSpPr/>
          <p:nvPr/>
        </p:nvSpPr>
        <p:spPr>
          <a:xfrm>
            <a:off x="8229600" y="2770632"/>
            <a:ext cx="3474720" cy="59436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AIが評価で参照する“外部情報源”の比率（自社サイトは5〜10%）</a:t>
            </a:r>
            <a:endParaRPr lang="en-US" sz="1250" dirty="0"/>
          </a:p>
        </p:txBody>
      </p:sp>
      <p:sp>
        <p:nvSpPr>
          <p:cNvPr id="12" name="Text 10"/>
          <p:cNvSpPr/>
          <p:nvPr/>
        </p:nvSpPr>
        <p:spPr>
          <a:xfrm>
            <a:off x="8229600" y="3355848"/>
            <a:ext cx="3474720" cy="457200"/>
          </a:xfrm>
          <a:prstGeom prst="rect">
            <a:avLst/>
          </a:prstGeom>
          <a:noFill/>
          <a:ln/>
        </p:spPr>
        <p:txBody>
          <a:bodyPr wrap="square" lIns="0" tIns="0" rIns="0" bIns="0" rtlCol="0" anchor="ctr"/>
          <a:lstStyle/>
          <a:p>
            <a:pPr marL="0" indent="0">
              <a:lnSpc>
                <a:spcPct val="115000"/>
              </a:lnSpc>
              <a:buNone/>
            </a:pPr>
            <a:r>
              <a:rPr lang="en-US" sz="850" dirty="0">
                <a:solidFill>
                  <a:srgbClr val="8A8F98"/>
                </a:solidFill>
                <a:latin typeface="Noto Sans JP" pitchFamily="34" charset="0"/>
                <a:ea typeface="Noto Sans JP" pitchFamily="34" charset="-122"/>
                <a:cs typeface="Noto Sans JP" pitchFamily="34" charset="-120"/>
              </a:rPr>
              <a:t>McKinsey</a:t>
            </a:r>
            <a:endParaRPr lang="en-US" sz="850" dirty="0"/>
          </a:p>
        </p:txBody>
      </p:sp>
      <p:sp>
        <p:nvSpPr>
          <p:cNvPr id="13" name="Shape 11"/>
          <p:cNvSpPr/>
          <p:nvPr/>
        </p:nvSpPr>
        <p:spPr>
          <a:xfrm>
            <a:off x="502920" y="3977640"/>
            <a:ext cx="11183112" cy="2057400"/>
          </a:xfrm>
          <a:prstGeom prst="roundRect">
            <a:avLst>
              <a:gd name="adj" fmla="val 4889"/>
            </a:avLst>
          </a:prstGeom>
          <a:solidFill>
            <a:srgbClr val="4A1F87"/>
          </a:solidFill>
          <a:ln/>
        </p:spPr>
        <p:txBody>
          <a:bodyPr/>
          <a:lstStyle/>
          <a:p>
            <a:endParaRPr lang="ja-JP" altLang="en-US"/>
          </a:p>
        </p:txBody>
      </p:sp>
      <p:sp>
        <p:nvSpPr>
          <p:cNvPr id="14" name="Text 12"/>
          <p:cNvSpPr/>
          <p:nvPr/>
        </p:nvSpPr>
        <p:spPr>
          <a:xfrm>
            <a:off x="868680" y="4206240"/>
            <a:ext cx="10424160" cy="365760"/>
          </a:xfrm>
          <a:prstGeom prst="rect">
            <a:avLst/>
          </a:prstGeom>
          <a:noFill/>
          <a:ln/>
        </p:spPr>
        <p:txBody>
          <a:bodyPr wrap="square" lIns="0" tIns="0" rIns="0" bIns="0" rtlCol="0" anchor="ctr"/>
          <a:lstStyle/>
          <a:p>
            <a:pPr marL="0" indent="0">
              <a:buNone/>
            </a:pPr>
            <a:r>
              <a:rPr lang="en-US" sz="1400" b="1" dirty="0">
                <a:solidFill>
                  <a:srgbClr val="D9CBF2"/>
                </a:solidFill>
                <a:latin typeface="Noto Sans JP" pitchFamily="34" charset="0"/>
                <a:ea typeface="Noto Sans JP" pitchFamily="34" charset="-122"/>
                <a:cs typeface="Noto Sans JP" pitchFamily="34" charset="-120"/>
              </a:rPr>
              <a:t>だから“自社サイト改善だけ”では、AI評価は動かない</a:t>
            </a:r>
            <a:endParaRPr lang="en-US" sz="1400" dirty="0"/>
          </a:p>
        </p:txBody>
      </p:sp>
      <p:sp>
        <p:nvSpPr>
          <p:cNvPr id="15" name="Text 13"/>
          <p:cNvSpPr/>
          <p:nvPr/>
        </p:nvSpPr>
        <p:spPr>
          <a:xfrm>
            <a:off x="868680" y="4617720"/>
            <a:ext cx="10424160" cy="1280160"/>
          </a:xfrm>
          <a:prstGeom prst="rect">
            <a:avLst/>
          </a:prstGeom>
          <a:noFill/>
          <a:ln/>
        </p:spPr>
        <p:txBody>
          <a:bodyPr wrap="square" lIns="0" tIns="0" rIns="0" bIns="0" rtlCol="0" anchor="ctr"/>
          <a:lstStyle/>
          <a:p>
            <a:pPr marL="0" indent="0">
              <a:lnSpc>
                <a:spcPct val="140000"/>
              </a:lnSpc>
              <a:buNone/>
            </a:pPr>
            <a:r>
              <a:rPr lang="en-US" sz="1250" dirty="0">
                <a:solidFill>
                  <a:srgbClr val="FFFFFF"/>
                </a:solidFill>
                <a:latin typeface="Noto Sans JP" pitchFamily="34" charset="0"/>
                <a:ea typeface="Noto Sans JP" pitchFamily="34" charset="-122"/>
                <a:cs typeface="Noto Sans JP" pitchFamily="34" charset="-120"/>
              </a:rPr>
              <a:t>AIは「他人がどう言っているか（第三者情報）」を強く参照する。比較検討の段階で、AIの回答の中で候補が絞られている。自社発信に加え、第三者メディア・クチコミでの“言われ方”を設計する必要がある。</a:t>
            </a:r>
            <a:endParaRPr lang="en-US" sz="1250" dirty="0"/>
          </a:p>
        </p:txBody>
      </p:sp>
      <p:sp>
        <p:nvSpPr>
          <p:cNvPr id="16" name="Text 1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7" name="Text 1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REVISIT — AI推奨後の行動</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AIで見た後、顧客は“後から”訪れる</a:t>
            </a:r>
            <a:endParaRPr lang="en-US" sz="2500" dirty="0"/>
          </a:p>
        </p:txBody>
      </p:sp>
      <p:sp>
        <p:nvSpPr>
          <p:cNvPr id="4" name="Shape 2"/>
          <p:cNvSpPr/>
          <p:nvPr/>
        </p:nvSpPr>
        <p:spPr>
          <a:xfrm>
            <a:off x="502920" y="1600200"/>
            <a:ext cx="11183112" cy="1234440"/>
          </a:xfrm>
          <a:prstGeom prst="roundRect">
            <a:avLst>
              <a:gd name="adj" fmla="val 8148"/>
            </a:avLst>
          </a:prstGeom>
          <a:solidFill>
            <a:srgbClr val="F0E6FC"/>
          </a:solidFill>
          <a:ln/>
        </p:spPr>
        <p:txBody>
          <a:bodyPr/>
          <a:lstStyle/>
          <a:p>
            <a:endParaRPr lang="ja-JP" altLang="en-US"/>
          </a:p>
        </p:txBody>
      </p:sp>
      <p:sp>
        <p:nvSpPr>
          <p:cNvPr id="5" name="Text 3"/>
          <p:cNvSpPr/>
          <p:nvPr/>
        </p:nvSpPr>
        <p:spPr>
          <a:xfrm>
            <a:off x="868680" y="1572768"/>
            <a:ext cx="2926080" cy="868680"/>
          </a:xfrm>
          <a:prstGeom prst="rect">
            <a:avLst/>
          </a:prstGeom>
          <a:noFill/>
          <a:ln/>
        </p:spPr>
        <p:txBody>
          <a:bodyPr wrap="square" lIns="0" tIns="0" rIns="0" bIns="0" rtlCol="0" anchor="ctr"/>
          <a:lstStyle/>
          <a:p>
            <a:pPr marL="0" indent="0" algn="l">
              <a:buNone/>
            </a:pPr>
            <a:r>
              <a:rPr lang="en-US" sz="4400" b="1" dirty="0">
                <a:solidFill>
                  <a:srgbClr val="8541DC"/>
                </a:solidFill>
                <a:latin typeface="Noto Sans JP" pitchFamily="34" charset="0"/>
                <a:ea typeface="Noto Sans JP" pitchFamily="34" charset="-122"/>
                <a:cs typeface="Noto Sans JP" pitchFamily="34" charset="-120"/>
              </a:rPr>
              <a:t>2.5倍</a:t>
            </a:r>
            <a:endParaRPr lang="en-US" sz="4400" dirty="0"/>
          </a:p>
        </p:txBody>
      </p:sp>
      <p:sp>
        <p:nvSpPr>
          <p:cNvPr id="6" name="Text 4"/>
          <p:cNvSpPr/>
          <p:nvPr/>
        </p:nvSpPr>
        <p:spPr>
          <a:xfrm>
            <a:off x="868680" y="2468880"/>
            <a:ext cx="2926080" cy="594360"/>
          </a:xfrm>
          <a:prstGeom prst="rect">
            <a:avLst/>
          </a:prstGeom>
          <a:noFill/>
          <a:ln/>
        </p:spPr>
        <p:txBody>
          <a:bodyPr wrap="square" lIns="0" tIns="0" rIns="0" bIns="0" rtlCol="0" anchor="ctr"/>
          <a:lstStyle/>
          <a:p>
            <a:pPr marL="0" indent="0">
              <a:lnSpc>
                <a:spcPct val="120000"/>
              </a:lnSpc>
              <a:buNone/>
            </a:pPr>
            <a:endParaRPr lang="en-US" sz="1250" dirty="0"/>
          </a:p>
        </p:txBody>
      </p:sp>
      <p:sp>
        <p:nvSpPr>
          <p:cNvPr id="7" name="Text 5"/>
          <p:cNvSpPr/>
          <p:nvPr/>
        </p:nvSpPr>
        <p:spPr>
          <a:xfrm>
            <a:off x="4023360" y="1783080"/>
            <a:ext cx="7406640" cy="914400"/>
          </a:xfrm>
          <a:prstGeom prst="rect">
            <a:avLst/>
          </a:prstGeom>
          <a:noFill/>
          <a:ln/>
        </p:spPr>
        <p:txBody>
          <a:bodyPr wrap="square" lIns="0" tIns="0" rIns="0" bIns="0" rtlCol="0" anchor="ctr"/>
          <a:lstStyle/>
          <a:p>
            <a:pPr marL="0" indent="0">
              <a:lnSpc>
                <a:spcPct val="135000"/>
              </a:lnSpc>
              <a:buNone/>
            </a:pPr>
            <a:r>
              <a:rPr lang="en-US" sz="1300" b="1" dirty="0">
                <a:solidFill>
                  <a:srgbClr val="8541DC"/>
                </a:solidFill>
                <a:latin typeface="Noto Sans JP" pitchFamily="34" charset="0"/>
                <a:ea typeface="Noto Sans JP" pitchFamily="34" charset="-122"/>
                <a:cs typeface="Noto Sans JP" pitchFamily="34" charset="-120"/>
              </a:rPr>
              <a:t>7日以内のサイト訪問可能性
</a:t>
            </a:r>
            <a:endParaRPr lang="en-US" sz="1300" dirty="0"/>
          </a:p>
          <a:p>
            <a:pPr marL="0" indent="0">
              <a:lnSpc>
                <a:spcPct val="135000"/>
              </a:lnSpc>
              <a:buNone/>
            </a:pPr>
            <a:r>
              <a:rPr lang="en-US" sz="1150" dirty="0">
                <a:solidFill>
                  <a:srgbClr val="222222"/>
                </a:solidFill>
                <a:latin typeface="Noto Sans JP" pitchFamily="34" charset="0"/>
                <a:ea typeface="Noto Sans JP" pitchFamily="34" charset="-122"/>
                <a:cs typeface="Noto Sans JP" pitchFamily="34" charset="-120"/>
              </a:rPr>
              <a:t>AIで推奨された後、7日以内に公式サイトを訪問する可能性が通常時より2.5倍に高まる。効果は“直接流入”だけでは測れない。</a:t>
            </a:r>
            <a:endParaRPr lang="en-US" sz="1300" dirty="0"/>
          </a:p>
        </p:txBody>
      </p:sp>
      <p:sp>
        <p:nvSpPr>
          <p:cNvPr id="8" name="Shape 6"/>
          <p:cNvSpPr/>
          <p:nvPr/>
        </p:nvSpPr>
        <p:spPr>
          <a:xfrm>
            <a:off x="502920"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9" name="Shape 7"/>
          <p:cNvSpPr/>
          <p:nvPr/>
        </p:nvSpPr>
        <p:spPr>
          <a:xfrm>
            <a:off x="731520" y="3401568"/>
            <a:ext cx="384048" cy="384048"/>
          </a:xfrm>
          <a:prstGeom prst="ellipse">
            <a:avLst/>
          </a:prstGeom>
          <a:solidFill>
            <a:srgbClr val="8541DC"/>
          </a:solidFill>
          <a:ln/>
        </p:spPr>
        <p:txBody>
          <a:bodyPr/>
          <a:lstStyle/>
          <a:p>
            <a:endParaRPr lang="ja-JP" altLang="en-US"/>
          </a:p>
        </p:txBody>
      </p:sp>
      <p:sp>
        <p:nvSpPr>
          <p:cNvPr id="10" name="Text 8"/>
          <p:cNvSpPr/>
          <p:nvPr/>
        </p:nvSpPr>
        <p:spPr>
          <a:xfrm>
            <a:off x="676656"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11" name="Text 9"/>
          <p:cNvSpPr/>
          <p:nvPr/>
        </p:nvSpPr>
        <p:spPr>
          <a:xfrm>
            <a:off x="704088"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AIで推奨される</a:t>
            </a:r>
            <a:endParaRPr lang="en-US" sz="1150" dirty="0"/>
          </a:p>
        </p:txBody>
      </p:sp>
      <p:sp>
        <p:nvSpPr>
          <p:cNvPr id="12" name="Text 10"/>
          <p:cNvSpPr/>
          <p:nvPr/>
        </p:nvSpPr>
        <p:spPr>
          <a:xfrm>
            <a:off x="3081528" y="3657600"/>
            <a:ext cx="320040" cy="365760"/>
          </a:xfrm>
          <a:prstGeom prst="rect">
            <a:avLst/>
          </a:prstGeom>
          <a:noFill/>
          <a:ln/>
        </p:spPr>
        <p:txBody>
          <a:bodyPr wrap="square" lIns="0" tIns="0" rIns="0" bIns="0" rtlCol="0" anchor="ctr"/>
          <a:lstStyle/>
          <a:p>
            <a:pPr marL="0" indent="0" algn="ctr">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13" name="Shape 11"/>
          <p:cNvSpPr/>
          <p:nvPr/>
        </p:nvSpPr>
        <p:spPr>
          <a:xfrm>
            <a:off x="3355848"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14" name="Shape 12"/>
          <p:cNvSpPr/>
          <p:nvPr/>
        </p:nvSpPr>
        <p:spPr>
          <a:xfrm>
            <a:off x="3584448" y="3401568"/>
            <a:ext cx="384048" cy="384048"/>
          </a:xfrm>
          <a:prstGeom prst="ellipse">
            <a:avLst/>
          </a:prstGeom>
          <a:solidFill>
            <a:srgbClr val="8541DC"/>
          </a:solidFill>
          <a:ln/>
        </p:spPr>
        <p:txBody>
          <a:bodyPr/>
          <a:lstStyle/>
          <a:p>
            <a:endParaRPr lang="ja-JP" altLang="en-US"/>
          </a:p>
        </p:txBody>
      </p:sp>
      <p:sp>
        <p:nvSpPr>
          <p:cNvPr id="15" name="Text 13"/>
          <p:cNvSpPr/>
          <p:nvPr/>
        </p:nvSpPr>
        <p:spPr>
          <a:xfrm>
            <a:off x="3529584"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6" name="Text 14"/>
          <p:cNvSpPr/>
          <p:nvPr/>
        </p:nvSpPr>
        <p:spPr>
          <a:xfrm>
            <a:off x="3557016"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その場ではクリックしない</a:t>
            </a:r>
            <a:endParaRPr lang="en-US" sz="1150" dirty="0"/>
          </a:p>
        </p:txBody>
      </p:sp>
      <p:sp>
        <p:nvSpPr>
          <p:cNvPr id="17" name="Text 15"/>
          <p:cNvSpPr/>
          <p:nvPr/>
        </p:nvSpPr>
        <p:spPr>
          <a:xfrm>
            <a:off x="5934456" y="3657600"/>
            <a:ext cx="320040" cy="365760"/>
          </a:xfrm>
          <a:prstGeom prst="rect">
            <a:avLst/>
          </a:prstGeom>
          <a:noFill/>
          <a:ln/>
        </p:spPr>
        <p:txBody>
          <a:bodyPr wrap="square" lIns="0" tIns="0" rIns="0" bIns="0" rtlCol="0" anchor="ctr"/>
          <a:lstStyle/>
          <a:p>
            <a:pPr marL="0" indent="0" algn="ctr">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18" name="Shape 16"/>
          <p:cNvSpPr/>
          <p:nvPr/>
        </p:nvSpPr>
        <p:spPr>
          <a:xfrm>
            <a:off x="6208776"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19" name="Shape 17"/>
          <p:cNvSpPr/>
          <p:nvPr/>
        </p:nvSpPr>
        <p:spPr>
          <a:xfrm>
            <a:off x="6437376" y="3401568"/>
            <a:ext cx="384048" cy="384048"/>
          </a:xfrm>
          <a:prstGeom prst="ellipse">
            <a:avLst/>
          </a:prstGeom>
          <a:solidFill>
            <a:srgbClr val="8541DC"/>
          </a:solidFill>
          <a:ln/>
        </p:spPr>
        <p:txBody>
          <a:bodyPr/>
          <a:lstStyle/>
          <a:p>
            <a:endParaRPr lang="ja-JP" altLang="en-US"/>
          </a:p>
        </p:txBody>
      </p:sp>
      <p:sp>
        <p:nvSpPr>
          <p:cNvPr id="20" name="Text 18"/>
          <p:cNvSpPr/>
          <p:nvPr/>
        </p:nvSpPr>
        <p:spPr>
          <a:xfrm>
            <a:off x="6382512"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21" name="Text 19"/>
          <p:cNvSpPr/>
          <p:nvPr/>
        </p:nvSpPr>
        <p:spPr>
          <a:xfrm>
            <a:off x="6409944"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後日ブランド名で検索</a:t>
            </a:r>
            <a:endParaRPr lang="en-US" sz="1150" dirty="0"/>
          </a:p>
        </p:txBody>
      </p:sp>
      <p:sp>
        <p:nvSpPr>
          <p:cNvPr id="22" name="Text 20"/>
          <p:cNvSpPr/>
          <p:nvPr/>
        </p:nvSpPr>
        <p:spPr>
          <a:xfrm>
            <a:off x="8787384" y="3657600"/>
            <a:ext cx="320040" cy="365760"/>
          </a:xfrm>
          <a:prstGeom prst="rect">
            <a:avLst/>
          </a:prstGeom>
          <a:noFill/>
          <a:ln/>
        </p:spPr>
        <p:txBody>
          <a:bodyPr wrap="square" lIns="0" tIns="0" rIns="0" bIns="0" rtlCol="0" anchor="ctr"/>
          <a:lstStyle/>
          <a:p>
            <a:pPr marL="0" indent="0" algn="ctr">
              <a:buNone/>
            </a:pPr>
            <a:r>
              <a:rPr lang="en-US" sz="1500" dirty="0">
                <a:solidFill>
                  <a:srgbClr val="8541DC"/>
                </a:solidFill>
                <a:latin typeface="Noto Sans JP" pitchFamily="34" charset="0"/>
                <a:ea typeface="Noto Sans JP" pitchFamily="34" charset="-122"/>
                <a:cs typeface="Noto Sans JP" pitchFamily="34" charset="-120"/>
              </a:rPr>
              <a:t>▶</a:t>
            </a:r>
            <a:endParaRPr lang="en-US" sz="1500" dirty="0"/>
          </a:p>
        </p:txBody>
      </p:sp>
      <p:sp>
        <p:nvSpPr>
          <p:cNvPr id="23" name="Shape 21"/>
          <p:cNvSpPr/>
          <p:nvPr/>
        </p:nvSpPr>
        <p:spPr>
          <a:xfrm>
            <a:off x="9061704" y="3200400"/>
            <a:ext cx="2670048" cy="1371600"/>
          </a:xfrm>
          <a:prstGeom prst="roundRect">
            <a:avLst>
              <a:gd name="adj" fmla="val 7333"/>
            </a:avLst>
          </a:prstGeom>
          <a:solidFill>
            <a:srgbClr val="FFFFFF"/>
          </a:solidFill>
          <a:ln w="12700">
            <a:solidFill>
              <a:srgbClr val="E5E5EA"/>
            </a:solidFill>
            <a:prstDash val="solid"/>
          </a:ln>
        </p:spPr>
        <p:txBody>
          <a:bodyPr/>
          <a:lstStyle/>
          <a:p>
            <a:endParaRPr lang="ja-JP" altLang="en-US"/>
          </a:p>
        </p:txBody>
      </p:sp>
      <p:sp>
        <p:nvSpPr>
          <p:cNvPr id="24" name="Shape 22"/>
          <p:cNvSpPr/>
          <p:nvPr/>
        </p:nvSpPr>
        <p:spPr>
          <a:xfrm>
            <a:off x="9290304" y="3401568"/>
            <a:ext cx="384048" cy="384048"/>
          </a:xfrm>
          <a:prstGeom prst="ellipse">
            <a:avLst/>
          </a:prstGeom>
          <a:solidFill>
            <a:srgbClr val="8541DC"/>
          </a:solidFill>
          <a:ln/>
        </p:spPr>
        <p:txBody>
          <a:bodyPr/>
          <a:lstStyle/>
          <a:p>
            <a:endParaRPr lang="ja-JP" altLang="en-US"/>
          </a:p>
        </p:txBody>
      </p:sp>
      <p:sp>
        <p:nvSpPr>
          <p:cNvPr id="25" name="Text 23"/>
          <p:cNvSpPr/>
          <p:nvPr/>
        </p:nvSpPr>
        <p:spPr>
          <a:xfrm>
            <a:off x="9235440" y="3383280"/>
            <a:ext cx="493776"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4</a:t>
            </a:r>
            <a:endParaRPr lang="en-US" sz="1500" dirty="0"/>
          </a:p>
        </p:txBody>
      </p:sp>
      <p:sp>
        <p:nvSpPr>
          <p:cNvPr id="26" name="Text 24"/>
          <p:cNvSpPr/>
          <p:nvPr/>
        </p:nvSpPr>
        <p:spPr>
          <a:xfrm>
            <a:off x="9262872" y="3840480"/>
            <a:ext cx="2331720" cy="640080"/>
          </a:xfrm>
          <a:prstGeom prst="rect">
            <a:avLst/>
          </a:prstGeom>
          <a:noFill/>
          <a:ln/>
        </p:spPr>
        <p:txBody>
          <a:bodyPr wrap="square" lIns="0" tIns="0" rIns="0" bIns="0" rtlCol="0" anchor="ctr"/>
          <a:lstStyle/>
          <a:p>
            <a:pPr marL="0" indent="0">
              <a:lnSpc>
                <a:spcPct val="115000"/>
              </a:lnSpc>
              <a:buNone/>
            </a:pPr>
            <a:r>
              <a:rPr lang="en-US" sz="1150" b="1" dirty="0">
                <a:solidFill>
                  <a:srgbClr val="222222"/>
                </a:solidFill>
                <a:latin typeface="Noto Sans JP" pitchFamily="34" charset="0"/>
                <a:ea typeface="Noto Sans JP" pitchFamily="34" charset="-122"/>
                <a:cs typeface="Noto Sans JP" pitchFamily="34" charset="-120"/>
              </a:rPr>
              <a:t>公式サイトを訪問</a:t>
            </a:r>
            <a:endParaRPr lang="en-US" sz="1150" dirty="0"/>
          </a:p>
        </p:txBody>
      </p:sp>
      <p:sp>
        <p:nvSpPr>
          <p:cNvPr id="27" name="Shape 25"/>
          <p:cNvSpPr/>
          <p:nvPr/>
        </p:nvSpPr>
        <p:spPr>
          <a:xfrm>
            <a:off x="502920" y="4892040"/>
            <a:ext cx="11183112" cy="1051560"/>
          </a:xfrm>
          <a:prstGeom prst="roundRect">
            <a:avLst>
              <a:gd name="adj" fmla="val 9565"/>
            </a:avLst>
          </a:prstGeom>
          <a:solidFill>
            <a:srgbClr val="4A1F87"/>
          </a:solidFill>
          <a:ln/>
        </p:spPr>
        <p:txBody>
          <a:bodyPr/>
          <a:lstStyle/>
          <a:p>
            <a:endParaRPr lang="ja-JP" altLang="en-US"/>
          </a:p>
        </p:txBody>
      </p:sp>
      <p:sp>
        <p:nvSpPr>
          <p:cNvPr id="28" name="Text 26"/>
          <p:cNvSpPr/>
          <p:nvPr/>
        </p:nvSpPr>
        <p:spPr>
          <a:xfrm>
            <a:off x="868680" y="5138928"/>
            <a:ext cx="10424160" cy="548640"/>
          </a:xfrm>
          <a:prstGeom prst="rect">
            <a:avLst/>
          </a:prstGeom>
          <a:noFill/>
          <a:ln/>
        </p:spPr>
        <p:txBody>
          <a:bodyPr wrap="square" lIns="0" tIns="0" rIns="0" bIns="0" rtlCol="0" anchor="ctr"/>
          <a:lstStyle/>
          <a:p>
            <a:pPr marL="0" indent="0">
              <a:lnSpc>
                <a:spcPct val="130000"/>
              </a:lnSpc>
              <a:buNone/>
            </a:pPr>
            <a:r>
              <a:rPr lang="en-US" sz="1250" b="1" dirty="0">
                <a:solidFill>
                  <a:srgbClr val="FFFFFF"/>
                </a:solidFill>
                <a:latin typeface="Noto Sans JP" pitchFamily="34" charset="0"/>
                <a:ea typeface="Noto Sans JP" pitchFamily="34" charset="-122"/>
                <a:cs typeface="Noto Sans JP" pitchFamily="34" charset="-120"/>
              </a:rPr>
              <a:t>LLMOだけでも、SEOだけでもダメ。AIで“認識・推奨”された後、Webで“適切に流入・獲得”できて初めて売上になる。</a:t>
            </a:r>
            <a:endParaRPr lang="en-US" sz="125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OUR APPROACH — 当社のLLMOの考え方</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分析で終わらせない。“背骨”で貫くのが当社の考え方</a:t>
            </a:r>
            <a:endParaRPr lang="en-US" sz="2500" dirty="0"/>
          </a:p>
        </p:txBody>
      </p:sp>
      <p:sp>
        <p:nvSpPr>
          <p:cNvPr id="4" name="Shape 2"/>
          <p:cNvSpPr/>
          <p:nvPr/>
        </p:nvSpPr>
        <p:spPr>
          <a:xfrm>
            <a:off x="502920"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947672"/>
            <a:ext cx="82296" cy="1371600"/>
          </a:xfrm>
          <a:prstGeom prst="roundRect">
            <a:avLst>
              <a:gd name="adj" fmla="val 44444"/>
            </a:avLst>
          </a:prstGeom>
          <a:solidFill>
            <a:srgbClr val="8541DC"/>
          </a:solidFill>
          <a:ln/>
        </p:spPr>
        <p:txBody>
          <a:bodyPr/>
          <a:lstStyle/>
          <a:p>
            <a:endParaRPr lang="ja-JP" altLang="en-US"/>
          </a:p>
        </p:txBody>
      </p:sp>
      <p:sp>
        <p:nvSpPr>
          <p:cNvPr id="6" name="Text 4"/>
          <p:cNvSpPr/>
          <p:nvPr/>
        </p:nvSpPr>
        <p:spPr>
          <a:xfrm>
            <a:off x="822960" y="194767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CEP → KBF → 参照先 → RTB で逆算</a:t>
            </a:r>
            <a:endParaRPr lang="en-US" sz="1400" dirty="0"/>
          </a:p>
        </p:txBody>
      </p:sp>
      <p:sp>
        <p:nvSpPr>
          <p:cNvPr id="7" name="Text 5"/>
          <p:cNvSpPr/>
          <p:nvPr/>
        </p:nvSpPr>
        <p:spPr>
          <a:xfrm>
            <a:off x="822960" y="256032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AIが「どんな質問で」「何を基準に」「どこを根拠に」語るかを分解し、置くべき証拠まで設計する</a:t>
            </a:r>
            <a:endParaRPr lang="en-US" sz="1100" dirty="0"/>
          </a:p>
        </p:txBody>
      </p:sp>
      <p:sp>
        <p:nvSpPr>
          <p:cNvPr id="8" name="Shape 6"/>
          <p:cNvSpPr/>
          <p:nvPr/>
        </p:nvSpPr>
        <p:spPr>
          <a:xfrm>
            <a:off x="6245352"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9" name="Shape 7"/>
          <p:cNvSpPr/>
          <p:nvPr/>
        </p:nvSpPr>
        <p:spPr>
          <a:xfrm>
            <a:off x="6245352" y="1947672"/>
            <a:ext cx="82296" cy="1371600"/>
          </a:xfrm>
          <a:prstGeom prst="roundRect">
            <a:avLst>
              <a:gd name="adj" fmla="val 44444"/>
            </a:avLst>
          </a:prstGeom>
          <a:solidFill>
            <a:srgbClr val="6A2FB8"/>
          </a:solidFill>
          <a:ln/>
        </p:spPr>
        <p:txBody>
          <a:bodyPr/>
          <a:lstStyle/>
          <a:p>
            <a:endParaRPr lang="ja-JP" altLang="en-US"/>
          </a:p>
        </p:txBody>
      </p:sp>
      <p:sp>
        <p:nvSpPr>
          <p:cNvPr id="10" name="Text 8"/>
          <p:cNvSpPr/>
          <p:nvPr/>
        </p:nvSpPr>
        <p:spPr>
          <a:xfrm>
            <a:off x="6565392" y="194767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引用は“数”でなく“役割”</a:t>
            </a:r>
            <a:endParaRPr lang="en-US" sz="1400" dirty="0"/>
          </a:p>
        </p:txBody>
      </p:sp>
      <p:sp>
        <p:nvSpPr>
          <p:cNvPr id="11" name="Text 9"/>
          <p:cNvSpPr/>
          <p:nvPr/>
        </p:nvSpPr>
        <p:spPr>
          <a:xfrm>
            <a:off x="6565392" y="256032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認知＝メンション／比較＝推奨／意思決定＝整合性。ファネルごとに果たす役割を設計する</a:t>
            </a:r>
            <a:endParaRPr lang="en-US" sz="1100" dirty="0"/>
          </a:p>
        </p:txBody>
      </p:sp>
      <p:sp>
        <p:nvSpPr>
          <p:cNvPr id="12" name="Shape 10"/>
          <p:cNvSpPr/>
          <p:nvPr/>
        </p:nvSpPr>
        <p:spPr>
          <a:xfrm>
            <a:off x="502920"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3" name="Shape 11"/>
          <p:cNvSpPr/>
          <p:nvPr/>
        </p:nvSpPr>
        <p:spPr>
          <a:xfrm>
            <a:off x="502920" y="4096512"/>
            <a:ext cx="82296" cy="1371600"/>
          </a:xfrm>
          <a:prstGeom prst="roundRect">
            <a:avLst>
              <a:gd name="adj" fmla="val 44444"/>
            </a:avLst>
          </a:prstGeom>
          <a:solidFill>
            <a:srgbClr val="A970E8"/>
          </a:solidFill>
          <a:ln/>
        </p:spPr>
        <p:txBody>
          <a:bodyPr/>
          <a:lstStyle/>
          <a:p>
            <a:endParaRPr lang="ja-JP" altLang="en-US"/>
          </a:p>
        </p:txBody>
      </p:sp>
      <p:sp>
        <p:nvSpPr>
          <p:cNvPr id="14" name="Text 12"/>
          <p:cNvSpPr/>
          <p:nvPr/>
        </p:nvSpPr>
        <p:spPr>
          <a:xfrm>
            <a:off x="822960" y="409651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3つの声を一致させる</a:t>
            </a:r>
            <a:endParaRPr lang="en-US" sz="1400" dirty="0"/>
          </a:p>
        </p:txBody>
      </p:sp>
      <p:sp>
        <p:nvSpPr>
          <p:cNvPr id="15" name="Text 13"/>
          <p:cNvSpPr/>
          <p:nvPr/>
        </p:nvSpPr>
        <p:spPr>
          <a:xfrm>
            <a:off x="822960" y="470916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Company（自社発信）× User（本音）× AI（語られ方）のズレを解消し、AIの認識を正す</a:t>
            </a:r>
            <a:endParaRPr lang="en-US" sz="1100" dirty="0"/>
          </a:p>
        </p:txBody>
      </p:sp>
      <p:sp>
        <p:nvSpPr>
          <p:cNvPr id="16" name="Shape 14"/>
          <p:cNvSpPr/>
          <p:nvPr/>
        </p:nvSpPr>
        <p:spPr>
          <a:xfrm>
            <a:off x="6245352"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7" name="Shape 15"/>
          <p:cNvSpPr/>
          <p:nvPr/>
        </p:nvSpPr>
        <p:spPr>
          <a:xfrm>
            <a:off x="6245352" y="4096512"/>
            <a:ext cx="82296" cy="1371600"/>
          </a:xfrm>
          <a:prstGeom prst="roundRect">
            <a:avLst>
              <a:gd name="adj" fmla="val 44444"/>
            </a:avLst>
          </a:prstGeom>
          <a:solidFill>
            <a:srgbClr val="4A1F87"/>
          </a:solidFill>
          <a:ln/>
        </p:spPr>
        <p:txBody>
          <a:bodyPr/>
          <a:lstStyle/>
          <a:p>
            <a:endParaRPr lang="ja-JP" altLang="en-US"/>
          </a:p>
        </p:txBody>
      </p:sp>
      <p:sp>
        <p:nvSpPr>
          <p:cNvPr id="18" name="Text 16"/>
          <p:cNvSpPr/>
          <p:nvPr/>
        </p:nvSpPr>
        <p:spPr>
          <a:xfrm>
            <a:off x="6565392" y="4096512"/>
            <a:ext cx="4846320" cy="548640"/>
          </a:xfrm>
          <a:prstGeom prst="rect">
            <a:avLst/>
          </a:prstGeom>
          <a:noFill/>
          <a:ln/>
        </p:spPr>
        <p:txBody>
          <a:bodyPr wrap="square" lIns="0" tIns="0" rIns="0" bIns="0" rtlCol="0" anchor="ctr"/>
          <a:lstStyle/>
          <a:p>
            <a:pPr marL="0" indent="0">
              <a:lnSpc>
                <a:spcPct val="110000"/>
              </a:lnSpc>
              <a:buNone/>
            </a:pPr>
            <a:r>
              <a:rPr lang="en-US" sz="1400" b="1" dirty="0">
                <a:solidFill>
                  <a:srgbClr val="222222"/>
                </a:solidFill>
                <a:latin typeface="Noto Sans JP" pitchFamily="34" charset="0"/>
                <a:ea typeface="Noto Sans JP" pitchFamily="34" charset="-122"/>
                <a:cs typeface="Noto Sans JP" pitchFamily="34" charset="-120"/>
              </a:rPr>
              <a:t>着手は必ず診断から</a:t>
            </a:r>
            <a:endParaRPr lang="en-US" sz="1400" dirty="0"/>
          </a:p>
        </p:txBody>
      </p:sp>
      <p:sp>
        <p:nvSpPr>
          <p:cNvPr id="19" name="Text 17"/>
          <p:cNvSpPr/>
          <p:nvPr/>
        </p:nvSpPr>
        <p:spPr>
          <a:xfrm>
            <a:off x="6565392" y="4709160"/>
            <a:ext cx="4846320" cy="914400"/>
          </a:xfrm>
          <a:prstGeom prst="rect">
            <a:avLst/>
          </a:prstGeom>
          <a:noFill/>
          <a:ln/>
        </p:spPr>
        <p:txBody>
          <a:bodyPr wrap="square" lIns="0" tIns="0" rIns="0" bIns="0" rtlCol="0" anchor="ctr"/>
          <a:lstStyle/>
          <a:p>
            <a:pPr marL="0" indent="0">
              <a:lnSpc>
                <a:spcPct val="130000"/>
              </a:lnSpc>
              <a:buNone/>
            </a:pPr>
            <a:r>
              <a:rPr lang="en-US" sz="1100" dirty="0">
                <a:solidFill>
                  <a:srgbClr val="555A63"/>
                </a:solidFill>
                <a:latin typeface="Noto Sans JP" pitchFamily="34" charset="0"/>
                <a:ea typeface="Noto Sans JP" pitchFamily="34" charset="-122"/>
                <a:cs typeface="Noto Sans JP" pitchFamily="34" charset="-120"/>
              </a:rPr>
              <a:t>現状を可視化してから投資判断。分析だけで終わらせず、実行して勝たせるところまで伴走する</a:t>
            </a:r>
            <a:endParaRPr lang="en-US" sz="1100" dirty="0"/>
          </a:p>
        </p:txBody>
      </p:sp>
      <p:sp>
        <p:nvSpPr>
          <p:cNvPr id="20" name="Text 18"/>
          <p:cNvSpPr/>
          <p:nvPr/>
        </p:nvSpPr>
        <p:spPr>
          <a:xfrm>
            <a:off x="502920" y="5943600"/>
            <a:ext cx="11183112" cy="384048"/>
          </a:xfrm>
          <a:prstGeom prst="rect">
            <a:avLst/>
          </a:prstGeom>
          <a:noFill/>
          <a:ln/>
        </p:spPr>
        <p:txBody>
          <a:bodyPr wrap="square" lIns="0" tIns="0" rIns="0" bIns="0" rtlCol="0" anchor="ctr"/>
          <a:lstStyle/>
          <a:p>
            <a:pPr marL="0" indent="0">
              <a:lnSpc>
                <a:spcPct val="115000"/>
              </a:lnSpc>
              <a:buNone/>
            </a:pPr>
            <a:r>
              <a:rPr lang="en-US" sz="950" b="1" dirty="0">
                <a:solidFill>
                  <a:srgbClr val="8541DC"/>
                </a:solidFill>
                <a:latin typeface="Noto Sans JP" pitchFamily="34" charset="0"/>
                <a:ea typeface="Noto Sans JP" pitchFamily="34" charset="-122"/>
                <a:cs typeface="Noto Sans JP" pitchFamily="34" charset="-120"/>
              </a:rPr>
              <a:t>用語　</a:t>
            </a:r>
            <a:r>
              <a:rPr lang="en-US" sz="950" dirty="0">
                <a:solidFill>
                  <a:srgbClr val="8A8F98"/>
                </a:solidFill>
                <a:latin typeface="Noto Sans JP" pitchFamily="34" charset="0"/>
                <a:ea typeface="Noto Sans JP" pitchFamily="34" charset="-122"/>
                <a:cs typeface="Noto Sans JP" pitchFamily="34" charset="-120"/>
              </a:rPr>
              <a:t>CEP＝AIに想起されたい“質問の文脈”／KBF（Key Buying Factor）＝顧客が選ぶ際に重視する判断軸＝AIが“選ばれる理由”として語る軸／RTB＝それを裏づける証拠。</a:t>
            </a:r>
            <a:endParaRPr lang="en-US" sz="950" dirty="0"/>
          </a:p>
        </p:txBody>
      </p:sp>
      <p:sp>
        <p:nvSpPr>
          <p:cNvPr id="21" name="Text 19"/>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2" name="Text 20"/>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THE FULL PICTURE</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LLMO対策の全体像 — AIに選ばれるために必要なこと</a:t>
            </a:r>
            <a:endParaRPr lang="en-US" sz="2500" dirty="0"/>
          </a:p>
        </p:txBody>
      </p:sp>
      <p:sp>
        <p:nvSpPr>
          <p:cNvPr id="4" name="Shape 2"/>
          <p:cNvSpPr/>
          <p:nvPr/>
        </p:nvSpPr>
        <p:spPr>
          <a:xfrm>
            <a:off x="502920" y="1444752"/>
            <a:ext cx="11183112" cy="475488"/>
          </a:xfrm>
          <a:prstGeom prst="roundRect">
            <a:avLst>
              <a:gd name="adj" fmla="val 21154"/>
            </a:avLst>
          </a:prstGeom>
          <a:solidFill>
            <a:srgbClr val="4A1F87"/>
          </a:solidFill>
          <a:ln/>
        </p:spPr>
        <p:txBody>
          <a:bodyPr/>
          <a:lstStyle/>
          <a:p>
            <a:endParaRPr lang="ja-JP" altLang="en-US"/>
          </a:p>
        </p:txBody>
      </p:sp>
      <p:sp>
        <p:nvSpPr>
          <p:cNvPr id="5" name="Text 3"/>
          <p:cNvSpPr/>
          <p:nvPr/>
        </p:nvSpPr>
        <p:spPr>
          <a:xfrm>
            <a:off x="731520" y="1490472"/>
            <a:ext cx="10698480" cy="384048"/>
          </a:xfrm>
          <a:prstGeom prst="rect">
            <a:avLst/>
          </a:prstGeom>
          <a:noFill/>
          <a:ln/>
        </p:spPr>
        <p:txBody>
          <a:bodyPr wrap="square" lIns="0" tIns="0" rIns="0" bIns="0" rtlCol="0" anchor="ctr"/>
          <a:lstStyle/>
          <a:p>
            <a:pPr marL="0" indent="0">
              <a:buNone/>
            </a:pPr>
            <a:r>
              <a:rPr lang="en-US" sz="1300" b="1" dirty="0">
                <a:solidFill>
                  <a:srgbClr val="FFFFFF"/>
                </a:solidFill>
                <a:latin typeface="Noto Sans JP" pitchFamily="34" charset="0"/>
                <a:ea typeface="Noto Sans JP" pitchFamily="34" charset="-122"/>
                <a:cs typeface="Noto Sans JP" pitchFamily="34" charset="-120"/>
              </a:rPr>
              <a:t>ゴール：AIの回答に、正しい文脈で引用・推薦される（＝LLMOの成果）</a:t>
            </a:r>
            <a:endParaRPr lang="en-US" sz="1300" dirty="0"/>
          </a:p>
        </p:txBody>
      </p:sp>
      <p:sp>
        <p:nvSpPr>
          <p:cNvPr id="6" name="Shape 4"/>
          <p:cNvSpPr/>
          <p:nvPr/>
        </p:nvSpPr>
        <p:spPr>
          <a:xfrm>
            <a:off x="502920" y="2048256"/>
            <a:ext cx="3538728" cy="1810512"/>
          </a:xfrm>
          <a:prstGeom prst="roundRect">
            <a:avLst>
              <a:gd name="adj" fmla="val 5556"/>
            </a:avLst>
          </a:prstGeom>
          <a:solidFill>
            <a:srgbClr val="F0E6FC"/>
          </a:solidFill>
          <a:ln/>
        </p:spPr>
        <p:txBody>
          <a:bodyPr/>
          <a:lstStyle/>
          <a:p>
            <a:endParaRPr lang="ja-JP" altLang="en-US"/>
          </a:p>
        </p:txBody>
      </p:sp>
      <p:sp>
        <p:nvSpPr>
          <p:cNvPr id="7" name="Text 5"/>
          <p:cNvSpPr/>
          <p:nvPr/>
        </p:nvSpPr>
        <p:spPr>
          <a:xfrm>
            <a:off x="722376" y="2194560"/>
            <a:ext cx="3108960" cy="566928"/>
          </a:xfrm>
          <a:prstGeom prst="rect">
            <a:avLst/>
          </a:prstGeom>
          <a:noFill/>
          <a:ln/>
        </p:spPr>
        <p:txBody>
          <a:bodyPr wrap="square" lIns="0" tIns="0" rIns="0" bIns="0" rtlCol="0" anchor="ctr"/>
          <a:lstStyle/>
          <a:p>
            <a:pPr marL="0" indent="0">
              <a:lnSpc>
                <a:spcPct val="115000"/>
              </a:lnSpc>
              <a:buNone/>
            </a:pPr>
            <a:r>
              <a:rPr lang="en-US" sz="1250" b="1" dirty="0">
                <a:solidFill>
                  <a:srgbClr val="8541DC"/>
                </a:solidFill>
                <a:latin typeface="Noto Sans JP" pitchFamily="34" charset="0"/>
                <a:ea typeface="Noto Sans JP" pitchFamily="34" charset="-122"/>
                <a:cs typeface="Noto Sans JP" pitchFamily="34" charset="-120"/>
              </a:rPr>
              <a:t>Company Voice｜自社発信</a:t>
            </a:r>
            <a:endParaRPr lang="en-US" sz="1250" dirty="0"/>
          </a:p>
        </p:txBody>
      </p:sp>
      <p:sp>
        <p:nvSpPr>
          <p:cNvPr id="8" name="Text 6"/>
          <p:cNvSpPr/>
          <p:nvPr/>
        </p:nvSpPr>
        <p:spPr>
          <a:xfrm>
            <a:off x="722376" y="2761488"/>
            <a:ext cx="3108960" cy="960120"/>
          </a:xfrm>
          <a:prstGeom prst="rect">
            <a:avLst/>
          </a:prstGeom>
          <a:noFill/>
          <a:ln/>
        </p:spPr>
        <p:txBody>
          <a:bodyPr wrap="square" lIns="0" tIns="0" rIns="0" bIns="0" rtlCol="0" anchor="ctr"/>
          <a:lstStyle/>
          <a:p>
            <a:pPr marL="0" indent="0">
              <a:lnSpc>
                <a:spcPct val="128000"/>
              </a:lnSpc>
              <a:buNone/>
            </a:pPr>
            <a:r>
              <a:rPr lang="en-US" sz="1000" dirty="0">
                <a:solidFill>
                  <a:srgbClr val="222222"/>
                </a:solidFill>
                <a:latin typeface="Noto Sans JP" pitchFamily="34" charset="0"/>
                <a:ea typeface="Noto Sans JP" pitchFamily="34" charset="-122"/>
                <a:cs typeface="Noto Sans JP" pitchFamily="34" charset="-120"/>
              </a:rPr>
              <a:t>正しい文脈のコンテンツと、AIが認識できるエンティティを自社側で形成する</a:t>
            </a:r>
            <a:endParaRPr lang="en-US" sz="1000" dirty="0"/>
          </a:p>
        </p:txBody>
      </p:sp>
      <p:sp>
        <p:nvSpPr>
          <p:cNvPr id="9" name="Shape 7"/>
          <p:cNvSpPr/>
          <p:nvPr/>
        </p:nvSpPr>
        <p:spPr>
          <a:xfrm>
            <a:off x="4325112" y="2048256"/>
            <a:ext cx="3538728" cy="1810512"/>
          </a:xfrm>
          <a:prstGeom prst="roundRect">
            <a:avLst>
              <a:gd name="adj" fmla="val 5556"/>
            </a:avLst>
          </a:prstGeom>
          <a:solidFill>
            <a:srgbClr val="F5EFFD"/>
          </a:solidFill>
          <a:ln/>
        </p:spPr>
        <p:txBody>
          <a:bodyPr/>
          <a:lstStyle/>
          <a:p>
            <a:endParaRPr lang="ja-JP" altLang="en-US"/>
          </a:p>
        </p:txBody>
      </p:sp>
      <p:sp>
        <p:nvSpPr>
          <p:cNvPr id="10" name="Text 8"/>
          <p:cNvSpPr/>
          <p:nvPr/>
        </p:nvSpPr>
        <p:spPr>
          <a:xfrm>
            <a:off x="4544568" y="2194560"/>
            <a:ext cx="3108960" cy="566928"/>
          </a:xfrm>
          <a:prstGeom prst="rect">
            <a:avLst/>
          </a:prstGeom>
          <a:noFill/>
          <a:ln/>
        </p:spPr>
        <p:txBody>
          <a:bodyPr wrap="square" lIns="0" tIns="0" rIns="0" bIns="0" rtlCol="0" anchor="ctr"/>
          <a:lstStyle/>
          <a:p>
            <a:pPr marL="0" indent="0">
              <a:lnSpc>
                <a:spcPct val="115000"/>
              </a:lnSpc>
              <a:buNone/>
            </a:pPr>
            <a:r>
              <a:rPr lang="en-US" sz="1250" b="1" dirty="0">
                <a:solidFill>
                  <a:srgbClr val="A970E8"/>
                </a:solidFill>
                <a:latin typeface="Noto Sans JP" pitchFamily="34" charset="0"/>
                <a:ea typeface="Noto Sans JP" pitchFamily="34" charset="-122"/>
                <a:cs typeface="Noto Sans JP" pitchFamily="34" charset="-120"/>
              </a:rPr>
              <a:t>User Voice｜実際の声</a:t>
            </a:r>
            <a:endParaRPr lang="en-US" sz="1250" dirty="0"/>
          </a:p>
        </p:txBody>
      </p:sp>
      <p:sp>
        <p:nvSpPr>
          <p:cNvPr id="11" name="Text 9"/>
          <p:cNvSpPr/>
          <p:nvPr/>
        </p:nvSpPr>
        <p:spPr>
          <a:xfrm>
            <a:off x="4544568" y="2761488"/>
            <a:ext cx="3108960" cy="960120"/>
          </a:xfrm>
          <a:prstGeom prst="rect">
            <a:avLst/>
          </a:prstGeom>
          <a:noFill/>
          <a:ln/>
        </p:spPr>
        <p:txBody>
          <a:bodyPr wrap="square" lIns="0" tIns="0" rIns="0" bIns="0" rtlCol="0" anchor="ctr"/>
          <a:lstStyle/>
          <a:p>
            <a:pPr marL="0" indent="0">
              <a:lnSpc>
                <a:spcPct val="128000"/>
              </a:lnSpc>
              <a:buNone/>
            </a:pPr>
            <a:r>
              <a:rPr lang="en-US" sz="1000" dirty="0">
                <a:solidFill>
                  <a:srgbClr val="222222"/>
                </a:solidFill>
                <a:latin typeface="Noto Sans JP" pitchFamily="34" charset="0"/>
                <a:ea typeface="Noto Sans JP" pitchFamily="34" charset="-122"/>
                <a:cs typeface="Noto Sans JP" pitchFamily="34" charset="-120"/>
              </a:rPr>
              <a:t>ユーザーの本音（選ぶ理由・不満）を把握し、デジタル上に流通させる</a:t>
            </a:r>
            <a:endParaRPr lang="en-US" sz="1000" dirty="0"/>
          </a:p>
        </p:txBody>
      </p:sp>
      <p:sp>
        <p:nvSpPr>
          <p:cNvPr id="12" name="Shape 10"/>
          <p:cNvSpPr/>
          <p:nvPr/>
        </p:nvSpPr>
        <p:spPr>
          <a:xfrm>
            <a:off x="8147304" y="2048256"/>
            <a:ext cx="3538728" cy="1810512"/>
          </a:xfrm>
          <a:prstGeom prst="roundRect">
            <a:avLst>
              <a:gd name="adj" fmla="val 5556"/>
            </a:avLst>
          </a:prstGeom>
          <a:solidFill>
            <a:srgbClr val="E9DEF9"/>
          </a:solidFill>
          <a:ln/>
        </p:spPr>
        <p:txBody>
          <a:bodyPr/>
          <a:lstStyle/>
          <a:p>
            <a:endParaRPr lang="ja-JP" altLang="en-US"/>
          </a:p>
        </p:txBody>
      </p:sp>
      <p:sp>
        <p:nvSpPr>
          <p:cNvPr id="13" name="Text 11"/>
          <p:cNvSpPr/>
          <p:nvPr/>
        </p:nvSpPr>
        <p:spPr>
          <a:xfrm>
            <a:off x="8366760" y="2194560"/>
            <a:ext cx="3108960" cy="566928"/>
          </a:xfrm>
          <a:prstGeom prst="rect">
            <a:avLst/>
          </a:prstGeom>
          <a:noFill/>
          <a:ln/>
        </p:spPr>
        <p:txBody>
          <a:bodyPr wrap="square" lIns="0" tIns="0" rIns="0" bIns="0" rtlCol="0" anchor="ctr"/>
          <a:lstStyle/>
          <a:p>
            <a:pPr marL="0" indent="0">
              <a:lnSpc>
                <a:spcPct val="115000"/>
              </a:lnSpc>
              <a:buNone/>
            </a:pPr>
            <a:r>
              <a:rPr lang="en-US" sz="1250" b="1" dirty="0">
                <a:solidFill>
                  <a:srgbClr val="6A2FB8"/>
                </a:solidFill>
                <a:latin typeface="Noto Sans JP" pitchFamily="34" charset="0"/>
                <a:ea typeface="Noto Sans JP" pitchFamily="34" charset="-122"/>
                <a:cs typeface="Noto Sans JP" pitchFamily="34" charset="-120"/>
              </a:rPr>
              <a:t>AI Voice｜外部引用</a:t>
            </a:r>
            <a:endParaRPr lang="en-US" sz="1250" dirty="0"/>
          </a:p>
        </p:txBody>
      </p:sp>
      <p:sp>
        <p:nvSpPr>
          <p:cNvPr id="14" name="Text 12"/>
          <p:cNvSpPr/>
          <p:nvPr/>
        </p:nvSpPr>
        <p:spPr>
          <a:xfrm>
            <a:off x="8366760" y="2761488"/>
            <a:ext cx="3108960" cy="960120"/>
          </a:xfrm>
          <a:prstGeom prst="rect">
            <a:avLst/>
          </a:prstGeom>
          <a:noFill/>
          <a:ln/>
        </p:spPr>
        <p:txBody>
          <a:bodyPr wrap="square" lIns="0" tIns="0" rIns="0" bIns="0" rtlCol="0" anchor="ctr"/>
          <a:lstStyle/>
          <a:p>
            <a:pPr marL="0" indent="0">
              <a:lnSpc>
                <a:spcPct val="128000"/>
              </a:lnSpc>
              <a:buNone/>
            </a:pPr>
            <a:r>
              <a:rPr lang="en-US" sz="1000" dirty="0">
                <a:solidFill>
                  <a:srgbClr val="222222"/>
                </a:solidFill>
                <a:latin typeface="Noto Sans JP" pitchFamily="34" charset="0"/>
                <a:ea typeface="Noto Sans JP" pitchFamily="34" charset="-122"/>
                <a:cs typeface="Noto Sans JP" pitchFamily="34" charset="-120"/>
              </a:rPr>
              <a:t>第三者メディア・動画・UGCで、狙った文脈での言及・引用を獲得する</a:t>
            </a:r>
            <a:endParaRPr lang="en-US" sz="1000" dirty="0"/>
          </a:p>
        </p:txBody>
      </p:sp>
      <p:sp>
        <p:nvSpPr>
          <p:cNvPr id="15" name="Shape 13"/>
          <p:cNvSpPr/>
          <p:nvPr/>
        </p:nvSpPr>
        <p:spPr>
          <a:xfrm>
            <a:off x="502920" y="4005072"/>
            <a:ext cx="11183112" cy="841248"/>
          </a:xfrm>
          <a:prstGeom prst="roundRect">
            <a:avLst>
              <a:gd name="adj" fmla="val 11957"/>
            </a:avLst>
          </a:prstGeom>
          <a:solidFill>
            <a:srgbClr val="F5F5F7"/>
          </a:solidFill>
          <a:ln w="12700">
            <a:solidFill>
              <a:srgbClr val="E5E5EA"/>
            </a:solidFill>
            <a:prstDash val="solid"/>
          </a:ln>
        </p:spPr>
        <p:txBody>
          <a:bodyPr/>
          <a:lstStyle/>
          <a:p>
            <a:endParaRPr lang="ja-JP" altLang="en-US"/>
          </a:p>
        </p:txBody>
      </p:sp>
      <p:sp>
        <p:nvSpPr>
          <p:cNvPr id="16" name="Shape 14"/>
          <p:cNvSpPr/>
          <p:nvPr/>
        </p:nvSpPr>
        <p:spPr>
          <a:xfrm>
            <a:off x="731520" y="4242816"/>
            <a:ext cx="2514600" cy="365760"/>
          </a:xfrm>
          <a:prstGeom prst="roundRect">
            <a:avLst>
              <a:gd name="adj" fmla="val 50000"/>
            </a:avLst>
          </a:prstGeom>
          <a:solidFill>
            <a:srgbClr val="4A1F87"/>
          </a:solidFill>
          <a:ln/>
        </p:spPr>
        <p:txBody>
          <a:bodyPr/>
          <a:lstStyle/>
          <a:p>
            <a:endParaRPr lang="ja-JP" altLang="en-US"/>
          </a:p>
        </p:txBody>
      </p:sp>
      <p:sp>
        <p:nvSpPr>
          <p:cNvPr id="17" name="Text 15"/>
          <p:cNvSpPr/>
          <p:nvPr/>
        </p:nvSpPr>
        <p:spPr>
          <a:xfrm>
            <a:off x="685800" y="4233672"/>
            <a:ext cx="26060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JP" pitchFamily="34" charset="0"/>
                <a:ea typeface="Noto Sans JP" pitchFamily="34" charset="-122"/>
                <a:cs typeface="Noto Sans JP" pitchFamily="34" charset="-120"/>
              </a:rPr>
              <a:t>基盤</a:t>
            </a:r>
            <a:endParaRPr lang="en-US" sz="1100" dirty="0"/>
          </a:p>
        </p:txBody>
      </p:sp>
      <p:sp>
        <p:nvSpPr>
          <p:cNvPr id="18" name="Text 16"/>
          <p:cNvSpPr/>
          <p:nvPr/>
        </p:nvSpPr>
        <p:spPr>
          <a:xfrm>
            <a:off x="3429000" y="4123944"/>
            <a:ext cx="7955280" cy="621792"/>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内部要因（構造化データ・E‑E‑A‑T・サイト/情報設計）が、SEOとLLMOの両方に耐える土台になっていること</a:t>
            </a:r>
            <a:endParaRPr lang="en-US" sz="1050" dirty="0"/>
          </a:p>
        </p:txBody>
      </p:sp>
      <p:sp>
        <p:nvSpPr>
          <p:cNvPr id="19" name="Shape 17"/>
          <p:cNvSpPr/>
          <p:nvPr/>
        </p:nvSpPr>
        <p:spPr>
          <a:xfrm>
            <a:off x="502920" y="4956048"/>
            <a:ext cx="11183112" cy="841248"/>
          </a:xfrm>
          <a:prstGeom prst="roundRect">
            <a:avLst>
              <a:gd name="adj" fmla="val 11957"/>
            </a:avLst>
          </a:prstGeom>
          <a:solidFill>
            <a:srgbClr val="F5F5F7"/>
          </a:solidFill>
          <a:ln w="12700">
            <a:solidFill>
              <a:srgbClr val="E5E5EA"/>
            </a:solidFill>
            <a:prstDash val="solid"/>
          </a:ln>
        </p:spPr>
        <p:txBody>
          <a:bodyPr/>
          <a:lstStyle/>
          <a:p>
            <a:endParaRPr lang="ja-JP" altLang="en-US"/>
          </a:p>
        </p:txBody>
      </p:sp>
      <p:sp>
        <p:nvSpPr>
          <p:cNvPr id="20" name="Shape 18"/>
          <p:cNvSpPr/>
          <p:nvPr/>
        </p:nvSpPr>
        <p:spPr>
          <a:xfrm>
            <a:off x="731520" y="5193792"/>
            <a:ext cx="2514600" cy="365760"/>
          </a:xfrm>
          <a:prstGeom prst="roundRect">
            <a:avLst>
              <a:gd name="adj" fmla="val 50000"/>
            </a:avLst>
          </a:prstGeom>
          <a:solidFill>
            <a:srgbClr val="6A2FB8"/>
          </a:solidFill>
          <a:ln/>
        </p:spPr>
        <p:txBody>
          <a:bodyPr/>
          <a:lstStyle/>
          <a:p>
            <a:endParaRPr lang="ja-JP" altLang="en-US"/>
          </a:p>
        </p:txBody>
      </p:sp>
      <p:sp>
        <p:nvSpPr>
          <p:cNvPr id="21" name="Text 19"/>
          <p:cNvSpPr/>
          <p:nvPr/>
        </p:nvSpPr>
        <p:spPr>
          <a:xfrm>
            <a:off x="685800" y="5184648"/>
            <a:ext cx="260604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JP" pitchFamily="34" charset="0"/>
                <a:ea typeface="Noto Sans JP" pitchFamily="34" charset="-122"/>
                <a:cs typeface="Noto Sans JP" pitchFamily="34" charset="-120"/>
              </a:rPr>
              <a:t>計測・文脈管理</a:t>
            </a:r>
            <a:endParaRPr lang="en-US" sz="1100" dirty="0"/>
          </a:p>
        </p:txBody>
      </p:sp>
      <p:sp>
        <p:nvSpPr>
          <p:cNvPr id="22" name="Text 20"/>
          <p:cNvSpPr/>
          <p:nvPr/>
        </p:nvSpPr>
        <p:spPr>
          <a:xfrm>
            <a:off x="3429000" y="5074920"/>
            <a:ext cx="7955280" cy="621792"/>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AIでの「言われ方」を継続的に測り、3つの声の文脈を一貫させ続けること</a:t>
            </a:r>
            <a:endParaRPr lang="en-US" sz="1050" dirty="0"/>
          </a:p>
        </p:txBody>
      </p:sp>
      <p:sp>
        <p:nvSpPr>
          <p:cNvPr id="23" name="Text 21"/>
          <p:cNvSpPr/>
          <p:nvPr/>
        </p:nvSpPr>
        <p:spPr>
          <a:xfrm>
            <a:off x="502920" y="5989320"/>
            <a:ext cx="11183112" cy="365760"/>
          </a:xfrm>
          <a:prstGeom prst="rect">
            <a:avLst/>
          </a:prstGeom>
          <a:noFill/>
          <a:ln/>
        </p:spPr>
        <p:txBody>
          <a:bodyPr wrap="square" lIns="0" tIns="0" rIns="0" bIns="0" rtlCol="0" anchor="ctr"/>
          <a:lstStyle/>
          <a:p>
            <a:pPr marL="0" indent="0" algn="ctr">
              <a:buNone/>
            </a:pPr>
            <a:r>
              <a:rPr lang="en-US" sz="1250" b="1" dirty="0">
                <a:solidFill>
                  <a:srgbClr val="F57527"/>
                </a:solidFill>
                <a:latin typeface="Noto Sans JP" pitchFamily="34" charset="0"/>
                <a:ea typeface="Noto Sans JP" pitchFamily="34" charset="-122"/>
                <a:cs typeface="Noto Sans JP" pitchFamily="34" charset="-120"/>
              </a:rPr>
              <a:t>どれか1つでは効かない — 全レイヤーの“一貫性”が、LLMOの成否を分ける。</a:t>
            </a:r>
            <a:endParaRPr lang="en-US" sz="125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5" name="Text 23"/>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OUR METHODOLOGY — 支援の全体像</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診断から改善まで — 3フェーズ・9工程で一気通貫</a:t>
            </a:r>
            <a:endParaRPr lang="en-US" sz="2500" dirty="0"/>
          </a:p>
        </p:txBody>
      </p:sp>
      <p:sp>
        <p:nvSpPr>
          <p:cNvPr id="4" name="Shape 2"/>
          <p:cNvSpPr/>
          <p:nvPr/>
        </p:nvSpPr>
        <p:spPr>
          <a:xfrm>
            <a:off x="502920" y="1691640"/>
            <a:ext cx="3538728" cy="397764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5" name="Shape 3"/>
          <p:cNvSpPr/>
          <p:nvPr/>
        </p:nvSpPr>
        <p:spPr>
          <a:xfrm>
            <a:off x="502920" y="1691640"/>
            <a:ext cx="3538728" cy="82296"/>
          </a:xfrm>
          <a:prstGeom prst="roundRect">
            <a:avLst>
              <a:gd name="adj" fmla="val 44444"/>
            </a:avLst>
          </a:prstGeom>
          <a:solidFill>
            <a:srgbClr val="A970E8"/>
          </a:solidFill>
          <a:ln/>
        </p:spPr>
        <p:txBody>
          <a:bodyPr/>
          <a:lstStyle/>
          <a:p>
            <a:endParaRPr lang="ja-JP" altLang="en-US"/>
          </a:p>
        </p:txBody>
      </p:sp>
      <p:sp>
        <p:nvSpPr>
          <p:cNvPr id="6" name="Text 4"/>
          <p:cNvSpPr/>
          <p:nvPr/>
        </p:nvSpPr>
        <p:spPr>
          <a:xfrm>
            <a:off x="731520" y="1920240"/>
            <a:ext cx="3108960" cy="411480"/>
          </a:xfrm>
          <a:prstGeom prst="rect">
            <a:avLst/>
          </a:prstGeom>
          <a:noFill/>
          <a:ln/>
        </p:spPr>
        <p:txBody>
          <a:bodyPr wrap="square" lIns="0" tIns="0" rIns="0" bIns="0" rtlCol="0" anchor="ctr"/>
          <a:lstStyle/>
          <a:p>
            <a:pPr marL="0" indent="0">
              <a:buNone/>
            </a:pPr>
            <a:r>
              <a:rPr lang="en-US" sz="1350" b="1" dirty="0">
                <a:solidFill>
                  <a:srgbClr val="A970E8"/>
                </a:solidFill>
                <a:latin typeface="Noto Sans JP" pitchFamily="34" charset="0"/>
                <a:ea typeface="Noto Sans JP" pitchFamily="34" charset="-122"/>
                <a:cs typeface="Noto Sans JP" pitchFamily="34" charset="-120"/>
              </a:rPr>
              <a:t>PHASE 1｜診断</a:t>
            </a:r>
            <a:endParaRPr lang="en-US" sz="1350" dirty="0"/>
          </a:p>
        </p:txBody>
      </p:sp>
      <p:sp>
        <p:nvSpPr>
          <p:cNvPr id="7" name="Text 5"/>
          <p:cNvSpPr/>
          <p:nvPr/>
        </p:nvSpPr>
        <p:spPr>
          <a:xfrm>
            <a:off x="731520" y="2468880"/>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① 現在地の診断（AIでの言われ方）</a:t>
            </a:r>
            <a:endParaRPr lang="en-US" sz="1080" dirty="0"/>
          </a:p>
        </p:txBody>
      </p:sp>
      <p:sp>
        <p:nvSpPr>
          <p:cNvPr id="8" name="Text 6"/>
          <p:cNvSpPr/>
          <p:nvPr/>
        </p:nvSpPr>
        <p:spPr>
          <a:xfrm>
            <a:off x="731520" y="3127248"/>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② AIカスタマージャーニー設計</a:t>
            </a:r>
            <a:endParaRPr lang="en-US" sz="1080" dirty="0"/>
          </a:p>
        </p:txBody>
      </p:sp>
      <p:sp>
        <p:nvSpPr>
          <p:cNvPr id="9" name="Text 7"/>
          <p:cNvSpPr/>
          <p:nvPr/>
        </p:nvSpPr>
        <p:spPr>
          <a:xfrm>
            <a:off x="731520" y="3785616"/>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③ エンティティ・参照先の特定</a:t>
            </a:r>
            <a:endParaRPr lang="en-US" sz="1080" dirty="0"/>
          </a:p>
        </p:txBody>
      </p:sp>
      <p:sp>
        <p:nvSpPr>
          <p:cNvPr id="10" name="Shape 8"/>
          <p:cNvSpPr/>
          <p:nvPr/>
        </p:nvSpPr>
        <p:spPr>
          <a:xfrm>
            <a:off x="4325112" y="1691640"/>
            <a:ext cx="3538728" cy="397764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11" name="Shape 9"/>
          <p:cNvSpPr/>
          <p:nvPr/>
        </p:nvSpPr>
        <p:spPr>
          <a:xfrm>
            <a:off x="4325112" y="1691640"/>
            <a:ext cx="3538728" cy="82296"/>
          </a:xfrm>
          <a:prstGeom prst="roundRect">
            <a:avLst>
              <a:gd name="adj" fmla="val 44444"/>
            </a:avLst>
          </a:prstGeom>
          <a:solidFill>
            <a:srgbClr val="8541DC"/>
          </a:solidFill>
          <a:ln/>
        </p:spPr>
        <p:txBody>
          <a:bodyPr/>
          <a:lstStyle/>
          <a:p>
            <a:endParaRPr lang="ja-JP" altLang="en-US"/>
          </a:p>
        </p:txBody>
      </p:sp>
      <p:sp>
        <p:nvSpPr>
          <p:cNvPr id="12" name="Text 10"/>
          <p:cNvSpPr/>
          <p:nvPr/>
        </p:nvSpPr>
        <p:spPr>
          <a:xfrm>
            <a:off x="4553712" y="1920240"/>
            <a:ext cx="3108960" cy="41148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PHASE 2｜実装</a:t>
            </a:r>
            <a:endParaRPr lang="en-US" sz="1350" dirty="0"/>
          </a:p>
        </p:txBody>
      </p:sp>
      <p:sp>
        <p:nvSpPr>
          <p:cNvPr id="13" name="Text 11"/>
          <p:cNvSpPr/>
          <p:nvPr/>
        </p:nvSpPr>
        <p:spPr>
          <a:xfrm>
            <a:off x="4553712" y="2468880"/>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④ サイト・技術基盤の整備</a:t>
            </a:r>
            <a:endParaRPr lang="en-US" sz="1080" dirty="0"/>
          </a:p>
        </p:txBody>
      </p:sp>
      <p:sp>
        <p:nvSpPr>
          <p:cNvPr id="14" name="Text 12"/>
          <p:cNvSpPr/>
          <p:nvPr/>
        </p:nvSpPr>
        <p:spPr>
          <a:xfrm>
            <a:off x="4553712" y="3127248"/>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⑤ ブランドナレッジベース構築</a:t>
            </a:r>
            <a:endParaRPr lang="en-US" sz="1080" dirty="0"/>
          </a:p>
        </p:txBody>
      </p:sp>
      <p:sp>
        <p:nvSpPr>
          <p:cNvPr id="15" name="Text 13"/>
          <p:cNvSpPr/>
          <p:nvPr/>
        </p:nvSpPr>
        <p:spPr>
          <a:xfrm>
            <a:off x="4553712" y="3785616"/>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⑥ ウェブ全体のプレゼンス形成</a:t>
            </a:r>
            <a:endParaRPr lang="en-US" sz="1080" dirty="0"/>
          </a:p>
        </p:txBody>
      </p:sp>
      <p:sp>
        <p:nvSpPr>
          <p:cNvPr id="16" name="Text 14"/>
          <p:cNvSpPr/>
          <p:nvPr/>
        </p:nvSpPr>
        <p:spPr>
          <a:xfrm>
            <a:off x="4553712" y="4443984"/>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⑦ コンバージョン出口の整備</a:t>
            </a:r>
            <a:endParaRPr lang="en-US" sz="1080" dirty="0"/>
          </a:p>
        </p:txBody>
      </p:sp>
      <p:sp>
        <p:nvSpPr>
          <p:cNvPr id="17" name="Shape 15"/>
          <p:cNvSpPr/>
          <p:nvPr/>
        </p:nvSpPr>
        <p:spPr>
          <a:xfrm>
            <a:off x="8147304" y="1691640"/>
            <a:ext cx="3538728" cy="397764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18" name="Shape 16"/>
          <p:cNvSpPr/>
          <p:nvPr/>
        </p:nvSpPr>
        <p:spPr>
          <a:xfrm>
            <a:off x="8147304" y="1691640"/>
            <a:ext cx="3538728" cy="82296"/>
          </a:xfrm>
          <a:prstGeom prst="roundRect">
            <a:avLst>
              <a:gd name="adj" fmla="val 44444"/>
            </a:avLst>
          </a:prstGeom>
          <a:solidFill>
            <a:srgbClr val="6A2FB8"/>
          </a:solidFill>
          <a:ln/>
        </p:spPr>
        <p:txBody>
          <a:bodyPr/>
          <a:lstStyle/>
          <a:p>
            <a:endParaRPr lang="ja-JP" altLang="en-US"/>
          </a:p>
        </p:txBody>
      </p:sp>
      <p:sp>
        <p:nvSpPr>
          <p:cNvPr id="19" name="Text 17"/>
          <p:cNvSpPr/>
          <p:nvPr/>
        </p:nvSpPr>
        <p:spPr>
          <a:xfrm>
            <a:off x="8375904" y="1920240"/>
            <a:ext cx="3108960" cy="411480"/>
          </a:xfrm>
          <a:prstGeom prst="rect">
            <a:avLst/>
          </a:prstGeom>
          <a:noFill/>
          <a:ln/>
        </p:spPr>
        <p:txBody>
          <a:bodyPr wrap="square" lIns="0" tIns="0" rIns="0" bIns="0" rtlCol="0" anchor="ctr"/>
          <a:lstStyle/>
          <a:p>
            <a:pPr marL="0" indent="0">
              <a:buNone/>
            </a:pPr>
            <a:r>
              <a:rPr lang="en-US" sz="1350" b="1" dirty="0">
                <a:solidFill>
                  <a:srgbClr val="6A2FB8"/>
                </a:solidFill>
                <a:latin typeface="Noto Sans JP" pitchFamily="34" charset="0"/>
                <a:ea typeface="Noto Sans JP" pitchFamily="34" charset="-122"/>
                <a:cs typeface="Noto Sans JP" pitchFamily="34" charset="-120"/>
              </a:rPr>
              <a:t>PHASE 3｜計測・改善</a:t>
            </a:r>
            <a:endParaRPr lang="en-US" sz="1350" dirty="0"/>
          </a:p>
        </p:txBody>
      </p:sp>
      <p:sp>
        <p:nvSpPr>
          <p:cNvPr id="20" name="Text 18"/>
          <p:cNvSpPr/>
          <p:nvPr/>
        </p:nvSpPr>
        <p:spPr>
          <a:xfrm>
            <a:off x="8375904" y="2468880"/>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⑧ AIモニタリングと継続改善</a:t>
            </a:r>
            <a:endParaRPr lang="en-US" sz="1080" dirty="0"/>
          </a:p>
        </p:txBody>
      </p:sp>
      <p:sp>
        <p:nvSpPr>
          <p:cNvPr id="21" name="Text 19"/>
          <p:cNvSpPr/>
          <p:nvPr/>
        </p:nvSpPr>
        <p:spPr>
          <a:xfrm>
            <a:off x="8375904" y="3127248"/>
            <a:ext cx="3108960" cy="603504"/>
          </a:xfrm>
          <a:prstGeom prst="rect">
            <a:avLst/>
          </a:prstGeom>
          <a:noFill/>
          <a:ln/>
        </p:spPr>
        <p:txBody>
          <a:bodyPr wrap="square" lIns="0" tIns="0" rIns="0" bIns="0" rtlCol="0" anchor="ctr"/>
          <a:lstStyle/>
          <a:p>
            <a:pPr marL="0" indent="0">
              <a:lnSpc>
                <a:spcPct val="115000"/>
              </a:lnSpc>
              <a:buNone/>
            </a:pPr>
            <a:r>
              <a:rPr lang="en-US" sz="1080" dirty="0">
                <a:solidFill>
                  <a:srgbClr val="222222"/>
                </a:solidFill>
                <a:latin typeface="Noto Sans JP" pitchFamily="34" charset="0"/>
                <a:ea typeface="Noto Sans JP" pitchFamily="34" charset="-122"/>
                <a:cs typeface="Noto Sans JP" pitchFamily="34" charset="-120"/>
              </a:rPr>
              <a:t>⑨ AI経由売上の計測</a:t>
            </a:r>
            <a:endParaRPr lang="en-US" sz="1080" dirty="0"/>
          </a:p>
        </p:txBody>
      </p:sp>
      <p:sp>
        <p:nvSpPr>
          <p:cNvPr id="22" name="Text 20"/>
          <p:cNvSpPr/>
          <p:nvPr/>
        </p:nvSpPr>
        <p:spPr>
          <a:xfrm>
            <a:off x="502920" y="5852160"/>
            <a:ext cx="11183112" cy="365760"/>
          </a:xfrm>
          <a:prstGeom prst="rect">
            <a:avLst/>
          </a:prstGeom>
          <a:noFill/>
          <a:ln/>
        </p:spPr>
        <p:txBody>
          <a:bodyPr wrap="square" lIns="0" tIns="0" rIns="0" bIns="0" rtlCol="0" anchor="ctr"/>
          <a:lstStyle/>
          <a:p>
            <a:pPr marL="0" indent="0" algn="ctr">
              <a:buNone/>
            </a:pPr>
            <a:r>
              <a:rPr lang="en-US" sz="1200" b="1" dirty="0">
                <a:solidFill>
                  <a:srgbClr val="F57527"/>
                </a:solidFill>
                <a:latin typeface="Noto Sans JP" pitchFamily="34" charset="0"/>
                <a:ea typeface="Noto Sans JP" pitchFamily="34" charset="-122"/>
                <a:cs typeface="Noto Sans JP" pitchFamily="34" charset="-120"/>
              </a:rPr>
              <a:t>本無料分析は PHASE 1（診断）に相当します。ここで現状と機会を可視化し、次の一手を設計します。</a:t>
            </a:r>
            <a:endParaRPr lang="en-US" sz="1200" dirty="0"/>
          </a:p>
        </p:txBody>
      </p:sp>
      <p:sp>
        <p:nvSpPr>
          <p:cNvPr id="23" name="Text 2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4" name="Text 2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FUNNEL &amp; KPI — ファネルとKPI</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ファネルで捉え、KPIは“3層”で立てる</a:t>
            </a:r>
            <a:endParaRPr lang="en-US" sz="2500" dirty="0"/>
          </a:p>
        </p:txBody>
      </p:sp>
      <p:sp>
        <p:nvSpPr>
          <p:cNvPr id="4" name="Shape 2"/>
          <p:cNvSpPr/>
          <p:nvPr/>
        </p:nvSpPr>
        <p:spPr>
          <a:xfrm>
            <a:off x="502920" y="1645920"/>
            <a:ext cx="11183112" cy="694944"/>
          </a:xfrm>
          <a:prstGeom prst="roundRect">
            <a:avLst>
              <a:gd name="adj" fmla="val 14474"/>
            </a:avLst>
          </a:prstGeom>
          <a:solidFill>
            <a:srgbClr val="F5F5F7"/>
          </a:solidFill>
          <a:ln/>
        </p:spPr>
        <p:txBody>
          <a:bodyPr/>
          <a:lstStyle/>
          <a:p>
            <a:endParaRPr lang="ja-JP" altLang="en-US"/>
          </a:p>
        </p:txBody>
      </p:sp>
      <p:sp>
        <p:nvSpPr>
          <p:cNvPr id="5" name="Shape 3"/>
          <p:cNvSpPr/>
          <p:nvPr/>
        </p:nvSpPr>
        <p:spPr>
          <a:xfrm>
            <a:off x="685800" y="1810512"/>
            <a:ext cx="365760" cy="365760"/>
          </a:xfrm>
          <a:prstGeom prst="ellipse">
            <a:avLst/>
          </a:prstGeom>
          <a:solidFill>
            <a:srgbClr val="A970E8"/>
          </a:solidFill>
          <a:ln/>
        </p:spPr>
        <p:txBody>
          <a:bodyPr/>
          <a:lstStyle/>
          <a:p>
            <a:endParaRPr lang="ja-JP" altLang="en-US"/>
          </a:p>
        </p:txBody>
      </p:sp>
      <p:sp>
        <p:nvSpPr>
          <p:cNvPr id="6" name="Text 4"/>
          <p:cNvSpPr/>
          <p:nvPr/>
        </p:nvSpPr>
        <p:spPr>
          <a:xfrm>
            <a:off x="630936" y="1792224"/>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1</a:t>
            </a:r>
            <a:endParaRPr lang="en-US" sz="1500" dirty="0"/>
          </a:p>
        </p:txBody>
      </p:sp>
      <p:sp>
        <p:nvSpPr>
          <p:cNvPr id="7" name="Text 5"/>
          <p:cNvSpPr/>
          <p:nvPr/>
        </p:nvSpPr>
        <p:spPr>
          <a:xfrm>
            <a:off x="1188720" y="1709928"/>
            <a:ext cx="2011680" cy="548640"/>
          </a:xfrm>
          <a:prstGeom prst="rect">
            <a:avLst/>
          </a:prstGeom>
          <a:noFill/>
          <a:ln/>
        </p:spPr>
        <p:txBody>
          <a:bodyPr wrap="square" lIns="0" tIns="0" rIns="0" bIns="0" rtlCol="0" anchor="ctr"/>
          <a:lstStyle/>
          <a:p>
            <a:pPr marL="0" indent="0">
              <a:buNone/>
            </a:pPr>
            <a:r>
              <a:rPr lang="en-US" sz="1300" b="1" dirty="0">
                <a:solidFill>
                  <a:srgbClr val="222222"/>
                </a:solidFill>
                <a:latin typeface="Noto Sans JP" pitchFamily="34" charset="0"/>
                <a:ea typeface="Noto Sans JP" pitchFamily="34" charset="-122"/>
                <a:cs typeface="Noto Sans JP" pitchFamily="34" charset="-120"/>
              </a:rPr>
              <a:t>認知</a:t>
            </a:r>
            <a:endParaRPr lang="en-US" sz="1300" dirty="0"/>
          </a:p>
        </p:txBody>
      </p:sp>
      <p:sp>
        <p:nvSpPr>
          <p:cNvPr id="8" name="Text 6"/>
          <p:cNvSpPr/>
          <p:nvPr/>
        </p:nvSpPr>
        <p:spPr>
          <a:xfrm>
            <a:off x="3108960" y="1691640"/>
            <a:ext cx="4754880" cy="585216"/>
          </a:xfrm>
          <a:prstGeom prst="rect">
            <a:avLst/>
          </a:prstGeom>
          <a:noFill/>
          <a:ln/>
        </p:spPr>
        <p:txBody>
          <a:bodyPr wrap="square" lIns="0" tIns="0" rIns="0" bIns="0" rtlCol="0" anchor="ctr"/>
          <a:lstStyle/>
          <a:p>
            <a:pPr marL="0" indent="0">
              <a:lnSpc>
                <a:spcPct val="120000"/>
              </a:lnSpc>
              <a:buNone/>
            </a:pPr>
            <a:r>
              <a:rPr lang="en-US" sz="1000" dirty="0">
                <a:solidFill>
                  <a:srgbClr val="555A63"/>
                </a:solidFill>
                <a:latin typeface="Noto Sans JP" pitchFamily="34" charset="0"/>
                <a:ea typeface="Noto Sans JP" pitchFamily="34" charset="-122"/>
                <a:cs typeface="Noto Sans JP" pitchFamily="34" charset="-120"/>
              </a:rPr>
              <a:t>AIでカテゴリを調べている → 名前が挙がる</a:t>
            </a:r>
            <a:endParaRPr lang="en-US" sz="1000" dirty="0"/>
          </a:p>
        </p:txBody>
      </p:sp>
      <p:sp>
        <p:nvSpPr>
          <p:cNvPr id="9" name="Text 7"/>
          <p:cNvSpPr/>
          <p:nvPr/>
        </p:nvSpPr>
        <p:spPr>
          <a:xfrm>
            <a:off x="8046720" y="1691640"/>
            <a:ext cx="3474720" cy="585216"/>
          </a:xfrm>
          <a:prstGeom prst="rect">
            <a:avLst/>
          </a:prstGeom>
          <a:noFill/>
          <a:ln/>
        </p:spPr>
        <p:txBody>
          <a:bodyPr wrap="square" lIns="0" tIns="0" rIns="0" bIns="0" rtlCol="0" anchor="ctr"/>
          <a:lstStyle/>
          <a:p>
            <a:pPr marL="0" indent="0">
              <a:buNone/>
            </a:pPr>
            <a:r>
              <a:rPr lang="en-US" sz="1050" b="1" dirty="0">
                <a:solidFill>
                  <a:srgbClr val="A970E8"/>
                </a:solidFill>
                <a:latin typeface="Noto Sans JP" pitchFamily="34" charset="0"/>
                <a:ea typeface="Noto Sans JP" pitchFamily="34" charset="-122"/>
                <a:cs typeface="Noto Sans JP" pitchFamily="34" charset="-120"/>
              </a:rPr>
              <a:t>KPI：メンション率 / AI上シェア</a:t>
            </a:r>
            <a:endParaRPr lang="en-US" sz="1050" dirty="0"/>
          </a:p>
        </p:txBody>
      </p:sp>
      <p:sp>
        <p:nvSpPr>
          <p:cNvPr id="10" name="Shape 8"/>
          <p:cNvSpPr/>
          <p:nvPr/>
        </p:nvSpPr>
        <p:spPr>
          <a:xfrm>
            <a:off x="960120" y="2432304"/>
            <a:ext cx="10725912" cy="694944"/>
          </a:xfrm>
          <a:prstGeom prst="roundRect">
            <a:avLst>
              <a:gd name="adj" fmla="val 14474"/>
            </a:avLst>
          </a:prstGeom>
          <a:solidFill>
            <a:srgbClr val="F5F5F7"/>
          </a:solidFill>
          <a:ln/>
        </p:spPr>
        <p:txBody>
          <a:bodyPr/>
          <a:lstStyle/>
          <a:p>
            <a:endParaRPr lang="ja-JP" altLang="en-US"/>
          </a:p>
        </p:txBody>
      </p:sp>
      <p:sp>
        <p:nvSpPr>
          <p:cNvPr id="11" name="Shape 9"/>
          <p:cNvSpPr/>
          <p:nvPr/>
        </p:nvSpPr>
        <p:spPr>
          <a:xfrm>
            <a:off x="1143000" y="2596896"/>
            <a:ext cx="365760" cy="365760"/>
          </a:xfrm>
          <a:prstGeom prst="ellipse">
            <a:avLst/>
          </a:prstGeom>
          <a:solidFill>
            <a:srgbClr val="8541DC"/>
          </a:solidFill>
          <a:ln/>
        </p:spPr>
        <p:txBody>
          <a:bodyPr/>
          <a:lstStyle/>
          <a:p>
            <a:endParaRPr lang="ja-JP" altLang="en-US"/>
          </a:p>
        </p:txBody>
      </p:sp>
      <p:sp>
        <p:nvSpPr>
          <p:cNvPr id="12" name="Text 10"/>
          <p:cNvSpPr/>
          <p:nvPr/>
        </p:nvSpPr>
        <p:spPr>
          <a:xfrm>
            <a:off x="1088136" y="2578608"/>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2</a:t>
            </a:r>
            <a:endParaRPr lang="en-US" sz="1500" dirty="0"/>
          </a:p>
        </p:txBody>
      </p:sp>
      <p:sp>
        <p:nvSpPr>
          <p:cNvPr id="13" name="Text 11"/>
          <p:cNvSpPr/>
          <p:nvPr/>
        </p:nvSpPr>
        <p:spPr>
          <a:xfrm>
            <a:off x="1645920" y="2496312"/>
            <a:ext cx="2011680" cy="548640"/>
          </a:xfrm>
          <a:prstGeom prst="rect">
            <a:avLst/>
          </a:prstGeom>
          <a:noFill/>
          <a:ln/>
        </p:spPr>
        <p:txBody>
          <a:bodyPr wrap="square" lIns="0" tIns="0" rIns="0" bIns="0" rtlCol="0" anchor="ctr"/>
          <a:lstStyle/>
          <a:p>
            <a:pPr marL="0" indent="0">
              <a:buNone/>
            </a:pPr>
            <a:r>
              <a:rPr lang="en-US" sz="1300" b="1" dirty="0">
                <a:solidFill>
                  <a:srgbClr val="222222"/>
                </a:solidFill>
                <a:latin typeface="Noto Sans JP" pitchFamily="34" charset="0"/>
                <a:ea typeface="Noto Sans JP" pitchFamily="34" charset="-122"/>
                <a:cs typeface="Noto Sans JP" pitchFamily="34" charset="-120"/>
              </a:rPr>
              <a:t>比較・検討</a:t>
            </a:r>
            <a:endParaRPr lang="en-US" sz="1300" dirty="0"/>
          </a:p>
        </p:txBody>
      </p:sp>
      <p:sp>
        <p:nvSpPr>
          <p:cNvPr id="14" name="Text 12"/>
          <p:cNvSpPr/>
          <p:nvPr/>
        </p:nvSpPr>
        <p:spPr>
          <a:xfrm>
            <a:off x="3566160" y="2478024"/>
            <a:ext cx="4754880" cy="585216"/>
          </a:xfrm>
          <a:prstGeom prst="rect">
            <a:avLst/>
          </a:prstGeom>
          <a:noFill/>
          <a:ln/>
        </p:spPr>
        <p:txBody>
          <a:bodyPr wrap="square" lIns="0" tIns="0" rIns="0" bIns="0" rtlCol="0" anchor="ctr"/>
          <a:lstStyle/>
          <a:p>
            <a:pPr marL="0" indent="0">
              <a:lnSpc>
                <a:spcPct val="120000"/>
              </a:lnSpc>
              <a:buNone/>
            </a:pPr>
            <a:r>
              <a:rPr lang="en-US" sz="1000" dirty="0">
                <a:solidFill>
                  <a:srgbClr val="555A63"/>
                </a:solidFill>
                <a:latin typeface="Noto Sans JP" pitchFamily="34" charset="0"/>
                <a:ea typeface="Noto Sans JP" pitchFamily="34" charset="-122"/>
                <a:cs typeface="Noto Sans JP" pitchFamily="34" charset="-120"/>
              </a:rPr>
              <a:t>複数ブランドを比較 → 推奨され“選ばれる理由”が示される</a:t>
            </a:r>
            <a:endParaRPr lang="en-US" sz="1000" dirty="0"/>
          </a:p>
        </p:txBody>
      </p:sp>
      <p:sp>
        <p:nvSpPr>
          <p:cNvPr id="15" name="Text 13"/>
          <p:cNvSpPr/>
          <p:nvPr/>
        </p:nvSpPr>
        <p:spPr>
          <a:xfrm>
            <a:off x="8046720" y="2478024"/>
            <a:ext cx="3474720" cy="585216"/>
          </a:xfrm>
          <a:prstGeom prst="rect">
            <a:avLst/>
          </a:prstGeom>
          <a:noFill/>
          <a:ln/>
        </p:spPr>
        <p:txBody>
          <a:bodyPr wrap="square" lIns="0" tIns="0" rIns="0" bIns="0" rtlCol="0" anchor="ctr"/>
          <a:lstStyle/>
          <a:p>
            <a:pPr marL="0" indent="0">
              <a:buNone/>
            </a:pPr>
            <a:r>
              <a:rPr lang="en-US" sz="1050" b="1" dirty="0">
                <a:solidFill>
                  <a:srgbClr val="8541DC"/>
                </a:solidFill>
                <a:latin typeface="Noto Sans JP" pitchFamily="34" charset="0"/>
                <a:ea typeface="Noto Sans JP" pitchFamily="34" charset="-122"/>
                <a:cs typeface="Noto Sans JP" pitchFamily="34" charset="-120"/>
              </a:rPr>
              <a:t>KPI：推奨率 / 比較勝率 / 推奨理由</a:t>
            </a:r>
            <a:endParaRPr lang="en-US" sz="1050" dirty="0"/>
          </a:p>
        </p:txBody>
      </p:sp>
      <p:sp>
        <p:nvSpPr>
          <p:cNvPr id="16" name="Shape 14"/>
          <p:cNvSpPr/>
          <p:nvPr/>
        </p:nvSpPr>
        <p:spPr>
          <a:xfrm>
            <a:off x="1417320" y="3218688"/>
            <a:ext cx="10268712" cy="694944"/>
          </a:xfrm>
          <a:prstGeom prst="roundRect">
            <a:avLst>
              <a:gd name="adj" fmla="val 14474"/>
            </a:avLst>
          </a:prstGeom>
          <a:solidFill>
            <a:srgbClr val="F5F5F7"/>
          </a:solidFill>
          <a:ln/>
        </p:spPr>
        <p:txBody>
          <a:bodyPr/>
          <a:lstStyle/>
          <a:p>
            <a:endParaRPr lang="ja-JP" altLang="en-US"/>
          </a:p>
        </p:txBody>
      </p:sp>
      <p:sp>
        <p:nvSpPr>
          <p:cNvPr id="17" name="Shape 15"/>
          <p:cNvSpPr/>
          <p:nvPr/>
        </p:nvSpPr>
        <p:spPr>
          <a:xfrm>
            <a:off x="1600200" y="3383280"/>
            <a:ext cx="365760" cy="365760"/>
          </a:xfrm>
          <a:prstGeom prst="ellipse">
            <a:avLst/>
          </a:prstGeom>
          <a:solidFill>
            <a:srgbClr val="6A2FB8"/>
          </a:solidFill>
          <a:ln/>
        </p:spPr>
        <p:txBody>
          <a:bodyPr/>
          <a:lstStyle/>
          <a:p>
            <a:endParaRPr lang="ja-JP" altLang="en-US"/>
          </a:p>
        </p:txBody>
      </p:sp>
      <p:sp>
        <p:nvSpPr>
          <p:cNvPr id="18" name="Text 16"/>
          <p:cNvSpPr/>
          <p:nvPr/>
        </p:nvSpPr>
        <p:spPr>
          <a:xfrm>
            <a:off x="1545336" y="3364992"/>
            <a:ext cx="47548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Noto Sans JP" pitchFamily="34" charset="0"/>
                <a:ea typeface="Noto Sans JP" pitchFamily="34" charset="-122"/>
                <a:cs typeface="Noto Sans JP" pitchFamily="34" charset="-120"/>
              </a:rPr>
              <a:t>3</a:t>
            </a:r>
            <a:endParaRPr lang="en-US" sz="1500" dirty="0"/>
          </a:p>
        </p:txBody>
      </p:sp>
      <p:sp>
        <p:nvSpPr>
          <p:cNvPr id="19" name="Text 17"/>
          <p:cNvSpPr/>
          <p:nvPr/>
        </p:nvSpPr>
        <p:spPr>
          <a:xfrm>
            <a:off x="2103120" y="3282696"/>
            <a:ext cx="2011680" cy="548640"/>
          </a:xfrm>
          <a:prstGeom prst="rect">
            <a:avLst/>
          </a:prstGeom>
          <a:noFill/>
          <a:ln/>
        </p:spPr>
        <p:txBody>
          <a:bodyPr wrap="square" lIns="0" tIns="0" rIns="0" bIns="0" rtlCol="0" anchor="ctr"/>
          <a:lstStyle/>
          <a:p>
            <a:pPr marL="0" indent="0">
              <a:buNone/>
            </a:pPr>
            <a:r>
              <a:rPr lang="en-US" sz="1300" b="1" dirty="0">
                <a:solidFill>
                  <a:srgbClr val="222222"/>
                </a:solidFill>
                <a:latin typeface="Noto Sans JP" pitchFamily="34" charset="0"/>
                <a:ea typeface="Noto Sans JP" pitchFamily="34" charset="-122"/>
                <a:cs typeface="Noto Sans JP" pitchFamily="34" charset="-120"/>
              </a:rPr>
              <a:t>意思決定</a:t>
            </a:r>
            <a:endParaRPr lang="en-US" sz="1300" dirty="0"/>
          </a:p>
        </p:txBody>
      </p:sp>
      <p:sp>
        <p:nvSpPr>
          <p:cNvPr id="20" name="Text 18"/>
          <p:cNvSpPr/>
          <p:nvPr/>
        </p:nvSpPr>
        <p:spPr>
          <a:xfrm>
            <a:off x="4023360" y="3264408"/>
            <a:ext cx="4754880" cy="585216"/>
          </a:xfrm>
          <a:prstGeom prst="rect">
            <a:avLst/>
          </a:prstGeom>
          <a:noFill/>
          <a:ln/>
        </p:spPr>
        <p:txBody>
          <a:bodyPr wrap="square" lIns="0" tIns="0" rIns="0" bIns="0" rtlCol="0" anchor="ctr"/>
          <a:lstStyle/>
          <a:p>
            <a:pPr marL="0" indent="0">
              <a:lnSpc>
                <a:spcPct val="120000"/>
              </a:lnSpc>
              <a:buNone/>
            </a:pPr>
            <a:r>
              <a:rPr lang="en-US" sz="1000" dirty="0">
                <a:solidFill>
                  <a:srgbClr val="555A63"/>
                </a:solidFill>
                <a:latin typeface="Noto Sans JP" pitchFamily="34" charset="0"/>
                <a:ea typeface="Noto Sans JP" pitchFamily="34" charset="-122"/>
                <a:cs typeface="Noto Sans JP" pitchFamily="34" charset="-120"/>
              </a:rPr>
              <a:t>問い合わせ・予約前の確認 → 信頼を獲得しCV</a:t>
            </a:r>
            <a:endParaRPr lang="en-US" sz="1000" dirty="0"/>
          </a:p>
        </p:txBody>
      </p:sp>
      <p:sp>
        <p:nvSpPr>
          <p:cNvPr id="21" name="Text 19"/>
          <p:cNvSpPr/>
          <p:nvPr/>
        </p:nvSpPr>
        <p:spPr>
          <a:xfrm>
            <a:off x="8046720" y="3264408"/>
            <a:ext cx="3474720" cy="585216"/>
          </a:xfrm>
          <a:prstGeom prst="rect">
            <a:avLst/>
          </a:prstGeom>
          <a:noFill/>
          <a:ln/>
        </p:spPr>
        <p:txBody>
          <a:bodyPr wrap="square" lIns="0" tIns="0" rIns="0" bIns="0" rtlCol="0" anchor="ctr"/>
          <a:lstStyle/>
          <a:p>
            <a:pPr marL="0" indent="0">
              <a:buNone/>
            </a:pPr>
            <a:r>
              <a:rPr lang="en-US" sz="1050" b="1" dirty="0">
                <a:solidFill>
                  <a:srgbClr val="6A2FB8"/>
                </a:solidFill>
                <a:latin typeface="Noto Sans JP" pitchFamily="34" charset="0"/>
                <a:ea typeface="Noto Sans JP" pitchFamily="34" charset="-122"/>
                <a:cs typeface="Noto Sans JP" pitchFamily="34" charset="-120"/>
              </a:rPr>
              <a:t>KPI：信頼情報の充足 / 否定要因</a:t>
            </a:r>
            <a:endParaRPr lang="en-US" sz="1050" dirty="0"/>
          </a:p>
        </p:txBody>
      </p:sp>
      <p:sp>
        <p:nvSpPr>
          <p:cNvPr id="22" name="Shape 20"/>
          <p:cNvSpPr/>
          <p:nvPr/>
        </p:nvSpPr>
        <p:spPr>
          <a:xfrm>
            <a:off x="502920" y="4114800"/>
            <a:ext cx="11183112" cy="438912"/>
          </a:xfrm>
          <a:prstGeom prst="roundRect">
            <a:avLst>
              <a:gd name="adj" fmla="val 22917"/>
            </a:avLst>
          </a:prstGeom>
          <a:solidFill>
            <a:srgbClr val="4A1F87"/>
          </a:solidFill>
          <a:ln/>
        </p:spPr>
        <p:txBody>
          <a:bodyPr/>
          <a:lstStyle/>
          <a:p>
            <a:endParaRPr lang="ja-JP" altLang="en-US"/>
          </a:p>
        </p:txBody>
      </p:sp>
      <p:sp>
        <p:nvSpPr>
          <p:cNvPr id="23" name="Text 21"/>
          <p:cNvSpPr/>
          <p:nvPr/>
        </p:nvSpPr>
        <p:spPr>
          <a:xfrm>
            <a:off x="777240" y="4133088"/>
            <a:ext cx="10607040" cy="402336"/>
          </a:xfrm>
          <a:prstGeom prst="rect">
            <a:avLst/>
          </a:prstGeom>
          <a:noFill/>
          <a:ln/>
        </p:spPr>
        <p:txBody>
          <a:bodyPr wrap="square" lIns="0" tIns="0" rIns="0" bIns="0" rtlCol="0" anchor="ctr"/>
          <a:lstStyle/>
          <a:p>
            <a:pPr marL="0" indent="0">
              <a:buNone/>
            </a:pPr>
            <a:r>
              <a:rPr lang="en-US" sz="1100" b="1" dirty="0">
                <a:solidFill>
                  <a:srgbClr val="FFFFFF"/>
                </a:solidFill>
                <a:latin typeface="Noto Sans JP" pitchFamily="34" charset="0"/>
                <a:ea typeface="Noto Sans JP" pitchFamily="34" charset="-122"/>
                <a:cs typeface="Noto Sans JP" pitchFamily="34" charset="-120"/>
              </a:rPr>
              <a:t>最上位：事業成果（AI認知・AI検討関与・AI経由の問い合わせ/予約）</a:t>
            </a:r>
            <a:endParaRPr lang="en-US" sz="1100" dirty="0"/>
          </a:p>
        </p:txBody>
      </p:sp>
      <p:sp>
        <p:nvSpPr>
          <p:cNvPr id="24" name="Shape 22"/>
          <p:cNvSpPr/>
          <p:nvPr/>
        </p:nvSpPr>
        <p:spPr>
          <a:xfrm>
            <a:off x="502920" y="4617720"/>
            <a:ext cx="11183112" cy="438912"/>
          </a:xfrm>
          <a:prstGeom prst="roundRect">
            <a:avLst>
              <a:gd name="adj" fmla="val 22917"/>
            </a:avLst>
          </a:prstGeom>
          <a:solidFill>
            <a:srgbClr val="F0E6FC"/>
          </a:solidFill>
          <a:ln/>
        </p:spPr>
        <p:txBody>
          <a:bodyPr/>
          <a:lstStyle/>
          <a:p>
            <a:endParaRPr lang="ja-JP" altLang="en-US"/>
          </a:p>
        </p:txBody>
      </p:sp>
      <p:sp>
        <p:nvSpPr>
          <p:cNvPr id="25" name="Text 23"/>
          <p:cNvSpPr/>
          <p:nvPr/>
        </p:nvSpPr>
        <p:spPr>
          <a:xfrm>
            <a:off x="777240" y="4636008"/>
            <a:ext cx="10607040" cy="402336"/>
          </a:xfrm>
          <a:prstGeom prst="rect">
            <a:avLst/>
          </a:prstGeom>
          <a:noFill/>
          <a:ln/>
        </p:spPr>
        <p:txBody>
          <a:bodyPr wrap="square" lIns="0" tIns="0" rIns="0" bIns="0" rtlCol="0" anchor="ctr"/>
          <a:lstStyle/>
          <a:p>
            <a:pPr marL="0" indent="0">
              <a:buNone/>
            </a:pPr>
            <a:r>
              <a:rPr lang="en-US" sz="1100" b="1" dirty="0">
                <a:solidFill>
                  <a:srgbClr val="8541DC"/>
                </a:solidFill>
                <a:latin typeface="Noto Sans JP" pitchFamily="34" charset="0"/>
                <a:ea typeface="Noto Sans JP" pitchFamily="34" charset="-122"/>
                <a:cs typeface="Noto Sans JP" pitchFamily="34" charset="-120"/>
              </a:rPr>
              <a:t>中間：AI上の成果（メンション率 / 推奨率 / 比較勝率 / AI上シェア）</a:t>
            </a:r>
            <a:endParaRPr lang="en-US" sz="1100" dirty="0"/>
          </a:p>
        </p:txBody>
      </p:sp>
      <p:sp>
        <p:nvSpPr>
          <p:cNvPr id="26" name="Shape 24"/>
          <p:cNvSpPr/>
          <p:nvPr/>
        </p:nvSpPr>
        <p:spPr>
          <a:xfrm>
            <a:off x="502920" y="5120640"/>
            <a:ext cx="11183112" cy="438912"/>
          </a:xfrm>
          <a:prstGeom prst="roundRect">
            <a:avLst>
              <a:gd name="adj" fmla="val 22917"/>
            </a:avLst>
          </a:prstGeom>
          <a:solidFill>
            <a:srgbClr val="F5F5F7"/>
          </a:solidFill>
          <a:ln/>
        </p:spPr>
        <p:txBody>
          <a:bodyPr/>
          <a:lstStyle/>
          <a:p>
            <a:endParaRPr lang="ja-JP" altLang="en-US"/>
          </a:p>
        </p:txBody>
      </p:sp>
      <p:sp>
        <p:nvSpPr>
          <p:cNvPr id="27" name="Text 25"/>
          <p:cNvSpPr/>
          <p:nvPr/>
        </p:nvSpPr>
        <p:spPr>
          <a:xfrm>
            <a:off x="777240" y="5138928"/>
            <a:ext cx="10607040" cy="402336"/>
          </a:xfrm>
          <a:prstGeom prst="rect">
            <a:avLst/>
          </a:prstGeom>
          <a:noFill/>
          <a:ln/>
        </p:spPr>
        <p:txBody>
          <a:bodyPr wrap="square" lIns="0" tIns="0" rIns="0" bIns="0" rtlCol="0" anchor="ctr"/>
          <a:lstStyle/>
          <a:p>
            <a:pPr marL="0" indent="0">
              <a:buNone/>
            </a:pPr>
            <a:r>
              <a:rPr lang="en-US" sz="1100" b="1" dirty="0">
                <a:solidFill>
                  <a:srgbClr val="222222"/>
                </a:solidFill>
                <a:latin typeface="Noto Sans JP" pitchFamily="34" charset="0"/>
                <a:ea typeface="Noto Sans JP" pitchFamily="34" charset="-122"/>
                <a:cs typeface="Noto Sans JP" pitchFamily="34" charset="-120"/>
              </a:rPr>
              <a:t>基盤：Webプレゼンス（第三者言及 / 比較掲載 / レビュー / 参照ドメイン）</a:t>
            </a:r>
            <a:endParaRPr lang="en-US" sz="1100" dirty="0"/>
          </a:p>
        </p:txBody>
      </p:sp>
      <p:sp>
        <p:nvSpPr>
          <p:cNvPr id="28" name="Text 26"/>
          <p:cNvSpPr/>
          <p:nvPr/>
        </p:nvSpPr>
        <p:spPr>
          <a:xfrm>
            <a:off x="502920" y="5806440"/>
            <a:ext cx="11183112" cy="365760"/>
          </a:xfrm>
          <a:prstGeom prst="rect">
            <a:avLst/>
          </a:prstGeom>
          <a:noFill/>
          <a:ln/>
        </p:spPr>
        <p:txBody>
          <a:bodyPr wrap="square" lIns="0" tIns="0" rIns="0" bIns="0" rtlCol="0" anchor="ctr"/>
          <a:lstStyle/>
          <a:p>
            <a:pPr marL="0" indent="0" algn="ctr">
              <a:buNone/>
            </a:pPr>
            <a:r>
              <a:rPr lang="en-US" sz="1200" b="1" dirty="0">
                <a:solidFill>
                  <a:srgbClr val="F57527"/>
                </a:solidFill>
                <a:latin typeface="Noto Sans JP" pitchFamily="34" charset="0"/>
                <a:ea typeface="Noto Sans JP" pitchFamily="34" charset="-122"/>
                <a:cs typeface="Noto Sans JP" pitchFamily="34" charset="-120"/>
              </a:rPr>
              <a:t>“順位・クリック”から“AI上の言及・推薦”へ。測る指標を変える。</a:t>
            </a:r>
            <a:endParaRPr lang="en-US" sz="1200" dirty="0"/>
          </a:p>
        </p:txBody>
      </p:sp>
      <p:sp>
        <p:nvSpPr>
          <p:cNvPr id="29" name="Text 2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0" name="Text 28"/>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02</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調査の前提</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どのプロンプトで・どう読むか。</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SCOPE — 計測対象</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観光・インバウンド事業者向けファネル別・主要プロンプトで計測</a:t>
            </a:r>
            <a:endParaRPr lang="en-US" sz="2500" dirty="0"/>
          </a:p>
        </p:txBody>
      </p:sp>
      <p:sp>
        <p:nvSpPr>
          <p:cNvPr id="4" name="Text 2"/>
          <p:cNvSpPr/>
          <p:nvPr/>
        </p:nvSpPr>
        <p:spPr>
          <a:xfrm>
            <a:off x="502920" y="1234440"/>
            <a:ext cx="11155680" cy="365760"/>
          </a:xfrm>
          <a:prstGeom prst="rect">
            <a:avLst/>
          </a:prstGeom>
          <a:noFill/>
          <a:ln/>
        </p:spPr>
        <p:txBody>
          <a:bodyPr wrap="square" lIns="0" tIns="0" rIns="0" bIns="0" rtlCol="0" anchor="ctr"/>
          <a:lstStyle/>
          <a:p>
            <a:pPr marL="0" indent="0">
              <a:buNone/>
            </a:pPr>
            <a:r>
              <a:rPr lang="en-US" sz="1100" dirty="0">
                <a:solidFill>
                  <a:srgbClr val="555A63"/>
                </a:solidFill>
                <a:latin typeface="Noto Sans JP" pitchFamily="34" charset="0"/>
                <a:ea typeface="Noto Sans JP" pitchFamily="34" charset="-122"/>
                <a:cs typeface="Noto Sans JP" pitchFamily="34" charset="-120"/>
              </a:rPr>
              <a:t>各主要プロンプトは、3エンジン（ChatGPT / Gemini / AI Overviews）で観測。★＝最重要インテント。</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3455011457"/>
              </p:ext>
            </p:extLst>
          </p:nvPr>
        </p:nvGraphicFramePr>
        <p:xfrm>
          <a:off x="487680" y="1600200"/>
          <a:ext cx="11155680" cy="5128260"/>
        </p:xfrm>
        <a:graphic>
          <a:graphicData uri="http://schemas.openxmlformats.org/drawingml/2006/table">
            <a:tbl>
              <a:tblPr/>
              <a:tblGrid>
                <a:gridCol w="1641883">
                  <a:extLst>
                    <a:ext uri="{9D8B030D-6E8A-4147-A177-3AD203B41FA5}">
                      <a16:colId xmlns:a16="http://schemas.microsoft.com/office/drawing/2014/main" val="20000"/>
                    </a:ext>
                  </a:extLst>
                </a:gridCol>
                <a:gridCol w="9513797">
                  <a:extLst>
                    <a:ext uri="{9D8B030D-6E8A-4147-A177-3AD203B41FA5}">
                      <a16:colId xmlns:a16="http://schemas.microsoft.com/office/drawing/2014/main" val="20001"/>
                    </a:ext>
                  </a:extLst>
                </a:gridCol>
              </a:tblGrid>
              <a:tr h="221415">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ファネル</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主要プロンプト（インテント）</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情報収集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インバウンド集客を支援してくれる会社を探しています</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情報収集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観光DXを推進したいのですが支援してくれる会社を教えてください</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情報収集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インバウンド向けの多言語観光コンテンツを作りたいのですが</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情報収集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地域の観光DXを進めるためにどんな会社に相談すればいいですか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ブランド想起★</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Onwordsはどんな会社ですか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5"/>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MATCHAとOnwordsはどちらがいいですか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ブランド想起★</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Onwordsとライフペッパーはどちらがいいですか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7"/>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ブランド想起★</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Onwordsとどんな会社が競合ですか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インバウンドマーケティング支援会社でおすすめはどこですか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9"/>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訪日外国人向けの観光コンテンツ制作会社を教えてください</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地方自治体の観光DX支援をしている会社は？</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11"/>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多言語化対応のインバウンド支援会社を比較したい</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インバウンド集客に強いデジタルマーケティング会社は</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13"/>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観光DXの導入事例がある会社を教えてください</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訪日旅行者向けの予約管理システムでおすすめは？</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15"/>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インバウンド向けSNSマーケティングを支援している会社は</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地域観光のデジタルコンテンツ制作ができる会社は</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17"/>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インバウンド対応の地域DMO支援会社を教えてください</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意思決定</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Onwordsに依頼するとどんなことができますか</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19"/>
                  </a:ext>
                </a:extLst>
              </a:tr>
              <a:tr h="214705">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意思決定</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Onwordsの料金・費用感を教えてください</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20"/>
                  </a:ext>
                </a:extLst>
              </a:tr>
            </a:tbl>
          </a:graphicData>
        </a:graphic>
      </p:graphicFrame>
      <p:sp>
        <p:nvSpPr>
          <p:cNvPr id="6" name="Text 3"/>
          <p:cNvSpPr/>
          <p:nvPr/>
        </p:nvSpPr>
        <p:spPr>
          <a:xfrm>
            <a:off x="487680" y="1031748"/>
            <a:ext cx="11155680" cy="365760"/>
          </a:xfrm>
          <a:prstGeom prst="rect">
            <a:avLst/>
          </a:prstGeom>
          <a:noFill/>
          <a:ln/>
        </p:spPr>
        <p:txBody>
          <a:bodyPr wrap="square" lIns="0" tIns="0" rIns="0" bIns="0" rtlCol="0" anchor="ctr"/>
          <a:lstStyle/>
          <a:p>
            <a:pPr marL="0" indent="0">
              <a:buNone/>
            </a:pPr>
            <a:r>
              <a:rPr lang="en-US" sz="950" dirty="0">
                <a:solidFill>
                  <a:srgbClr val="8A8F98"/>
                </a:solidFill>
                <a:latin typeface="Noto Sans JP" pitchFamily="34" charset="0"/>
                <a:ea typeface="Noto Sans JP" pitchFamily="34" charset="-122"/>
                <a:cs typeface="Noto Sans JP" pitchFamily="34" charset="-120"/>
              </a:rPr>
              <a:t>競合セット：MATCHA（インバウンドメディア）／ライフペッパー（インバウンドマーケティング支援）／JTB BÓKUN（予約管理SaaS）／WOVN（多言語化SaaS）</a:t>
            </a:r>
            <a:endParaRPr lang="en-US" sz="950" dirty="0"/>
          </a:p>
        </p:txBody>
      </p:sp>
      <p:sp>
        <p:nvSpPr>
          <p:cNvPr id="8" name="Text 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03</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現状分析</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AIランキングでの登場状況と、その原因。</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KEY FINDINGS — わかった事実</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本分析で判明した3つの事実</a:t>
            </a:r>
            <a:endParaRPr lang="en-US" sz="2500" dirty="0"/>
          </a:p>
        </p:txBody>
      </p:sp>
      <p:sp>
        <p:nvSpPr>
          <p:cNvPr id="4" name="Shape 2"/>
          <p:cNvSpPr/>
          <p:nvPr/>
        </p:nvSpPr>
        <p:spPr>
          <a:xfrm>
            <a:off x="502920" y="1691640"/>
            <a:ext cx="3547872" cy="4160520"/>
          </a:xfrm>
          <a:prstGeom prst="roundRect">
            <a:avLst>
              <a:gd name="adj" fmla="val 2835"/>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691640"/>
            <a:ext cx="3547872" cy="82296"/>
          </a:xfrm>
          <a:prstGeom prst="roundRect">
            <a:avLst>
              <a:gd name="adj" fmla="val 44444"/>
            </a:avLst>
          </a:prstGeom>
          <a:solidFill>
            <a:srgbClr val="F57527"/>
          </a:solidFill>
          <a:ln/>
        </p:spPr>
        <p:txBody>
          <a:bodyPr/>
          <a:lstStyle/>
          <a:p>
            <a:endParaRPr lang="ja-JP" altLang="en-US"/>
          </a:p>
        </p:txBody>
      </p:sp>
      <p:sp>
        <p:nvSpPr>
          <p:cNvPr id="6" name="Text 4"/>
          <p:cNvSpPr/>
          <p:nvPr/>
        </p:nvSpPr>
        <p:spPr>
          <a:xfrm>
            <a:off x="758952" y="1874520"/>
            <a:ext cx="3017520" cy="292608"/>
          </a:xfrm>
          <a:prstGeom prst="rect">
            <a:avLst/>
          </a:prstGeom>
          <a:noFill/>
          <a:ln/>
        </p:spPr>
        <p:txBody>
          <a:bodyPr wrap="square" lIns="0" tIns="0" rIns="0" bIns="0" rtlCol="0" anchor="ctr"/>
          <a:lstStyle/>
          <a:p>
            <a:pPr marL="0" indent="0">
              <a:buNone/>
            </a:pPr>
            <a:r>
              <a:rPr lang="en-US" sz="1000" b="1" kern="0" spc="100" dirty="0">
                <a:solidFill>
                  <a:srgbClr val="F57527"/>
                </a:solidFill>
                <a:latin typeface="Noto Sans JP" pitchFamily="34" charset="0"/>
                <a:ea typeface="Noto Sans JP" pitchFamily="34" charset="-122"/>
                <a:cs typeface="Noto Sans JP" pitchFamily="34" charset="-120"/>
              </a:rPr>
              <a:t>FACT 01</a:t>
            </a:r>
            <a:endParaRPr lang="en-US" sz="1000" dirty="0"/>
          </a:p>
        </p:txBody>
      </p:sp>
      <p:sp>
        <p:nvSpPr>
          <p:cNvPr id="7" name="Text 5"/>
          <p:cNvSpPr/>
          <p:nvPr/>
        </p:nvSpPr>
        <p:spPr>
          <a:xfrm>
            <a:off x="758952" y="2148840"/>
            <a:ext cx="3063240" cy="731520"/>
          </a:xfrm>
          <a:prstGeom prst="rect">
            <a:avLst/>
          </a:prstGeom>
          <a:noFill/>
          <a:ln/>
        </p:spPr>
        <p:txBody>
          <a:bodyPr wrap="square" lIns="0" tIns="0" rIns="0" bIns="0" rtlCol="0" anchor="ctr"/>
          <a:lstStyle/>
          <a:p>
            <a:pPr marL="0" indent="0">
              <a:buNone/>
            </a:pPr>
            <a:r>
              <a:rPr lang="en-US" sz="4000" b="1" dirty="0">
                <a:solidFill>
                  <a:srgbClr val="F57527"/>
                </a:solidFill>
                <a:latin typeface="Noto Sans JP" pitchFamily="34" charset="0"/>
                <a:ea typeface="Noto Sans JP" pitchFamily="34" charset="-122"/>
                <a:cs typeface="Noto Sans JP" pitchFamily="34" charset="-120"/>
              </a:rPr>
              <a:t>0%</a:t>
            </a:r>
            <a:endParaRPr lang="en-US" sz="4000" dirty="0"/>
          </a:p>
        </p:txBody>
      </p:sp>
      <p:sp>
        <p:nvSpPr>
          <p:cNvPr id="8" name="Text 6"/>
          <p:cNvSpPr/>
          <p:nvPr/>
        </p:nvSpPr>
        <p:spPr>
          <a:xfrm>
            <a:off x="758952" y="2971800"/>
            <a:ext cx="3063240" cy="86868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全60観測で登場ゼロ—完全不在</a:t>
            </a:r>
            <a:endParaRPr lang="en-US" sz="1250" dirty="0"/>
          </a:p>
        </p:txBody>
      </p:sp>
      <p:sp>
        <p:nvSpPr>
          <p:cNvPr id="9" name="Text 7"/>
          <p:cNvSpPr/>
          <p:nvPr/>
        </p:nvSpPr>
        <p:spPr>
          <a:xfrm>
            <a:off x="758952" y="3886200"/>
            <a:ext cx="3063240" cy="182880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20プロンプト×3エンジン（ChatGPT/Gemini/AI Overviews）の全60観測で「自社の扱い＝言及なし」。情報収集・ブランド想起・比較検討のあらゆるフェーズでAIに選ばれていない。</a:t>
            </a:r>
            <a:endParaRPr lang="en-US" sz="980" dirty="0"/>
          </a:p>
        </p:txBody>
      </p:sp>
      <p:sp>
        <p:nvSpPr>
          <p:cNvPr id="10" name="Shape 8"/>
          <p:cNvSpPr/>
          <p:nvPr/>
        </p:nvSpPr>
        <p:spPr>
          <a:xfrm>
            <a:off x="4270248" y="1691640"/>
            <a:ext cx="3547872" cy="4160520"/>
          </a:xfrm>
          <a:prstGeom prst="roundRect">
            <a:avLst>
              <a:gd name="adj" fmla="val 2835"/>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1" name="Shape 9"/>
          <p:cNvSpPr/>
          <p:nvPr/>
        </p:nvSpPr>
        <p:spPr>
          <a:xfrm>
            <a:off x="4270248" y="1691640"/>
            <a:ext cx="3547872" cy="82296"/>
          </a:xfrm>
          <a:prstGeom prst="roundRect">
            <a:avLst>
              <a:gd name="adj" fmla="val 44444"/>
            </a:avLst>
          </a:prstGeom>
          <a:solidFill>
            <a:srgbClr val="F57527"/>
          </a:solidFill>
          <a:ln/>
        </p:spPr>
        <p:txBody>
          <a:bodyPr/>
          <a:lstStyle/>
          <a:p>
            <a:endParaRPr lang="ja-JP" altLang="en-US"/>
          </a:p>
        </p:txBody>
      </p:sp>
      <p:sp>
        <p:nvSpPr>
          <p:cNvPr id="12" name="Text 10"/>
          <p:cNvSpPr/>
          <p:nvPr/>
        </p:nvSpPr>
        <p:spPr>
          <a:xfrm>
            <a:off x="4526280" y="1874520"/>
            <a:ext cx="3017520" cy="292608"/>
          </a:xfrm>
          <a:prstGeom prst="rect">
            <a:avLst/>
          </a:prstGeom>
          <a:noFill/>
          <a:ln/>
        </p:spPr>
        <p:txBody>
          <a:bodyPr wrap="square" lIns="0" tIns="0" rIns="0" bIns="0" rtlCol="0" anchor="ctr"/>
          <a:lstStyle/>
          <a:p>
            <a:pPr marL="0" indent="0">
              <a:buNone/>
            </a:pPr>
            <a:r>
              <a:rPr lang="en-US" sz="1000" b="1" kern="0" spc="100" dirty="0">
                <a:solidFill>
                  <a:srgbClr val="F57527"/>
                </a:solidFill>
                <a:latin typeface="Noto Sans JP" pitchFamily="34" charset="0"/>
                <a:ea typeface="Noto Sans JP" pitchFamily="34" charset="-122"/>
                <a:cs typeface="Noto Sans JP" pitchFamily="34" charset="-120"/>
              </a:rPr>
              <a:t>FACT 02</a:t>
            </a:r>
            <a:endParaRPr lang="en-US" sz="1000" dirty="0"/>
          </a:p>
        </p:txBody>
      </p:sp>
      <p:sp>
        <p:nvSpPr>
          <p:cNvPr id="13" name="Text 11"/>
          <p:cNvSpPr/>
          <p:nvPr/>
        </p:nvSpPr>
        <p:spPr>
          <a:xfrm>
            <a:off x="4526280" y="2148840"/>
            <a:ext cx="3063240" cy="731520"/>
          </a:xfrm>
          <a:prstGeom prst="rect">
            <a:avLst/>
          </a:prstGeom>
          <a:noFill/>
          <a:ln/>
        </p:spPr>
        <p:txBody>
          <a:bodyPr wrap="square" lIns="0" tIns="0" rIns="0" bIns="0" rtlCol="0" anchor="ctr"/>
          <a:lstStyle/>
          <a:p>
            <a:pPr marL="0" indent="0">
              <a:buNone/>
            </a:pPr>
            <a:r>
              <a:rPr lang="en-US" sz="4000" b="1" dirty="0">
                <a:solidFill>
                  <a:srgbClr val="F57527"/>
                </a:solidFill>
                <a:latin typeface="Noto Sans JP" pitchFamily="34" charset="0"/>
                <a:ea typeface="Noto Sans JP" pitchFamily="34" charset="-122"/>
                <a:cs typeface="Noto Sans JP" pitchFamily="34" charset="-120"/>
              </a:rPr>
              <a:t>誤認</a:t>
            </a:r>
            <a:endParaRPr lang="en-US" sz="4000" dirty="0"/>
          </a:p>
        </p:txBody>
      </p:sp>
      <p:sp>
        <p:nvSpPr>
          <p:cNvPr id="14" name="Text 12"/>
          <p:cNvSpPr/>
          <p:nvPr/>
        </p:nvSpPr>
        <p:spPr>
          <a:xfrm>
            <a:off x="4526280" y="2971800"/>
            <a:ext cx="3063240" cy="86868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ブランド名の混同—英会話・衣料と混同</a:t>
            </a:r>
            <a:endParaRPr lang="en-US" sz="1250" dirty="0"/>
          </a:p>
        </p:txBody>
      </p:sp>
      <p:sp>
        <p:nvSpPr>
          <p:cNvPr id="15" name="Text 13"/>
          <p:cNvSpPr/>
          <p:nvPr/>
        </p:nvSpPr>
        <p:spPr>
          <a:xfrm>
            <a:off x="4526280" y="3886200"/>
            <a:ext cx="3063240" cy="182880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「Onwords」で検索すると英会話スクール（ワンズワード英会話）や衣料品（オンワード樫山）が返される。AIエンジンが自社を正しいエンティティとして認識できていない状態。</a:t>
            </a:r>
            <a:endParaRPr lang="en-US" sz="980" dirty="0"/>
          </a:p>
        </p:txBody>
      </p:sp>
      <p:sp>
        <p:nvSpPr>
          <p:cNvPr id="16" name="Shape 14"/>
          <p:cNvSpPr/>
          <p:nvPr/>
        </p:nvSpPr>
        <p:spPr>
          <a:xfrm>
            <a:off x="8037576" y="1691640"/>
            <a:ext cx="3547872" cy="4160520"/>
          </a:xfrm>
          <a:prstGeom prst="roundRect">
            <a:avLst>
              <a:gd name="adj" fmla="val 2835"/>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7" name="Shape 15"/>
          <p:cNvSpPr/>
          <p:nvPr/>
        </p:nvSpPr>
        <p:spPr>
          <a:xfrm>
            <a:off x="8037576" y="1691640"/>
            <a:ext cx="3547872" cy="82296"/>
          </a:xfrm>
          <a:prstGeom prst="roundRect">
            <a:avLst>
              <a:gd name="adj" fmla="val 44444"/>
            </a:avLst>
          </a:prstGeom>
          <a:solidFill>
            <a:srgbClr val="6A2FB8"/>
          </a:solidFill>
          <a:ln/>
        </p:spPr>
        <p:txBody>
          <a:bodyPr/>
          <a:lstStyle/>
          <a:p>
            <a:endParaRPr lang="ja-JP" altLang="en-US"/>
          </a:p>
        </p:txBody>
      </p:sp>
      <p:sp>
        <p:nvSpPr>
          <p:cNvPr id="18" name="Text 16"/>
          <p:cNvSpPr/>
          <p:nvPr/>
        </p:nvSpPr>
        <p:spPr>
          <a:xfrm>
            <a:off x="8293608" y="1874520"/>
            <a:ext cx="3017520" cy="292608"/>
          </a:xfrm>
          <a:prstGeom prst="rect">
            <a:avLst/>
          </a:prstGeom>
          <a:noFill/>
          <a:ln/>
        </p:spPr>
        <p:txBody>
          <a:bodyPr wrap="square" lIns="0" tIns="0" rIns="0" bIns="0" rtlCol="0" anchor="ctr"/>
          <a:lstStyle/>
          <a:p>
            <a:pPr marL="0" indent="0">
              <a:buNone/>
            </a:pPr>
            <a:r>
              <a:rPr lang="en-US" sz="1000" b="1" kern="0" spc="100" dirty="0">
                <a:solidFill>
                  <a:srgbClr val="6A2FB8"/>
                </a:solidFill>
                <a:latin typeface="Noto Sans JP" pitchFamily="34" charset="0"/>
                <a:ea typeface="Noto Sans JP" pitchFamily="34" charset="-122"/>
                <a:cs typeface="Noto Sans JP" pitchFamily="34" charset="-120"/>
              </a:rPr>
              <a:t>FACT 03</a:t>
            </a:r>
            <a:endParaRPr lang="en-US" sz="1000" dirty="0"/>
          </a:p>
        </p:txBody>
      </p:sp>
      <p:sp>
        <p:nvSpPr>
          <p:cNvPr id="19" name="Text 17"/>
          <p:cNvSpPr/>
          <p:nvPr/>
        </p:nvSpPr>
        <p:spPr>
          <a:xfrm>
            <a:off x="8293608" y="2148840"/>
            <a:ext cx="3063240" cy="731520"/>
          </a:xfrm>
          <a:prstGeom prst="rect">
            <a:avLst/>
          </a:prstGeom>
          <a:noFill/>
          <a:ln/>
        </p:spPr>
        <p:txBody>
          <a:bodyPr wrap="square" lIns="0" tIns="0" rIns="0" bIns="0" rtlCol="0" anchor="ctr"/>
          <a:lstStyle/>
          <a:p>
            <a:pPr marL="0" indent="0">
              <a:buNone/>
            </a:pPr>
            <a:r>
              <a:rPr lang="en-US" sz="4000" b="1" dirty="0">
                <a:solidFill>
                  <a:srgbClr val="6A2FB8"/>
                </a:solidFill>
                <a:latin typeface="Noto Sans JP" pitchFamily="34" charset="0"/>
                <a:ea typeface="Noto Sans JP" pitchFamily="34" charset="-122"/>
                <a:cs typeface="Noto Sans JP" pitchFamily="34" charset="-120"/>
              </a:rPr>
              <a:t>9件</a:t>
            </a:r>
            <a:endParaRPr lang="en-US" sz="4000" dirty="0"/>
          </a:p>
        </p:txBody>
      </p:sp>
      <p:sp>
        <p:nvSpPr>
          <p:cNvPr id="20" name="Text 18"/>
          <p:cNvSpPr/>
          <p:nvPr/>
        </p:nvSpPr>
        <p:spPr>
          <a:xfrm>
            <a:off x="8293608" y="2971800"/>
            <a:ext cx="3063240" cy="868680"/>
          </a:xfrm>
          <a:prstGeom prst="rect">
            <a:avLst/>
          </a:prstGeom>
          <a:noFill/>
          <a:ln/>
        </p:spPr>
        <p:txBody>
          <a:bodyPr wrap="square" lIns="0" tIns="0" rIns="0" bIns="0" rtlCol="0" anchor="ctr"/>
          <a:lstStyle/>
          <a:p>
            <a:pPr marL="0" indent="0">
              <a:lnSpc>
                <a:spcPct val="120000"/>
              </a:lnSpc>
              <a:buNone/>
            </a:pPr>
            <a:r>
              <a:rPr lang="en-US" sz="1250" b="1" dirty="0">
                <a:solidFill>
                  <a:srgbClr val="222222"/>
                </a:solidFill>
                <a:latin typeface="Noto Sans JP" pitchFamily="34" charset="0"/>
                <a:ea typeface="Noto Sans JP" pitchFamily="34" charset="-122"/>
                <a:cs typeface="Noto Sans JP" pitchFamily="34" charset="-120"/>
              </a:rPr>
              <a:t>ステージング環境がAIに引用されている</a:t>
            </a:r>
            <a:endParaRPr lang="en-US" sz="1250" dirty="0"/>
          </a:p>
        </p:txBody>
      </p:sp>
      <p:sp>
        <p:nvSpPr>
          <p:cNvPr id="21" name="Text 19"/>
          <p:cNvSpPr/>
          <p:nvPr/>
        </p:nvSpPr>
        <p:spPr>
          <a:xfrm>
            <a:off x="8293608" y="3886200"/>
            <a:ext cx="3063240" cy="1828800"/>
          </a:xfrm>
          <a:prstGeom prst="rect">
            <a:avLst/>
          </a:prstGeom>
          <a:noFill/>
          <a:ln/>
        </p:spPr>
        <p:txBody>
          <a:bodyPr wrap="square" lIns="0" tIns="0" rIns="0" bIns="0" rtlCol="0" anchor="ctr"/>
          <a:lstStyle/>
          <a:p>
            <a:pPr marL="0" indent="0">
              <a:lnSpc>
                <a:spcPct val="130000"/>
              </a:lnSpc>
              <a:buNone/>
            </a:pPr>
            <a:r>
              <a:rPr lang="en-US" sz="980" dirty="0">
                <a:solidFill>
                  <a:srgbClr val="555A63"/>
                </a:solidFill>
                <a:latin typeface="Noto Sans JP" pitchFamily="34" charset="0"/>
                <a:ea typeface="Noto Sans JP" pitchFamily="34" charset="-122"/>
                <a:cs typeface="Noto Sans JP" pitchFamily="34" charset="-120"/>
              </a:rPr>
              <a:t>stg.onwords.co.jpが9件引用。noindex未設定のステージングドメインをAIが本番と混同して引用するリスクがある。即時対応が必要。</a:t>
            </a:r>
            <a:endParaRPr lang="en-US" sz="980" dirty="0"/>
          </a:p>
        </p:txBody>
      </p:sp>
      <p:sp>
        <p:nvSpPr>
          <p:cNvPr id="22" name="Text 20"/>
          <p:cNvSpPr/>
          <p:nvPr/>
        </p:nvSpPr>
        <p:spPr>
          <a:xfrm>
            <a:off x="502920" y="5989320"/>
            <a:ext cx="1115568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観測（Dify・全60観測/領域）</a:t>
            </a:r>
            <a:endParaRPr lang="en-US" sz="900" dirty="0"/>
          </a:p>
        </p:txBody>
      </p:sp>
      <p:sp>
        <p:nvSpPr>
          <p:cNvPr id="23" name="Text 2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4" name="Text 2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現状分析① — 登場頻度</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Onwords：ファネル別・エンジン別の登場率</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0149840" cy="3017520"/>
        </p:xfrm>
        <a:graphic>
          <a:graphicData uri="http://schemas.openxmlformats.org/drawingml/2006/table">
            <a:tbl>
              <a:tblPr/>
              <a:tblGrid>
                <a:gridCol w="41148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02920">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プロンプト（ファネル）</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ChatGPT</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Gemini</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 Overviews</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合計</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情報収集：カテゴリ検索（Q1-4）</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ブランド想起：自社名直接（Q5,7-9）★</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比較検討：競合・カテゴリ（Q6,10-18）</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意思決定：Onwords直接（Q19-20）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全体（60観測）</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4114800"/>
            <a:ext cx="11183112" cy="1783080"/>
          </a:xfrm>
          <a:prstGeom prst="roundRect">
            <a:avLst>
              <a:gd name="adj" fmla="val 5641"/>
            </a:avLst>
          </a:prstGeom>
          <a:solidFill>
            <a:srgbClr val="F5F5F7"/>
          </a:solidFill>
          <a:ln/>
        </p:spPr>
        <p:txBody>
          <a:bodyPr/>
          <a:lstStyle/>
          <a:p>
            <a:endParaRPr lang="ja-JP" altLang="en-US"/>
          </a:p>
        </p:txBody>
      </p:sp>
      <p:sp>
        <p:nvSpPr>
          <p:cNvPr id="6" name="Text 3"/>
          <p:cNvSpPr/>
          <p:nvPr/>
        </p:nvSpPr>
        <p:spPr>
          <a:xfrm>
            <a:off x="777240" y="4279392"/>
            <a:ext cx="365760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読み取り</a:t>
            </a:r>
            <a:endParaRPr lang="en-US" sz="1250" dirty="0"/>
          </a:p>
        </p:txBody>
      </p:sp>
      <p:sp>
        <p:nvSpPr>
          <p:cNvPr id="7" name="Text 4"/>
          <p:cNvSpPr/>
          <p:nvPr/>
        </p:nvSpPr>
        <p:spPr>
          <a:xfrm>
            <a:off x="777240" y="4617720"/>
            <a:ext cx="10607040" cy="11887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全ファネル・全エンジンで登場率0%。製品情報がAIに届いていない「完全不在」の状態。</a:t>
            </a:r>
            <a:endParaRPr lang="en-US" sz="1080" dirty="0"/>
          </a:p>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意思決定（Onwords直接質問）でも0%。ブランド名自体がAIに正しく認識されていないことが主因。</a:t>
            </a:r>
            <a:endParaRPr lang="en-US" sz="1080" dirty="0"/>
          </a:p>
          <a:p>
            <a:pPr marL="152400" indent="-152400">
              <a:lnSpc>
                <a:spcPct val="128000"/>
              </a:lnSpc>
              <a:spcAft>
                <a:spcPts val="700"/>
              </a:spcAft>
              <a:buSzPct val="100000"/>
              <a:buChar char="•"/>
            </a:pPr>
            <a:r>
              <a:rPr lang="en-US" sz="1080" dirty="0">
                <a:solidFill>
                  <a:srgbClr val="222222"/>
                </a:solidFill>
                <a:latin typeface="Noto Sans JP" pitchFamily="34" charset="0"/>
                <a:ea typeface="Noto Sans JP" pitchFamily="34" charset="-122"/>
                <a:cs typeface="Noto Sans JP" pitchFamily="34" charset="-120"/>
              </a:rPr>
              <a:t>最優先課題はエンティティ確立。「Onwords＝インバウンド×観光DX支援会社」とAIに認識させることが出発点。</a:t>
            </a:r>
            <a:endParaRPr lang="en-US" sz="1080" dirty="0"/>
          </a:p>
        </p:txBody>
      </p:sp>
      <p:sp>
        <p:nvSpPr>
          <p:cNvPr id="8" name="Text 5"/>
          <p:cNvSpPr/>
          <p:nvPr/>
        </p:nvSpPr>
        <p:spPr>
          <a:xfrm>
            <a:off x="502920" y="5989320"/>
            <a:ext cx="1097280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観測（EmmaTools）／※Onwords＝自社</a:t>
            </a:r>
            <a:endParaRPr lang="en-US" sz="90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 — 競合とAIが語る強み(KBF)</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AIが“選ばれる理由”として語る軸</a:t>
            </a:r>
            <a:endParaRPr lang="en-US" sz="2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548872" cy="3291840"/>
        </p:xfrm>
        <a:graphic>
          <a:graphicData uri="http://schemas.openxmlformats.org/drawingml/2006/table">
            <a:tbl>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7891272">
                  <a:extLst>
                    <a:ext uri="{9D8B030D-6E8A-4147-A177-3AD203B41FA5}">
                      <a16:colId xmlns:a16="http://schemas.microsoft.com/office/drawing/2014/main" val="20002"/>
                    </a:ext>
                  </a:extLst>
                </a:gridCol>
              </a:tblGrid>
              <a:tr h="658368">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競合</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傾向</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AIが言及する強み（KBF）</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658368">
                <a:tc>
                  <a:txBody>
                    <a:bodyPr/>
                    <a:lstStyle/>
                    <a:p>
                      <a:pPr marL="0" indent="0" algn="l">
                        <a:buNone/>
                      </a:pPr>
                      <a:r>
                        <a:rPr lang="en-US" sz="1100" b="1" dirty="0">
                          <a:solidFill>
                            <a:srgbClr val="8541DC"/>
                          </a:solidFill>
                          <a:latin typeface="Noto Sans JP" pitchFamily="34" charset="0"/>
                          <a:ea typeface="Noto Sans JP" pitchFamily="34" charset="-122"/>
                          <a:cs typeface="Noto Sans JP" pitchFamily="34" charset="-120"/>
                        </a:rPr>
                        <a:t>Onwords（自社）</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marL="0" indent="0" algn="ctr">
                        <a:buNone/>
                      </a:pPr>
                      <a:r>
                        <a:rPr lang="en-US" sz="1100" b="1" dirty="0">
                          <a:solidFill>
                            <a:srgbClr val="8541DC"/>
                          </a:solidFill>
                          <a:latin typeface="Noto Sans JP" pitchFamily="34" charset="0"/>
                          <a:ea typeface="Noto Sans JP" pitchFamily="34" charset="-122"/>
                          <a:cs typeface="Noto Sans JP" pitchFamily="34" charset="-120"/>
                        </a:rPr>
                        <a:t>全域✕</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marL="0" indent="0" algn="ctr">
                        <a:buNone/>
                      </a:pPr>
                      <a:r>
                        <a:rPr lang="en-US" sz="1100" b="1" dirty="0">
                          <a:solidFill>
                            <a:srgbClr val="8541DC"/>
                          </a:solidFill>
                          <a:latin typeface="Noto Sans JP" pitchFamily="34" charset="0"/>
                          <a:ea typeface="Noto Sans JP" pitchFamily="34" charset="-122"/>
                          <a:cs typeface="Noto Sans JP" pitchFamily="34" charset="-120"/>
                        </a:rPr>
                        <a:t>インバウンド集客・観光DX・商品造成・販売支援を“人・ノウハウ込み”で支援。地域観光DX事業・訪日マーケティングパートナー。AIへの認知がほぼゼロのため現状は強み訴求の機会なし。</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extLst>
                  <a:ext uri="{0D108BD9-81ED-4DB2-BD59-A6C34878D82A}">
                    <a16:rowId xmlns:a16="http://schemas.microsoft.com/office/drawing/2014/main" val="10001"/>
                  </a:ext>
                </a:extLst>
              </a:tr>
              <a:tr h="65836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MATCHA</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情報収集◎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日本最大級のインバウンド向け観光メディア。訪日外国人への認知拡大・広告掲載・コンテンツ制作。多言語対応・SNS運用も強み。</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ライフペッパー</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比較検討◎</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インバウンドマーケティング支援の老舗。SEO・SNS・コンテンツ制作・翻訳。地方自治体・観光施設との取引実績が豊富。</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658368">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JTB BÓKUN / WOVN</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機能特化</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BÓKUN：旅行者向け予約管理SaaS（体験・ツアー）。WOVN：サイト多言語化SaaS。AI回答での言及は機能比較中心。</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02920" y="5806440"/>
            <a:ext cx="10972800" cy="274320"/>
          </a:xfrm>
          <a:prstGeom prst="rect">
            <a:avLst/>
          </a:prstGeom>
          <a:noFill/>
          <a:ln/>
        </p:spPr>
        <p:txBody>
          <a:bodyPr wrap="square" lIns="0" tIns="0" rIns="0" bIns="0" rtlCol="0" anchor="ctr"/>
          <a:lstStyle/>
          <a:p>
            <a:pPr marL="0" indent="0">
              <a:buNone/>
            </a:pPr>
            <a:r>
              <a:rPr lang="en-US" sz="950" dirty="0">
                <a:solidFill>
                  <a:srgbClr val="8A8F98"/>
                </a:solidFill>
                <a:latin typeface="Noto Sans JP" pitchFamily="34" charset="0"/>
                <a:ea typeface="Noto Sans JP" pitchFamily="34" charset="-122"/>
                <a:cs typeface="Noto Sans JP" pitchFamily="34" charset="-120"/>
              </a:rPr>
              <a:t>🟡 推定（Claudeベース：AI回答本文・各社公開情報より）／おそらく</a:t>
            </a:r>
            <a:endParaRPr lang="en-US" sz="950" dirty="0"/>
          </a:p>
        </p:txBody>
      </p:sp>
      <p:sp>
        <p:nvSpPr>
          <p:cNvPr id="6" name="Text 3"/>
          <p:cNvSpPr/>
          <p:nvPr/>
        </p:nvSpPr>
        <p:spPr>
          <a:xfrm>
            <a:off x="502920" y="6053328"/>
            <a:ext cx="11155680" cy="320040"/>
          </a:xfrm>
          <a:prstGeom prst="rect">
            <a:avLst/>
          </a:prstGeom>
          <a:noFill/>
          <a:ln/>
        </p:spPr>
        <p:txBody>
          <a:bodyPr wrap="square" lIns="0" tIns="0" rIns="0" bIns="0" rtlCol="0" anchor="ctr"/>
          <a:lstStyle/>
          <a:p>
            <a:pPr marL="0" indent="0">
              <a:buNone/>
            </a:pPr>
            <a:r>
              <a:rPr lang="en-US" sz="1050" b="1" dirty="0">
                <a:solidFill>
                  <a:srgbClr val="F57527"/>
                </a:solidFill>
                <a:latin typeface="Noto Sans JP" pitchFamily="34" charset="0"/>
                <a:ea typeface="Noto Sans JP" pitchFamily="34" charset="-122"/>
                <a:cs typeface="Noto Sans JP" pitchFamily="34" charset="-120"/>
              </a:rPr>
              <a:t>Onwordsの差別化軸は「インバウンド×観光DXを人・ノウハウ込みで地方創生に結びつける」点。メディア（MATCHA）・支援（ライフペッパー）・SaaS（BÓKUN/WOVN）と異なる統合型ポジションを確立できる。</a:t>
            </a:r>
            <a:endParaRPr lang="en-US" sz="1050" dirty="0"/>
          </a:p>
        </p:txBody>
      </p:sp>
      <p:sp>
        <p:nvSpPr>
          <p:cNvPr id="7" name="Text 4"/>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8" name="Text 5"/>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 — 自社がAIにどう語られているか</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 Voice：AIの中の“自社像”</a:t>
            </a:r>
            <a:endParaRPr lang="en-US" sz="2500" dirty="0"/>
          </a:p>
        </p:txBody>
      </p:sp>
      <p:sp>
        <p:nvSpPr>
          <p:cNvPr id="4" name="Shape 2"/>
          <p:cNvSpPr/>
          <p:nvPr/>
        </p:nvSpPr>
        <p:spPr>
          <a:xfrm>
            <a:off x="502920" y="1554480"/>
            <a:ext cx="5532120" cy="2286000"/>
          </a:xfrm>
          <a:prstGeom prst="roundRect">
            <a:avLst>
              <a:gd name="adj" fmla="val 4400"/>
            </a:avLst>
          </a:prstGeom>
          <a:solidFill>
            <a:srgbClr val="F0E6FC"/>
          </a:solidFill>
          <a:ln/>
        </p:spPr>
        <p:txBody>
          <a:bodyPr/>
          <a:lstStyle/>
          <a:p>
            <a:endParaRPr lang="ja-JP" altLang="en-US"/>
          </a:p>
        </p:txBody>
      </p:sp>
      <p:sp>
        <p:nvSpPr>
          <p:cNvPr id="5" name="Text 3"/>
          <p:cNvSpPr/>
          <p:nvPr/>
        </p:nvSpPr>
        <p:spPr>
          <a:xfrm>
            <a:off x="777240" y="1737360"/>
            <a:ext cx="493776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 AIが語る自社像（観測）</a:t>
            </a:r>
            <a:endParaRPr lang="en-US" sz="1250" dirty="0"/>
          </a:p>
        </p:txBody>
      </p:sp>
      <p:sp>
        <p:nvSpPr>
          <p:cNvPr id="6" name="Text 4"/>
          <p:cNvSpPr/>
          <p:nvPr/>
        </p:nvSpPr>
        <p:spPr>
          <a:xfrm>
            <a:off x="777240" y="2121408"/>
            <a:ext cx="5029200" cy="16459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Q8（ブランド直接質問）にてAIがOnwordsを「インバウンド集客・観光DX・商品造成・販売支援を人・ノウハウ込みで支援する会社」と一部正確に説明</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stg.onwords.co.jp（ステージング）が9件引用—本番サイトと混同して引用されているリスクが実測で確認</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情報収集・比較検討プロンプトでは政府サイト（観光庁78件・kanko-dx.go.jp 44件）が圧倒的に引用されており、民間支援会社の存在感は全体的に薄い</a:t>
            </a:r>
            <a:endParaRPr lang="en-US" sz="1050" dirty="0"/>
          </a:p>
        </p:txBody>
      </p:sp>
      <p:sp>
        <p:nvSpPr>
          <p:cNvPr id="7" name="Shape 5"/>
          <p:cNvSpPr/>
          <p:nvPr/>
        </p:nvSpPr>
        <p:spPr>
          <a:xfrm>
            <a:off x="6263640" y="1554480"/>
            <a:ext cx="5422392" cy="2286000"/>
          </a:xfrm>
          <a:prstGeom prst="roundRect">
            <a:avLst>
              <a:gd name="adj" fmla="val 4400"/>
            </a:avLst>
          </a:prstGeom>
          <a:solidFill>
            <a:srgbClr val="F5F5F7"/>
          </a:solidFill>
          <a:ln/>
        </p:spPr>
        <p:txBody>
          <a:bodyPr/>
          <a:lstStyle/>
          <a:p>
            <a:endParaRPr lang="ja-JP" altLang="en-US"/>
          </a:p>
        </p:txBody>
      </p:sp>
      <p:sp>
        <p:nvSpPr>
          <p:cNvPr id="8" name="Text 6"/>
          <p:cNvSpPr/>
          <p:nvPr/>
        </p:nvSpPr>
        <p:spPr>
          <a:xfrm>
            <a:off x="6537960" y="1737360"/>
            <a:ext cx="4937760" cy="320040"/>
          </a:xfrm>
          <a:prstGeom prst="rect">
            <a:avLst/>
          </a:prstGeom>
          <a:noFill/>
          <a:ln/>
        </p:spPr>
        <p:txBody>
          <a:bodyPr wrap="square" lIns="0" tIns="0" rIns="0" bIns="0" rtlCol="0" anchor="ctr"/>
          <a:lstStyle/>
          <a:p>
            <a:pPr marL="0" indent="0">
              <a:buNone/>
            </a:pPr>
            <a:r>
              <a:rPr lang="en-US" sz="1250" b="1" dirty="0">
                <a:solidFill>
                  <a:srgbClr val="4A1F87"/>
                </a:solidFill>
                <a:latin typeface="Noto Sans JP" pitchFamily="34" charset="0"/>
                <a:ea typeface="Noto Sans JP" pitchFamily="34" charset="-122"/>
                <a:cs typeface="Noto Sans JP" pitchFamily="34" charset="-120"/>
              </a:rPr>
              <a:t>🟡 想起の歪み・課題（推定）</a:t>
            </a:r>
            <a:endParaRPr lang="en-US" sz="1250" dirty="0"/>
          </a:p>
        </p:txBody>
      </p:sp>
      <p:sp>
        <p:nvSpPr>
          <p:cNvPr id="9" name="Text 7"/>
          <p:cNvSpPr/>
          <p:nvPr/>
        </p:nvSpPr>
        <p:spPr>
          <a:xfrm>
            <a:off x="6537960" y="2121408"/>
            <a:ext cx="4937760" cy="16459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ブランド名「Onwords」がAIに正しく認識されていない—英会話（ワンズワード）・衣料品（オンワード）と混同される事例を確認</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全60観測で登場率0%—自社名直接質問（意思決定）でも回答なし。エンティティ情報がAI学習データに不足</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第三者メディア（SaaS比較・インバウンド支援会社比較）への掲載がほぼなく、カテゴリ検索・比較検討から完全に除外されている</a:t>
            </a:r>
            <a:endParaRPr lang="en-US" sz="1050" dirty="0"/>
          </a:p>
        </p:txBody>
      </p:sp>
      <p:sp>
        <p:nvSpPr>
          <p:cNvPr id="10" name="Shape 8"/>
          <p:cNvSpPr/>
          <p:nvPr/>
        </p:nvSpPr>
        <p:spPr>
          <a:xfrm>
            <a:off x="502920" y="3977640"/>
            <a:ext cx="11183112" cy="1920240"/>
          </a:xfrm>
          <a:prstGeom prst="roundRect">
            <a:avLst>
              <a:gd name="adj" fmla="val 5238"/>
            </a:avLst>
          </a:prstGeom>
          <a:solidFill>
            <a:srgbClr val="4A1F87"/>
          </a:solidFill>
          <a:ln/>
        </p:spPr>
        <p:txBody>
          <a:bodyPr/>
          <a:lstStyle/>
          <a:p>
            <a:endParaRPr lang="ja-JP" altLang="en-US"/>
          </a:p>
        </p:txBody>
      </p:sp>
      <p:sp>
        <p:nvSpPr>
          <p:cNvPr id="11" name="Text 9"/>
          <p:cNvSpPr/>
          <p:nvPr/>
        </p:nvSpPr>
        <p:spPr>
          <a:xfrm>
            <a:off x="777240" y="4160520"/>
            <a:ext cx="10607040" cy="320040"/>
          </a:xfrm>
          <a:prstGeom prst="rect">
            <a:avLst/>
          </a:prstGeom>
          <a:noFill/>
          <a:ln/>
        </p:spPr>
        <p:txBody>
          <a:bodyPr wrap="square" lIns="0" tIns="0" rIns="0" bIns="0" rtlCol="0" anchor="ctr"/>
          <a:lstStyle/>
          <a:p>
            <a:pPr marL="0" indent="0">
              <a:buNone/>
            </a:pPr>
            <a:r>
              <a:rPr lang="en-US" sz="1250" b="1" dirty="0">
                <a:solidFill>
                  <a:srgbClr val="D9CBF2"/>
                </a:solidFill>
                <a:latin typeface="Noto Sans JP" pitchFamily="34" charset="0"/>
                <a:ea typeface="Noto Sans JP" pitchFamily="34" charset="-122"/>
                <a:cs typeface="Noto Sans JP" pitchFamily="34" charset="-120"/>
              </a:rPr>
              <a:t>Company Voice（自社サイト）との突き合わせ</a:t>
            </a:r>
            <a:endParaRPr lang="en-US" sz="1250" dirty="0"/>
          </a:p>
        </p:txBody>
      </p:sp>
      <p:sp>
        <p:nvSpPr>
          <p:cNvPr id="12" name="Text 10"/>
          <p:cNvSpPr/>
          <p:nvPr/>
        </p:nvSpPr>
        <p:spPr>
          <a:xfrm>
            <a:off x="777240" y="4526280"/>
            <a:ext cx="10607040" cy="128016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onwords.co.jpは「地域観光DX・インバウンド集客・商品造成・販売支援」を発信—Company Voiceの方向性は正しい</a:t>
            </a:r>
            <a:endParaRPr lang="en-US" sz="1050" dirty="0"/>
          </a:p>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しかしAIに学習・引用される第三者メディア掲載がなく、エンティティとして認識される情報源が不足している</a:t>
            </a:r>
            <a:endParaRPr lang="en-US" sz="1050" dirty="0"/>
          </a:p>
          <a:p>
            <a:pPr marL="152400" indent="-152400">
              <a:lnSpc>
                <a:spcPct val="128000"/>
              </a:lnSpc>
              <a:spcAft>
                <a:spcPts val="700"/>
              </a:spcAft>
              <a:buSzPct val="100000"/>
              <a:buChar char="•"/>
            </a:pPr>
            <a:r>
              <a:rPr lang="en-US" sz="1050" dirty="0">
                <a:solidFill>
                  <a:srgbClr val="FFFFFF"/>
                </a:solidFill>
                <a:latin typeface="Noto Sans JP" pitchFamily="34" charset="0"/>
                <a:ea typeface="Noto Sans JP" pitchFamily="34" charset="-122"/>
                <a:cs typeface="Noto Sans JP" pitchFamily="34" charset="-120"/>
              </a:rPr>
              <a:t>＝「AIにどう認識されるべきか」のエンティティ定義と第三者情報の蓄積が急務（柱1・柱2・柱3）</a:t>
            </a:r>
            <a:endParaRPr lang="en-US" sz="1050" dirty="0"/>
          </a:p>
        </p:txBody>
      </p:sp>
      <p:sp>
        <p:nvSpPr>
          <p:cNvPr id="13" name="Text 11"/>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4" name="Text 12"/>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 — AIが参照しているソース</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AIの回答は“外部メディアの要約”</a:t>
            </a:r>
            <a:endParaRPr lang="en-US" sz="2500" dirty="0"/>
          </a:p>
        </p:txBody>
      </p:sp>
      <p:sp>
        <p:nvSpPr>
          <p:cNvPr id="4" name="Shape 2"/>
          <p:cNvSpPr/>
          <p:nvPr/>
        </p:nvSpPr>
        <p:spPr>
          <a:xfrm>
            <a:off x="502920" y="1554480"/>
            <a:ext cx="5532120" cy="4343400"/>
          </a:xfrm>
          <a:prstGeom prst="roundRect">
            <a:avLst>
              <a:gd name="adj" fmla="val 2316"/>
            </a:avLst>
          </a:prstGeom>
          <a:solidFill>
            <a:srgbClr val="F5F5F7"/>
          </a:solidFill>
          <a:ln/>
        </p:spPr>
        <p:txBody>
          <a:bodyPr/>
          <a:lstStyle/>
          <a:p>
            <a:endParaRPr lang="ja-JP" altLang="en-US"/>
          </a:p>
        </p:txBody>
      </p:sp>
      <p:sp>
        <p:nvSpPr>
          <p:cNvPr id="5" name="Text 3"/>
          <p:cNvSpPr/>
          <p:nvPr/>
        </p:nvSpPr>
        <p:spPr>
          <a:xfrm>
            <a:off x="777240" y="1737360"/>
            <a:ext cx="4937760" cy="32004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 参照されやすいソース（Claudeベース）</a:t>
            </a:r>
            <a:endParaRPr lang="en-US" sz="1250" dirty="0"/>
          </a:p>
        </p:txBody>
      </p:sp>
      <p:sp>
        <p:nvSpPr>
          <p:cNvPr id="6" name="Text 4"/>
          <p:cNvSpPr/>
          <p:nvPr/>
        </p:nvSpPr>
        <p:spPr>
          <a:xfrm>
            <a:off x="777240" y="2121408"/>
            <a:ext cx="5029200" cy="36576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mlit.go.jp（78件）：国土交通省・観光庁サイト＝政府の観光DX政策が支配的</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kanko-dx.go.jp（44件）：観光DX推進事業（観光庁）＝官製情報が比較検討を独占</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stg.onwords.co.jp（9件）：⚠️ステージングドメイン—noindex未設定で本番と混同引用</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lifepepper.co.jp（9件）：競合ライフペッパーの自社メディア記事が引用</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matcha-jp.com（6件）：競合MATCHAの記事コンテンツが引用</a:t>
            </a:r>
            <a:endParaRPr lang="en-US" sz="1050" dirty="0"/>
          </a:p>
        </p:txBody>
      </p:sp>
      <p:sp>
        <p:nvSpPr>
          <p:cNvPr id="7" name="Shape 5"/>
          <p:cNvSpPr/>
          <p:nvPr/>
        </p:nvSpPr>
        <p:spPr>
          <a:xfrm>
            <a:off x="6263640" y="1554480"/>
            <a:ext cx="5422392" cy="4343400"/>
          </a:xfrm>
          <a:prstGeom prst="roundRect">
            <a:avLst>
              <a:gd name="adj" fmla="val 2316"/>
            </a:avLst>
          </a:prstGeom>
          <a:solidFill>
            <a:srgbClr val="FFFFFF"/>
          </a:solidFill>
          <a:ln w="12700">
            <a:solidFill>
              <a:srgbClr val="E5E5EA"/>
            </a:solidFill>
            <a:prstDash val="solid"/>
          </a:ln>
        </p:spPr>
        <p:txBody>
          <a:bodyPr/>
          <a:lstStyle/>
          <a:p>
            <a:endParaRPr lang="ja-JP" altLang="en-US"/>
          </a:p>
        </p:txBody>
      </p:sp>
      <p:sp>
        <p:nvSpPr>
          <p:cNvPr id="8" name="Text 6"/>
          <p:cNvSpPr/>
          <p:nvPr/>
        </p:nvSpPr>
        <p:spPr>
          <a:xfrm>
            <a:off x="6537960" y="1783080"/>
            <a:ext cx="4937760" cy="320040"/>
          </a:xfrm>
          <a:prstGeom prst="rect">
            <a:avLst/>
          </a:prstGeom>
          <a:noFill/>
          <a:ln/>
        </p:spPr>
        <p:txBody>
          <a:bodyPr wrap="square" lIns="0" tIns="0" rIns="0" bIns="0" rtlCol="0" anchor="ctr"/>
          <a:lstStyle/>
          <a:p>
            <a:pPr marL="0" indent="0">
              <a:buNone/>
            </a:pPr>
            <a:r>
              <a:rPr lang="en-US" sz="1250" b="1" dirty="0">
                <a:solidFill>
                  <a:srgbClr val="6A2FB8"/>
                </a:solidFill>
                <a:latin typeface="Noto Sans JP" pitchFamily="34" charset="0"/>
                <a:ea typeface="Noto Sans JP" pitchFamily="34" charset="-122"/>
                <a:cs typeface="Noto Sans JP" pitchFamily="34" charset="-120"/>
              </a:rPr>
              <a:t>AI回答が生成される仕組み</a:t>
            </a:r>
            <a:endParaRPr lang="en-US" sz="1250" dirty="0"/>
          </a:p>
        </p:txBody>
      </p:sp>
      <p:sp>
        <p:nvSpPr>
          <p:cNvPr id="9" name="Shape 7"/>
          <p:cNvSpPr/>
          <p:nvPr/>
        </p:nvSpPr>
        <p:spPr>
          <a:xfrm>
            <a:off x="6537960" y="2286000"/>
            <a:ext cx="4846320" cy="749808"/>
          </a:xfrm>
          <a:prstGeom prst="roundRect">
            <a:avLst>
              <a:gd name="adj" fmla="val 13415"/>
            </a:avLst>
          </a:prstGeom>
          <a:solidFill>
            <a:srgbClr val="F5F5F7"/>
          </a:solidFill>
          <a:ln/>
        </p:spPr>
        <p:txBody>
          <a:bodyPr/>
          <a:lstStyle/>
          <a:p>
            <a:endParaRPr lang="ja-JP" altLang="en-US"/>
          </a:p>
        </p:txBody>
      </p:sp>
      <p:sp>
        <p:nvSpPr>
          <p:cNvPr id="10" name="Text 8"/>
          <p:cNvSpPr/>
          <p:nvPr/>
        </p:nvSpPr>
        <p:spPr>
          <a:xfrm>
            <a:off x="6720840" y="2331720"/>
            <a:ext cx="4526280" cy="658368"/>
          </a:xfrm>
          <a:prstGeom prst="rect">
            <a:avLst/>
          </a:prstGeom>
          <a:noFill/>
          <a:ln/>
        </p:spPr>
        <p:txBody>
          <a:bodyPr wrap="square" lIns="0" tIns="0" rIns="0" bIns="0" rtlCol="0" anchor="ctr"/>
          <a:lstStyle/>
          <a:p>
            <a:pPr marL="0" indent="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政府・業界メディア・競合自社メディア</a:t>
            </a:r>
            <a:endParaRPr lang="en-US" sz="1050" dirty="0"/>
          </a:p>
        </p:txBody>
      </p:sp>
      <p:sp>
        <p:nvSpPr>
          <p:cNvPr id="11" name="Text 9"/>
          <p:cNvSpPr/>
          <p:nvPr/>
        </p:nvSpPr>
        <p:spPr>
          <a:xfrm>
            <a:off x="8778240" y="3035808"/>
            <a:ext cx="365760" cy="274320"/>
          </a:xfrm>
          <a:prstGeom prst="rect">
            <a:avLst/>
          </a:prstGeom>
          <a:noFill/>
          <a:ln/>
        </p:spPr>
        <p:txBody>
          <a:bodyPr wrap="square" lIns="0" tIns="0" rIns="0" bIns="0" rtlCol="0" anchor="ctr"/>
          <a:lstStyle/>
          <a:p>
            <a:pPr marL="0" indent="0" algn="ctr">
              <a:buNone/>
            </a:pPr>
            <a:r>
              <a:rPr lang="en-US" sz="1200" dirty="0">
                <a:solidFill>
                  <a:srgbClr val="6A2FB8"/>
                </a:solidFill>
                <a:latin typeface="Noto Sans JP" pitchFamily="34" charset="0"/>
                <a:ea typeface="Noto Sans JP" pitchFamily="34" charset="-122"/>
                <a:cs typeface="Noto Sans JP" pitchFamily="34" charset="-120"/>
              </a:rPr>
              <a:t>▼</a:t>
            </a:r>
            <a:endParaRPr lang="en-US" sz="1200" dirty="0"/>
          </a:p>
        </p:txBody>
      </p:sp>
      <p:sp>
        <p:nvSpPr>
          <p:cNvPr id="12" name="Shape 10"/>
          <p:cNvSpPr/>
          <p:nvPr/>
        </p:nvSpPr>
        <p:spPr>
          <a:xfrm>
            <a:off x="6537960" y="3337560"/>
            <a:ext cx="4846320" cy="749808"/>
          </a:xfrm>
          <a:prstGeom prst="roundRect">
            <a:avLst>
              <a:gd name="adj" fmla="val 13415"/>
            </a:avLst>
          </a:prstGeom>
          <a:solidFill>
            <a:srgbClr val="E9DEF9"/>
          </a:solidFill>
          <a:ln/>
        </p:spPr>
        <p:txBody>
          <a:bodyPr/>
          <a:lstStyle/>
          <a:p>
            <a:endParaRPr lang="ja-JP" altLang="en-US"/>
          </a:p>
        </p:txBody>
      </p:sp>
      <p:sp>
        <p:nvSpPr>
          <p:cNvPr id="13" name="Text 11"/>
          <p:cNvSpPr/>
          <p:nvPr/>
        </p:nvSpPr>
        <p:spPr>
          <a:xfrm>
            <a:off x="6720840" y="3383280"/>
            <a:ext cx="4526280" cy="658368"/>
          </a:xfrm>
          <a:prstGeom prst="rect">
            <a:avLst/>
          </a:prstGeom>
          <a:noFill/>
          <a:ln/>
        </p:spPr>
        <p:txBody>
          <a:bodyPr wrap="square" lIns="0" tIns="0" rIns="0" bIns="0" rtlCol="0" anchor="ctr"/>
          <a:lstStyle/>
          <a:p>
            <a:pPr marL="0" indent="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AI が要約（ChatGPT / Gemini / AI Overviews）</a:t>
            </a:r>
            <a:endParaRPr lang="en-US" sz="1050" dirty="0"/>
          </a:p>
        </p:txBody>
      </p:sp>
      <p:sp>
        <p:nvSpPr>
          <p:cNvPr id="14" name="Text 12"/>
          <p:cNvSpPr/>
          <p:nvPr/>
        </p:nvSpPr>
        <p:spPr>
          <a:xfrm>
            <a:off x="8778240" y="4087368"/>
            <a:ext cx="365760" cy="274320"/>
          </a:xfrm>
          <a:prstGeom prst="rect">
            <a:avLst/>
          </a:prstGeom>
          <a:noFill/>
          <a:ln/>
        </p:spPr>
        <p:txBody>
          <a:bodyPr wrap="square" lIns="0" tIns="0" rIns="0" bIns="0" rtlCol="0" anchor="ctr"/>
          <a:lstStyle/>
          <a:p>
            <a:pPr marL="0" indent="0" algn="ctr">
              <a:buNone/>
            </a:pPr>
            <a:r>
              <a:rPr lang="en-US" sz="1200" dirty="0">
                <a:solidFill>
                  <a:srgbClr val="6A2FB8"/>
                </a:solidFill>
                <a:latin typeface="Noto Sans JP" pitchFamily="34" charset="0"/>
                <a:ea typeface="Noto Sans JP" pitchFamily="34" charset="-122"/>
                <a:cs typeface="Noto Sans JP" pitchFamily="34" charset="-120"/>
              </a:rPr>
              <a:t>▼</a:t>
            </a:r>
            <a:endParaRPr lang="en-US" sz="1200" dirty="0"/>
          </a:p>
        </p:txBody>
      </p:sp>
      <p:sp>
        <p:nvSpPr>
          <p:cNvPr id="15" name="Shape 13"/>
          <p:cNvSpPr/>
          <p:nvPr/>
        </p:nvSpPr>
        <p:spPr>
          <a:xfrm>
            <a:off x="6537960" y="4389120"/>
            <a:ext cx="4846320" cy="749808"/>
          </a:xfrm>
          <a:prstGeom prst="roundRect">
            <a:avLst>
              <a:gd name="adj" fmla="val 13415"/>
            </a:avLst>
          </a:prstGeom>
          <a:solidFill>
            <a:srgbClr val="F5F5F7"/>
          </a:solidFill>
          <a:ln/>
        </p:spPr>
        <p:txBody>
          <a:bodyPr/>
          <a:lstStyle/>
          <a:p>
            <a:endParaRPr lang="ja-JP" altLang="en-US"/>
          </a:p>
        </p:txBody>
      </p:sp>
      <p:sp>
        <p:nvSpPr>
          <p:cNvPr id="16" name="Text 14"/>
          <p:cNvSpPr/>
          <p:nvPr/>
        </p:nvSpPr>
        <p:spPr>
          <a:xfrm>
            <a:off x="6720840" y="4434840"/>
            <a:ext cx="4526280" cy="658368"/>
          </a:xfrm>
          <a:prstGeom prst="rect">
            <a:avLst/>
          </a:prstGeom>
          <a:noFill/>
          <a:ln/>
        </p:spPr>
        <p:txBody>
          <a:bodyPr wrap="square" lIns="0" tIns="0" rIns="0" bIns="0" rtlCol="0" anchor="ctr"/>
          <a:lstStyle/>
          <a:p>
            <a:pPr marL="0" indent="0">
              <a:lnSpc>
                <a:spcPct val="120000"/>
              </a:lnSpc>
              <a:buNone/>
            </a:pPr>
            <a:r>
              <a:rPr lang="en-US" sz="1050" b="1" dirty="0">
                <a:solidFill>
                  <a:srgbClr val="222222"/>
                </a:solidFill>
                <a:latin typeface="Noto Sans JP" pitchFamily="34" charset="0"/>
                <a:ea typeface="Noto Sans JP" pitchFamily="34" charset="-122"/>
                <a:cs typeface="Noto Sans JP" pitchFamily="34" charset="-120"/>
              </a:rPr>
              <a:t>観光事業者・自治体担当者が回答として受け取る</a:t>
            </a:r>
            <a:endParaRPr lang="en-US" sz="1050" dirty="0"/>
          </a:p>
        </p:txBody>
      </p:sp>
      <p:sp>
        <p:nvSpPr>
          <p:cNvPr id="17" name="Text 15"/>
          <p:cNvSpPr/>
          <p:nvPr/>
        </p:nvSpPr>
        <p:spPr>
          <a:xfrm>
            <a:off x="6537960" y="5486400"/>
            <a:ext cx="4846320" cy="365760"/>
          </a:xfrm>
          <a:prstGeom prst="rect">
            <a:avLst/>
          </a:prstGeom>
          <a:noFill/>
          <a:ln/>
        </p:spPr>
        <p:txBody>
          <a:bodyPr wrap="square" lIns="0" tIns="0" rIns="0" bIns="0" rtlCol="0" anchor="ctr"/>
          <a:lstStyle/>
          <a:p>
            <a:pPr marL="0" indent="0">
              <a:lnSpc>
                <a:spcPct val="120000"/>
              </a:lnSpc>
              <a:buNone/>
            </a:pPr>
            <a:r>
              <a:rPr lang="en-US" sz="1000" b="1" dirty="0">
                <a:solidFill>
                  <a:srgbClr val="F57527"/>
                </a:solidFill>
                <a:latin typeface="Noto Sans JP" pitchFamily="34" charset="0"/>
                <a:ea typeface="Noto Sans JP" pitchFamily="34" charset="-122"/>
                <a:cs typeface="Noto Sans JP" pitchFamily="34" charset="-120"/>
              </a:rPr>
              <a:t>→ 第三者メディア・業界比較サイトへの掲載とエンティティ確立で、自社情報をAIが引用できる状態にする（柱1・柱2）。</a:t>
            </a:r>
            <a:endParaRPr lang="en-US" sz="1000" dirty="0"/>
          </a:p>
        </p:txBody>
      </p:sp>
      <p:sp>
        <p:nvSpPr>
          <p:cNvPr id="18" name="Text 1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9" name="Text 1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 — 公式サイトの現状所見</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Company Voice：強みと“AIに読ませる作り”の課題</a:t>
            </a:r>
            <a:endParaRPr lang="en-US" sz="2500" dirty="0"/>
          </a:p>
        </p:txBody>
      </p:sp>
      <p:sp>
        <p:nvSpPr>
          <p:cNvPr id="4" name="Shape 2"/>
          <p:cNvSpPr/>
          <p:nvPr/>
        </p:nvSpPr>
        <p:spPr>
          <a:xfrm>
            <a:off x="502920" y="1600200"/>
            <a:ext cx="5532120" cy="4206240"/>
          </a:xfrm>
          <a:prstGeom prst="roundRect">
            <a:avLst>
              <a:gd name="adj" fmla="val 2391"/>
            </a:avLst>
          </a:prstGeom>
          <a:solidFill>
            <a:srgbClr val="F5F5F7"/>
          </a:solidFill>
          <a:ln/>
        </p:spPr>
        <p:txBody>
          <a:bodyPr/>
          <a:lstStyle/>
          <a:p>
            <a:endParaRPr lang="ja-JP" altLang="en-US"/>
          </a:p>
        </p:txBody>
      </p:sp>
      <p:sp>
        <p:nvSpPr>
          <p:cNvPr id="5" name="Text 3"/>
          <p:cNvSpPr/>
          <p:nvPr/>
        </p:nvSpPr>
        <p:spPr>
          <a:xfrm>
            <a:off x="777240" y="1783080"/>
            <a:ext cx="4937760" cy="320040"/>
          </a:xfrm>
          <a:prstGeom prst="rect">
            <a:avLst/>
          </a:prstGeom>
          <a:noFill/>
          <a:ln/>
        </p:spPr>
        <p:txBody>
          <a:bodyPr wrap="square" lIns="0" tIns="0" rIns="0" bIns="0" rtlCol="0" anchor="ctr"/>
          <a:lstStyle/>
          <a:p>
            <a:pPr marL="0" indent="0">
              <a:buNone/>
            </a:pPr>
            <a:r>
              <a:rPr lang="en-US" sz="1300" b="1" dirty="0">
                <a:solidFill>
                  <a:srgbClr val="8541DC"/>
                </a:solidFill>
                <a:latin typeface="Noto Sans JP" pitchFamily="34" charset="0"/>
                <a:ea typeface="Noto Sans JP" pitchFamily="34" charset="-122"/>
                <a:cs typeface="Noto Sans JP" pitchFamily="34" charset="-120"/>
              </a:rPr>
              <a:t>🔵 評価できる点</a:t>
            </a:r>
            <a:endParaRPr lang="en-US" sz="1300" dirty="0"/>
          </a:p>
        </p:txBody>
      </p:sp>
      <p:sp>
        <p:nvSpPr>
          <p:cNvPr id="6" name="Text 4"/>
          <p:cNvSpPr/>
          <p:nvPr/>
        </p:nvSpPr>
        <p:spPr>
          <a:xfrm>
            <a:off x="777240" y="2194560"/>
            <a:ext cx="5029200" cy="34747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インバウンド集客・観光DX・商品造成・販売支援を統合提供</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地域観光DX事業・訪日マーケティングパートナー事業の2軸</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人・ノウハウ込みの支援スタイル（SaaSではなくサービス型）</a:t>
            </a:r>
            <a:endParaRPr lang="en-US" sz="1100" dirty="0"/>
          </a:p>
          <a:p>
            <a:pPr marL="152400" indent="-152400">
              <a:lnSpc>
                <a:spcPct val="128000"/>
              </a:lnSpc>
              <a:spcAft>
                <a:spcPts val="700"/>
              </a:spcAft>
              <a:buSzPct val="100000"/>
              <a:buChar char="•"/>
            </a:pPr>
            <a:r>
              <a:rPr lang="en-US" sz="1100" dirty="0" err="1">
                <a:solidFill>
                  <a:srgbClr val="222222"/>
                </a:solidFill>
                <a:latin typeface="Noto Sans JP" pitchFamily="34" charset="0"/>
                <a:ea typeface="Noto Sans JP" pitchFamily="34" charset="-122"/>
                <a:cs typeface="Noto Sans JP" pitchFamily="34" charset="-120"/>
              </a:rPr>
              <a:t>地方創生×インバウンドという独自ポジション</a:t>
            </a:r>
            <a:endParaRPr lang="en-US" sz="1100" dirty="0"/>
          </a:p>
        </p:txBody>
      </p:sp>
      <p:sp>
        <p:nvSpPr>
          <p:cNvPr id="7" name="Shape 5"/>
          <p:cNvSpPr/>
          <p:nvPr/>
        </p:nvSpPr>
        <p:spPr>
          <a:xfrm>
            <a:off x="6263640" y="1600200"/>
            <a:ext cx="5422392" cy="4206240"/>
          </a:xfrm>
          <a:prstGeom prst="roundRect">
            <a:avLst>
              <a:gd name="adj" fmla="val 2391"/>
            </a:avLst>
          </a:prstGeom>
          <a:solidFill>
            <a:srgbClr val="FFFFFF"/>
          </a:solidFill>
          <a:ln w="12700">
            <a:solidFill>
              <a:srgbClr val="E5E5EA"/>
            </a:solidFill>
            <a:prstDash val="solid"/>
          </a:ln>
        </p:spPr>
        <p:txBody>
          <a:bodyPr/>
          <a:lstStyle/>
          <a:p>
            <a:endParaRPr lang="ja-JP" altLang="en-US"/>
          </a:p>
        </p:txBody>
      </p:sp>
      <p:sp>
        <p:nvSpPr>
          <p:cNvPr id="8" name="Text 6"/>
          <p:cNvSpPr/>
          <p:nvPr/>
        </p:nvSpPr>
        <p:spPr>
          <a:xfrm>
            <a:off x="6537960" y="1783080"/>
            <a:ext cx="4937760" cy="320040"/>
          </a:xfrm>
          <a:prstGeom prst="rect">
            <a:avLst/>
          </a:prstGeom>
          <a:noFill/>
          <a:ln/>
        </p:spPr>
        <p:txBody>
          <a:bodyPr wrap="square" lIns="0" tIns="0" rIns="0" bIns="0" rtlCol="0" anchor="ctr"/>
          <a:lstStyle/>
          <a:p>
            <a:pPr marL="0" indent="0">
              <a:buNone/>
            </a:pPr>
            <a:r>
              <a:rPr lang="en-US" sz="1300" b="1" dirty="0">
                <a:solidFill>
                  <a:srgbClr val="4A1F87"/>
                </a:solidFill>
                <a:latin typeface="Noto Sans JP" pitchFamily="34" charset="0"/>
                <a:ea typeface="Noto Sans JP" pitchFamily="34" charset="-122"/>
                <a:cs typeface="Noto Sans JP" pitchFamily="34" charset="-120"/>
              </a:rPr>
              <a:t>🟡 AIに引用されにくい要因（課題）</a:t>
            </a:r>
            <a:endParaRPr lang="en-US" sz="1300" dirty="0"/>
          </a:p>
        </p:txBody>
      </p:sp>
      <p:sp>
        <p:nvSpPr>
          <p:cNvPr id="9" name="Text 7"/>
          <p:cNvSpPr/>
          <p:nvPr/>
        </p:nvSpPr>
        <p:spPr>
          <a:xfrm>
            <a:off x="6537960" y="2194560"/>
            <a:ext cx="4937760" cy="347472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AI比較メディア・インバウンド支援会社比較サイトへの掲載なし</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「Onwords vs MATCHA」「Onwords vs ライフペッパー」の比較解説ページが存在しない</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ウィキペディア・業界白書等のエンティティ確立情報源がない</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口コミ・評判・導入事例の第三者コンテンツが不足</a:t>
            </a:r>
            <a:endParaRPr lang="en-US" sz="1050" dirty="0"/>
          </a:p>
          <a:p>
            <a:pPr marL="152400" indent="-152400">
              <a:lnSpc>
                <a:spcPct val="128000"/>
              </a:lnSpc>
              <a:spcAft>
                <a:spcPts val="700"/>
              </a:spcAft>
              <a:buSzPct val="100000"/>
              <a:buChar char="•"/>
            </a:pPr>
            <a:r>
              <a:rPr lang="en-US" sz="1050" dirty="0">
                <a:solidFill>
                  <a:srgbClr val="222222"/>
                </a:solidFill>
                <a:latin typeface="Noto Sans JP" pitchFamily="34" charset="0"/>
                <a:ea typeface="Noto Sans JP" pitchFamily="34" charset="-122"/>
                <a:cs typeface="Noto Sans JP" pitchFamily="34" charset="-120"/>
              </a:rPr>
              <a:t>FAQの構造化（FAQスキーマ）の整備余地あり</a:t>
            </a:r>
            <a:endParaRPr lang="en-US" sz="1050" dirty="0"/>
          </a:p>
        </p:txBody>
      </p:sp>
      <p:sp>
        <p:nvSpPr>
          <p:cNvPr id="10" name="Text 8"/>
          <p:cNvSpPr/>
          <p:nvPr/>
        </p:nvSpPr>
        <p:spPr>
          <a:xfrm>
            <a:off x="502920" y="5943600"/>
            <a:ext cx="1097280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🔵クロール所見＋🟡推定</a:t>
            </a:r>
            <a:endParaRPr lang="en-US" sz="900" dirty="0"/>
          </a:p>
        </p:txBody>
      </p:sp>
      <p:sp>
        <p:nvSpPr>
          <p:cNvPr id="11" name="Text 9"/>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2" name="Text 10"/>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現状分析 — 保有している強み資産</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AIにまだ十分伝わっていない“武器”</a:t>
            </a:r>
            <a:endParaRPr lang="en-US" sz="2500" dirty="0"/>
          </a:p>
        </p:txBody>
      </p:sp>
      <p:sp>
        <p:nvSpPr>
          <p:cNvPr id="4" name="Shape 2"/>
          <p:cNvSpPr/>
          <p:nvPr/>
        </p:nvSpPr>
        <p:spPr>
          <a:xfrm>
            <a:off x="502920" y="1737360"/>
            <a:ext cx="3547872" cy="1417320"/>
          </a:xfrm>
          <a:prstGeom prst="roundRect">
            <a:avLst>
              <a:gd name="adj" fmla="val 7097"/>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737360"/>
            <a:ext cx="3547872" cy="82296"/>
          </a:xfrm>
          <a:prstGeom prst="roundRect">
            <a:avLst>
              <a:gd name="adj" fmla="val 44444"/>
            </a:avLst>
          </a:prstGeom>
          <a:solidFill>
            <a:srgbClr val="8541DC"/>
          </a:solidFill>
          <a:ln/>
        </p:spPr>
        <p:txBody>
          <a:bodyPr/>
          <a:lstStyle/>
          <a:p>
            <a:endParaRPr lang="ja-JP" altLang="en-US"/>
          </a:p>
        </p:txBody>
      </p:sp>
      <p:sp>
        <p:nvSpPr>
          <p:cNvPr id="6" name="Text 4"/>
          <p:cNvSpPr/>
          <p:nvPr/>
        </p:nvSpPr>
        <p:spPr>
          <a:xfrm>
            <a:off x="758952" y="1938528"/>
            <a:ext cx="3063240" cy="36576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統合支援</a:t>
            </a:r>
            <a:endParaRPr lang="en-US" sz="1350" dirty="0"/>
          </a:p>
        </p:txBody>
      </p:sp>
      <p:sp>
        <p:nvSpPr>
          <p:cNvPr id="7" name="Text 5"/>
          <p:cNvSpPr/>
          <p:nvPr/>
        </p:nvSpPr>
        <p:spPr>
          <a:xfrm>
            <a:off x="758952" y="2340864"/>
            <a:ext cx="3063240" cy="731520"/>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集客・DX・造成・販売を一気通貫</a:t>
            </a:r>
            <a:endParaRPr lang="en-US" sz="1050" dirty="0"/>
          </a:p>
        </p:txBody>
      </p:sp>
      <p:sp>
        <p:nvSpPr>
          <p:cNvPr id="8" name="Shape 6"/>
          <p:cNvSpPr/>
          <p:nvPr/>
        </p:nvSpPr>
        <p:spPr>
          <a:xfrm>
            <a:off x="4270248" y="1737360"/>
            <a:ext cx="3547872" cy="1417320"/>
          </a:xfrm>
          <a:prstGeom prst="roundRect">
            <a:avLst>
              <a:gd name="adj" fmla="val 7097"/>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9" name="Shape 7"/>
          <p:cNvSpPr/>
          <p:nvPr/>
        </p:nvSpPr>
        <p:spPr>
          <a:xfrm>
            <a:off x="4270248" y="1737360"/>
            <a:ext cx="3547872" cy="82296"/>
          </a:xfrm>
          <a:prstGeom prst="roundRect">
            <a:avLst>
              <a:gd name="adj" fmla="val 44444"/>
            </a:avLst>
          </a:prstGeom>
          <a:solidFill>
            <a:srgbClr val="8541DC"/>
          </a:solidFill>
          <a:ln/>
        </p:spPr>
        <p:txBody>
          <a:bodyPr/>
          <a:lstStyle/>
          <a:p>
            <a:endParaRPr lang="ja-JP" altLang="en-US"/>
          </a:p>
        </p:txBody>
      </p:sp>
      <p:sp>
        <p:nvSpPr>
          <p:cNvPr id="10" name="Text 8"/>
          <p:cNvSpPr/>
          <p:nvPr/>
        </p:nvSpPr>
        <p:spPr>
          <a:xfrm>
            <a:off x="4526280" y="1938528"/>
            <a:ext cx="3063240" cy="36576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地方創生</a:t>
            </a:r>
            <a:endParaRPr lang="en-US" sz="1350" dirty="0"/>
          </a:p>
        </p:txBody>
      </p:sp>
      <p:sp>
        <p:nvSpPr>
          <p:cNvPr id="11" name="Text 9"/>
          <p:cNvSpPr/>
          <p:nvPr/>
        </p:nvSpPr>
        <p:spPr>
          <a:xfrm>
            <a:off x="4526280" y="2340864"/>
            <a:ext cx="3063240" cy="731520"/>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インバウンドで地域経済を活性化</a:t>
            </a:r>
            <a:endParaRPr lang="en-US" sz="1050" dirty="0"/>
          </a:p>
        </p:txBody>
      </p:sp>
      <p:sp>
        <p:nvSpPr>
          <p:cNvPr id="12" name="Shape 10"/>
          <p:cNvSpPr/>
          <p:nvPr/>
        </p:nvSpPr>
        <p:spPr>
          <a:xfrm>
            <a:off x="8037576" y="1737360"/>
            <a:ext cx="3547872" cy="1417320"/>
          </a:xfrm>
          <a:prstGeom prst="roundRect">
            <a:avLst>
              <a:gd name="adj" fmla="val 7097"/>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3" name="Shape 11"/>
          <p:cNvSpPr/>
          <p:nvPr/>
        </p:nvSpPr>
        <p:spPr>
          <a:xfrm>
            <a:off x="8037576" y="1737360"/>
            <a:ext cx="3547872" cy="82296"/>
          </a:xfrm>
          <a:prstGeom prst="roundRect">
            <a:avLst>
              <a:gd name="adj" fmla="val 44444"/>
            </a:avLst>
          </a:prstGeom>
          <a:solidFill>
            <a:srgbClr val="8541DC"/>
          </a:solidFill>
          <a:ln/>
        </p:spPr>
        <p:txBody>
          <a:bodyPr/>
          <a:lstStyle/>
          <a:p>
            <a:endParaRPr lang="ja-JP" altLang="en-US"/>
          </a:p>
        </p:txBody>
      </p:sp>
      <p:sp>
        <p:nvSpPr>
          <p:cNvPr id="14" name="Text 12"/>
          <p:cNvSpPr/>
          <p:nvPr/>
        </p:nvSpPr>
        <p:spPr>
          <a:xfrm>
            <a:off x="8293608" y="1938528"/>
            <a:ext cx="3063240" cy="36576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人・ノウハウ</a:t>
            </a:r>
            <a:endParaRPr lang="en-US" sz="1350" dirty="0"/>
          </a:p>
        </p:txBody>
      </p:sp>
      <p:sp>
        <p:nvSpPr>
          <p:cNvPr id="15" name="Text 13"/>
          <p:cNvSpPr/>
          <p:nvPr/>
        </p:nvSpPr>
        <p:spPr>
          <a:xfrm>
            <a:off x="8293608" y="2340864"/>
            <a:ext cx="3063240" cy="731520"/>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SaaSではなくサービス型の伴走支援</a:t>
            </a:r>
            <a:endParaRPr lang="en-US" sz="1050" dirty="0"/>
          </a:p>
        </p:txBody>
      </p:sp>
      <p:sp>
        <p:nvSpPr>
          <p:cNvPr id="16" name="Shape 14"/>
          <p:cNvSpPr/>
          <p:nvPr/>
        </p:nvSpPr>
        <p:spPr>
          <a:xfrm>
            <a:off x="502920" y="3337560"/>
            <a:ext cx="3547872" cy="1417320"/>
          </a:xfrm>
          <a:prstGeom prst="roundRect">
            <a:avLst>
              <a:gd name="adj" fmla="val 7097"/>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7" name="Shape 15"/>
          <p:cNvSpPr/>
          <p:nvPr/>
        </p:nvSpPr>
        <p:spPr>
          <a:xfrm>
            <a:off x="502920" y="3337560"/>
            <a:ext cx="3547872" cy="82296"/>
          </a:xfrm>
          <a:prstGeom prst="roundRect">
            <a:avLst>
              <a:gd name="adj" fmla="val 44444"/>
            </a:avLst>
          </a:prstGeom>
          <a:solidFill>
            <a:srgbClr val="8541DC"/>
          </a:solidFill>
          <a:ln/>
        </p:spPr>
        <p:txBody>
          <a:bodyPr/>
          <a:lstStyle/>
          <a:p>
            <a:endParaRPr lang="ja-JP" altLang="en-US"/>
          </a:p>
        </p:txBody>
      </p:sp>
      <p:sp>
        <p:nvSpPr>
          <p:cNvPr id="18" name="Text 16"/>
          <p:cNvSpPr/>
          <p:nvPr/>
        </p:nvSpPr>
        <p:spPr>
          <a:xfrm>
            <a:off x="758952" y="3538728"/>
            <a:ext cx="3063240" cy="36576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観光DX</a:t>
            </a:r>
            <a:endParaRPr lang="en-US" sz="1350" dirty="0"/>
          </a:p>
        </p:txBody>
      </p:sp>
      <p:sp>
        <p:nvSpPr>
          <p:cNvPr id="19" name="Text 17"/>
          <p:cNvSpPr/>
          <p:nvPr/>
        </p:nvSpPr>
        <p:spPr>
          <a:xfrm>
            <a:off x="758952" y="3941064"/>
            <a:ext cx="3063240" cy="731520"/>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デジタル×コンテンツで訪日客を呼ぶ</a:t>
            </a:r>
            <a:endParaRPr lang="en-US" sz="1050" dirty="0"/>
          </a:p>
        </p:txBody>
      </p:sp>
      <p:sp>
        <p:nvSpPr>
          <p:cNvPr id="20" name="Shape 18"/>
          <p:cNvSpPr/>
          <p:nvPr/>
        </p:nvSpPr>
        <p:spPr>
          <a:xfrm>
            <a:off x="4270248" y="3337560"/>
            <a:ext cx="3547872" cy="1417320"/>
          </a:xfrm>
          <a:prstGeom prst="roundRect">
            <a:avLst>
              <a:gd name="adj" fmla="val 7097"/>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21" name="Shape 19"/>
          <p:cNvSpPr/>
          <p:nvPr/>
        </p:nvSpPr>
        <p:spPr>
          <a:xfrm>
            <a:off x="4270248" y="3337560"/>
            <a:ext cx="3547872" cy="82296"/>
          </a:xfrm>
          <a:prstGeom prst="roundRect">
            <a:avLst>
              <a:gd name="adj" fmla="val 44444"/>
            </a:avLst>
          </a:prstGeom>
          <a:solidFill>
            <a:srgbClr val="8541DC"/>
          </a:solidFill>
          <a:ln/>
        </p:spPr>
        <p:txBody>
          <a:bodyPr/>
          <a:lstStyle/>
          <a:p>
            <a:endParaRPr lang="ja-JP" altLang="en-US"/>
          </a:p>
        </p:txBody>
      </p:sp>
      <p:sp>
        <p:nvSpPr>
          <p:cNvPr id="22" name="Text 20"/>
          <p:cNvSpPr/>
          <p:nvPr/>
        </p:nvSpPr>
        <p:spPr>
          <a:xfrm>
            <a:off x="4526280" y="3538728"/>
            <a:ext cx="3063240" cy="36576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地域特化</a:t>
            </a:r>
            <a:endParaRPr lang="en-US" sz="1350" dirty="0"/>
          </a:p>
        </p:txBody>
      </p:sp>
      <p:sp>
        <p:nvSpPr>
          <p:cNvPr id="23" name="Text 21"/>
          <p:cNvSpPr/>
          <p:nvPr/>
        </p:nvSpPr>
        <p:spPr>
          <a:xfrm>
            <a:off x="4526280" y="3941064"/>
            <a:ext cx="3063240" cy="731520"/>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自治体・DMOとの協業実績</a:t>
            </a:r>
            <a:endParaRPr lang="en-US" sz="1050" dirty="0"/>
          </a:p>
        </p:txBody>
      </p:sp>
      <p:sp>
        <p:nvSpPr>
          <p:cNvPr id="24" name="Shape 22"/>
          <p:cNvSpPr/>
          <p:nvPr/>
        </p:nvSpPr>
        <p:spPr>
          <a:xfrm>
            <a:off x="8037576" y="3337560"/>
            <a:ext cx="3547872" cy="1417320"/>
          </a:xfrm>
          <a:prstGeom prst="roundRect">
            <a:avLst>
              <a:gd name="adj" fmla="val 7097"/>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25" name="Shape 23"/>
          <p:cNvSpPr/>
          <p:nvPr/>
        </p:nvSpPr>
        <p:spPr>
          <a:xfrm>
            <a:off x="8037576" y="3337560"/>
            <a:ext cx="3547872" cy="82296"/>
          </a:xfrm>
          <a:prstGeom prst="roundRect">
            <a:avLst>
              <a:gd name="adj" fmla="val 44444"/>
            </a:avLst>
          </a:prstGeom>
          <a:solidFill>
            <a:srgbClr val="8541DC"/>
          </a:solidFill>
          <a:ln/>
        </p:spPr>
        <p:txBody>
          <a:bodyPr/>
          <a:lstStyle/>
          <a:p>
            <a:endParaRPr lang="ja-JP" altLang="en-US"/>
          </a:p>
        </p:txBody>
      </p:sp>
      <p:sp>
        <p:nvSpPr>
          <p:cNvPr id="26" name="Text 24"/>
          <p:cNvSpPr/>
          <p:nvPr/>
        </p:nvSpPr>
        <p:spPr>
          <a:xfrm>
            <a:off x="8293608" y="3538728"/>
            <a:ext cx="3063240" cy="365760"/>
          </a:xfrm>
          <a:prstGeom prst="rect">
            <a:avLst/>
          </a:prstGeom>
          <a:noFill/>
          <a:ln/>
        </p:spPr>
        <p:txBody>
          <a:bodyPr wrap="square" lIns="0" tIns="0" rIns="0" bIns="0" rtlCol="0" anchor="ctr"/>
          <a:lstStyle/>
          <a:p>
            <a:pPr marL="0" indent="0">
              <a:buNone/>
            </a:pPr>
            <a:r>
              <a:rPr lang="en-US" sz="1350" b="1" dirty="0">
                <a:solidFill>
                  <a:srgbClr val="8541DC"/>
                </a:solidFill>
                <a:latin typeface="Noto Sans JP" pitchFamily="34" charset="0"/>
                <a:ea typeface="Noto Sans JP" pitchFamily="34" charset="-122"/>
                <a:cs typeface="Noto Sans JP" pitchFamily="34" charset="-120"/>
              </a:rPr>
              <a:t>訪日マーケ</a:t>
            </a:r>
            <a:endParaRPr lang="en-US" sz="1350" dirty="0"/>
          </a:p>
        </p:txBody>
      </p:sp>
      <p:sp>
        <p:nvSpPr>
          <p:cNvPr id="27" name="Text 25"/>
          <p:cNvSpPr/>
          <p:nvPr/>
        </p:nvSpPr>
        <p:spPr>
          <a:xfrm>
            <a:off x="8293608" y="3941064"/>
            <a:ext cx="3063240" cy="731520"/>
          </a:xfrm>
          <a:prstGeom prst="rect">
            <a:avLst/>
          </a:prstGeom>
          <a:noFill/>
          <a:ln/>
        </p:spPr>
        <p:txBody>
          <a:bodyPr wrap="square" lIns="0" tIns="0" rIns="0" bIns="0" rtlCol="0" anchor="ctr"/>
          <a:lstStyle/>
          <a:p>
            <a:pPr marL="0" indent="0">
              <a:lnSpc>
                <a:spcPct val="125000"/>
              </a:lnSpc>
              <a:buNone/>
            </a:pPr>
            <a:r>
              <a:rPr lang="en-US" sz="1050" dirty="0">
                <a:solidFill>
                  <a:srgbClr val="222222"/>
                </a:solidFill>
                <a:latin typeface="Noto Sans JP" pitchFamily="34" charset="0"/>
                <a:ea typeface="Noto Sans JP" pitchFamily="34" charset="-122"/>
                <a:cs typeface="Noto Sans JP" pitchFamily="34" charset="-120"/>
              </a:rPr>
              <a:t>インバウンドマーケティングパートナー</a:t>
            </a:r>
            <a:endParaRPr lang="en-US" sz="1050" dirty="0"/>
          </a:p>
        </p:txBody>
      </p:sp>
      <p:sp>
        <p:nvSpPr>
          <p:cNvPr id="28" name="Text 26"/>
          <p:cNvSpPr/>
          <p:nvPr/>
        </p:nvSpPr>
        <p:spPr>
          <a:xfrm>
            <a:off x="502920" y="5120640"/>
            <a:ext cx="11183112" cy="365760"/>
          </a:xfrm>
          <a:prstGeom prst="rect">
            <a:avLst/>
          </a:prstGeom>
          <a:noFill/>
          <a:ln/>
        </p:spPr>
        <p:txBody>
          <a:bodyPr wrap="square" lIns="0" tIns="0" rIns="0" bIns="0" rtlCol="0" anchor="ctr"/>
          <a:lstStyle/>
          <a:p>
            <a:pPr marL="0" indent="0" algn="ctr">
              <a:buNone/>
            </a:pPr>
            <a:r>
              <a:rPr lang="en-US" sz="1200" b="1" dirty="0">
                <a:solidFill>
                  <a:srgbClr val="F57527"/>
                </a:solidFill>
                <a:latin typeface="Noto Sans JP" pitchFamily="34" charset="0"/>
                <a:ea typeface="Noto Sans JP" pitchFamily="34" charset="-122"/>
                <a:cs typeface="Noto Sans JP" pitchFamily="34" charset="-120"/>
              </a:rPr>
              <a:t>サービスの強みは独自性が高い。AIに“探してもらえる場所”にエンティティ情報を配置することが急務。</a:t>
            </a:r>
            <a:endParaRPr lang="en-US" sz="1200" dirty="0"/>
          </a:p>
        </p:txBody>
      </p:sp>
      <p:sp>
        <p:nvSpPr>
          <p:cNvPr id="29" name="Text 27"/>
          <p:cNvSpPr/>
          <p:nvPr/>
        </p:nvSpPr>
        <p:spPr>
          <a:xfrm>
            <a:off x="502920" y="5989320"/>
            <a:ext cx="10972800" cy="274320"/>
          </a:xfrm>
          <a:prstGeom prst="rect">
            <a:avLst/>
          </a:prstGeom>
          <a:noFill/>
          <a:ln/>
        </p:spPr>
        <p:txBody>
          <a:bodyPr wrap="square" lIns="0" tIns="0" rIns="0" bIns="0" rtlCol="0" anchor="ctr"/>
          <a:lstStyle/>
          <a:p>
            <a:pPr marL="0" indent="0">
              <a:buNone/>
            </a:pPr>
            <a:r>
              <a:rPr lang="en-US" sz="900" dirty="0">
                <a:solidFill>
                  <a:srgbClr val="8A8F98"/>
                </a:solidFill>
                <a:latin typeface="Noto Sans JP" pitchFamily="34" charset="0"/>
                <a:ea typeface="Noto Sans JP" pitchFamily="34" charset="-122"/>
                <a:cs typeface="Noto Sans JP" pitchFamily="34" charset="-120"/>
              </a:rPr>
              <a:t>🔵 クロール（自社サイト・公開情報）</a:t>
            </a:r>
            <a:endParaRPr lang="en-US" sz="900" dirty="0"/>
          </a:p>
        </p:txBody>
      </p:sp>
      <p:sp>
        <p:nvSpPr>
          <p:cNvPr id="30" name="Text 28"/>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1" name="Text 29"/>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04</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戦略提言（4つの柱）</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最初に取り組むべき方向性。</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STRATEGY — 4つの柱</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事実をふまえた対策の方向性</a:t>
            </a:r>
            <a:endParaRPr lang="en-US" sz="2500" dirty="0"/>
          </a:p>
        </p:txBody>
      </p:sp>
      <p:sp>
        <p:nvSpPr>
          <p:cNvPr id="4" name="Shape 2"/>
          <p:cNvSpPr/>
          <p:nvPr/>
        </p:nvSpPr>
        <p:spPr>
          <a:xfrm>
            <a:off x="502920"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5" name="Shape 3"/>
          <p:cNvSpPr/>
          <p:nvPr/>
        </p:nvSpPr>
        <p:spPr>
          <a:xfrm>
            <a:off x="502920" y="1947672"/>
            <a:ext cx="82296" cy="1371600"/>
          </a:xfrm>
          <a:prstGeom prst="roundRect">
            <a:avLst>
              <a:gd name="adj" fmla="val 44444"/>
            </a:avLst>
          </a:prstGeom>
          <a:solidFill>
            <a:srgbClr val="F57527"/>
          </a:solidFill>
          <a:ln/>
        </p:spPr>
        <p:txBody>
          <a:bodyPr/>
          <a:lstStyle/>
          <a:p>
            <a:endParaRPr lang="ja-JP" altLang="en-US"/>
          </a:p>
        </p:txBody>
      </p:sp>
      <p:sp>
        <p:nvSpPr>
          <p:cNvPr id="6" name="Text 4"/>
          <p:cNvSpPr/>
          <p:nvPr/>
        </p:nvSpPr>
        <p:spPr>
          <a:xfrm>
            <a:off x="822960" y="1874520"/>
            <a:ext cx="1097280" cy="320040"/>
          </a:xfrm>
          <a:prstGeom prst="rect">
            <a:avLst/>
          </a:prstGeom>
          <a:noFill/>
          <a:ln/>
        </p:spPr>
        <p:txBody>
          <a:bodyPr wrap="square" lIns="0" tIns="0" rIns="0" bIns="0" rtlCol="0" anchor="ctr"/>
          <a:lstStyle/>
          <a:p>
            <a:pPr marL="0" indent="0">
              <a:buNone/>
            </a:pPr>
            <a:r>
              <a:rPr lang="en-US" sz="1200" b="1" dirty="0">
                <a:solidFill>
                  <a:srgbClr val="F57527"/>
                </a:solidFill>
                <a:latin typeface="Noto Sans JP" pitchFamily="34" charset="0"/>
                <a:ea typeface="Noto Sans JP" pitchFamily="34" charset="-122"/>
                <a:cs typeface="Noto Sans JP" pitchFamily="34" charset="-120"/>
              </a:rPr>
              <a:t>柱1</a:t>
            </a:r>
            <a:endParaRPr lang="en-US" sz="1200" dirty="0"/>
          </a:p>
        </p:txBody>
      </p:sp>
      <p:sp>
        <p:nvSpPr>
          <p:cNvPr id="7" name="Shape 5"/>
          <p:cNvSpPr/>
          <p:nvPr/>
        </p:nvSpPr>
        <p:spPr>
          <a:xfrm>
            <a:off x="4160520" y="1874520"/>
            <a:ext cx="1554480" cy="310896"/>
          </a:xfrm>
          <a:prstGeom prst="roundRect">
            <a:avLst>
              <a:gd name="adj" fmla="val 50000"/>
            </a:avLst>
          </a:prstGeom>
          <a:solidFill>
            <a:srgbClr val="FDE9DA"/>
          </a:solidFill>
          <a:ln/>
        </p:spPr>
        <p:txBody>
          <a:bodyPr/>
          <a:lstStyle/>
          <a:p>
            <a:endParaRPr lang="ja-JP" altLang="en-US"/>
          </a:p>
        </p:txBody>
      </p:sp>
      <p:sp>
        <p:nvSpPr>
          <p:cNvPr id="8" name="Text 6"/>
          <p:cNvSpPr/>
          <p:nvPr/>
        </p:nvSpPr>
        <p:spPr>
          <a:xfrm>
            <a:off x="4114800" y="1856232"/>
            <a:ext cx="1645920" cy="347472"/>
          </a:xfrm>
          <a:prstGeom prst="rect">
            <a:avLst/>
          </a:prstGeom>
          <a:noFill/>
          <a:ln/>
        </p:spPr>
        <p:txBody>
          <a:bodyPr wrap="square" lIns="0" tIns="0" rIns="0" bIns="0" rtlCol="0" anchor="ctr"/>
          <a:lstStyle/>
          <a:p>
            <a:pPr marL="0" indent="0" algn="ctr">
              <a:buNone/>
            </a:pPr>
            <a:r>
              <a:rPr lang="en-US" sz="1050" b="1" dirty="0">
                <a:solidFill>
                  <a:srgbClr val="F57527"/>
                </a:solidFill>
                <a:latin typeface="Noto Sans JP" pitchFamily="34" charset="0"/>
                <a:ea typeface="Noto Sans JP" pitchFamily="34" charset="-122"/>
                <a:cs typeface="Noto Sans JP" pitchFamily="34" charset="-120"/>
              </a:rPr>
              <a:t>即効性 高</a:t>
            </a:r>
            <a:endParaRPr lang="en-US" sz="1050" dirty="0"/>
          </a:p>
        </p:txBody>
      </p:sp>
      <p:sp>
        <p:nvSpPr>
          <p:cNvPr id="9" name="Text 7"/>
          <p:cNvSpPr/>
          <p:nvPr/>
        </p:nvSpPr>
        <p:spPr>
          <a:xfrm>
            <a:off x="822960" y="219456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エンティティ確立—AIへの正確な認識登録</a:t>
            </a:r>
            <a:endParaRPr lang="en-US" sz="1350" dirty="0"/>
          </a:p>
        </p:txBody>
      </p:sp>
      <p:sp>
        <p:nvSpPr>
          <p:cNvPr id="10" name="Text 8"/>
          <p:cNvSpPr/>
          <p:nvPr/>
        </p:nvSpPr>
        <p:spPr>
          <a:xfrm>
            <a:off x="822960" y="265176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Googleナレッジパネル申請・Wikidata登録・業界団体プロフィール整備。「Onwords＝インバウンド×観光DX支援会社」というエンティティをAIが認識できる情報源を構築する。ブランド誤認（英会話・衣料品）を解消する最優先施策。</a:t>
            </a:r>
            <a:endParaRPr lang="en-US" sz="1000" dirty="0"/>
          </a:p>
        </p:txBody>
      </p:sp>
      <p:sp>
        <p:nvSpPr>
          <p:cNvPr id="11" name="Shape 9"/>
          <p:cNvSpPr/>
          <p:nvPr/>
        </p:nvSpPr>
        <p:spPr>
          <a:xfrm>
            <a:off x="6245352" y="169164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2" name="Shape 10"/>
          <p:cNvSpPr/>
          <p:nvPr/>
        </p:nvSpPr>
        <p:spPr>
          <a:xfrm>
            <a:off x="6245352" y="1947672"/>
            <a:ext cx="82296" cy="1371600"/>
          </a:xfrm>
          <a:prstGeom prst="roundRect">
            <a:avLst>
              <a:gd name="adj" fmla="val 44444"/>
            </a:avLst>
          </a:prstGeom>
          <a:solidFill>
            <a:srgbClr val="8541DC"/>
          </a:solidFill>
          <a:ln/>
        </p:spPr>
        <p:txBody>
          <a:bodyPr/>
          <a:lstStyle/>
          <a:p>
            <a:endParaRPr lang="ja-JP" altLang="en-US"/>
          </a:p>
        </p:txBody>
      </p:sp>
      <p:sp>
        <p:nvSpPr>
          <p:cNvPr id="13" name="Text 11"/>
          <p:cNvSpPr/>
          <p:nvPr/>
        </p:nvSpPr>
        <p:spPr>
          <a:xfrm>
            <a:off x="6565392" y="1874520"/>
            <a:ext cx="1097280" cy="320040"/>
          </a:xfrm>
          <a:prstGeom prst="rect">
            <a:avLst/>
          </a:prstGeom>
          <a:noFill/>
          <a:ln/>
        </p:spPr>
        <p:txBody>
          <a:bodyPr wrap="square" lIns="0" tIns="0" rIns="0" bIns="0" rtlCol="0" anchor="ctr"/>
          <a:lstStyle/>
          <a:p>
            <a:pPr marL="0" indent="0">
              <a:buNone/>
            </a:pPr>
            <a:r>
              <a:rPr lang="en-US" sz="1200" b="1" dirty="0">
                <a:solidFill>
                  <a:srgbClr val="8541DC"/>
                </a:solidFill>
                <a:latin typeface="Noto Sans JP" pitchFamily="34" charset="0"/>
                <a:ea typeface="Noto Sans JP" pitchFamily="34" charset="-122"/>
                <a:cs typeface="Noto Sans JP" pitchFamily="34" charset="-120"/>
              </a:rPr>
              <a:t>柱2</a:t>
            </a:r>
            <a:endParaRPr lang="en-US" sz="1200" dirty="0"/>
          </a:p>
        </p:txBody>
      </p:sp>
      <p:sp>
        <p:nvSpPr>
          <p:cNvPr id="14" name="Shape 12"/>
          <p:cNvSpPr/>
          <p:nvPr/>
        </p:nvSpPr>
        <p:spPr>
          <a:xfrm>
            <a:off x="9902952" y="1874520"/>
            <a:ext cx="1554480" cy="310896"/>
          </a:xfrm>
          <a:prstGeom prst="roundRect">
            <a:avLst>
              <a:gd name="adj" fmla="val 50000"/>
            </a:avLst>
          </a:prstGeom>
          <a:solidFill>
            <a:srgbClr val="F0E6FC"/>
          </a:solidFill>
          <a:ln/>
        </p:spPr>
        <p:txBody>
          <a:bodyPr/>
          <a:lstStyle/>
          <a:p>
            <a:endParaRPr lang="ja-JP" altLang="en-US"/>
          </a:p>
        </p:txBody>
      </p:sp>
      <p:sp>
        <p:nvSpPr>
          <p:cNvPr id="15" name="Text 13"/>
          <p:cNvSpPr/>
          <p:nvPr/>
        </p:nvSpPr>
        <p:spPr>
          <a:xfrm>
            <a:off x="9857232" y="1856232"/>
            <a:ext cx="1645920" cy="347472"/>
          </a:xfrm>
          <a:prstGeom prst="rect">
            <a:avLst/>
          </a:prstGeom>
          <a:noFill/>
          <a:ln/>
        </p:spPr>
        <p:txBody>
          <a:bodyPr wrap="square" lIns="0" tIns="0" rIns="0" bIns="0" rtlCol="0" anchor="ctr"/>
          <a:lstStyle/>
          <a:p>
            <a:pPr marL="0" indent="0" algn="ctr">
              <a:buNone/>
            </a:pPr>
            <a:r>
              <a:rPr lang="en-US" sz="1050" b="1" dirty="0">
                <a:solidFill>
                  <a:srgbClr val="8541DC"/>
                </a:solidFill>
                <a:latin typeface="Noto Sans JP" pitchFamily="34" charset="0"/>
                <a:ea typeface="Noto Sans JP" pitchFamily="34" charset="-122"/>
                <a:cs typeface="Noto Sans JP" pitchFamily="34" charset="-120"/>
              </a:rPr>
              <a:t>即効性 高</a:t>
            </a:r>
            <a:endParaRPr lang="en-US" sz="1050" dirty="0"/>
          </a:p>
        </p:txBody>
      </p:sp>
      <p:sp>
        <p:nvSpPr>
          <p:cNvPr id="16" name="Text 14"/>
          <p:cNvSpPr/>
          <p:nvPr/>
        </p:nvSpPr>
        <p:spPr>
          <a:xfrm>
            <a:off x="6565392" y="219456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第三者メディア掲載—AIが引用できる情報源を作る</a:t>
            </a:r>
            <a:endParaRPr lang="en-US" sz="1350" dirty="0"/>
          </a:p>
        </p:txBody>
      </p:sp>
      <p:sp>
        <p:nvSpPr>
          <p:cNvPr id="17" name="Text 15"/>
          <p:cNvSpPr/>
          <p:nvPr/>
        </p:nvSpPr>
        <p:spPr>
          <a:xfrm>
            <a:off x="6565392" y="265176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インバウンド支援会社比較メディア・SaaS比較サイト・地方創生系メディアへの掲載。「ライフペッパー比較」「MATCHA比較」「観光DX支援会社おすすめ」のカテゴリへの登録を優先する。</a:t>
            </a:r>
            <a:endParaRPr lang="en-US" sz="1000" dirty="0"/>
          </a:p>
        </p:txBody>
      </p:sp>
      <p:sp>
        <p:nvSpPr>
          <p:cNvPr id="18" name="Shape 16"/>
          <p:cNvSpPr/>
          <p:nvPr/>
        </p:nvSpPr>
        <p:spPr>
          <a:xfrm>
            <a:off x="502920"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19" name="Shape 17"/>
          <p:cNvSpPr/>
          <p:nvPr/>
        </p:nvSpPr>
        <p:spPr>
          <a:xfrm>
            <a:off x="502920" y="4096512"/>
            <a:ext cx="82296" cy="1371600"/>
          </a:xfrm>
          <a:prstGeom prst="roundRect">
            <a:avLst>
              <a:gd name="adj" fmla="val 44444"/>
            </a:avLst>
          </a:prstGeom>
          <a:solidFill>
            <a:srgbClr val="6A2FB8"/>
          </a:solidFill>
          <a:ln/>
        </p:spPr>
        <p:txBody>
          <a:bodyPr/>
          <a:lstStyle/>
          <a:p>
            <a:endParaRPr lang="ja-JP" altLang="en-US"/>
          </a:p>
        </p:txBody>
      </p:sp>
      <p:sp>
        <p:nvSpPr>
          <p:cNvPr id="20" name="Text 18"/>
          <p:cNvSpPr/>
          <p:nvPr/>
        </p:nvSpPr>
        <p:spPr>
          <a:xfrm>
            <a:off x="822960" y="4023360"/>
            <a:ext cx="1097280" cy="320040"/>
          </a:xfrm>
          <a:prstGeom prst="rect">
            <a:avLst/>
          </a:prstGeom>
          <a:noFill/>
          <a:ln/>
        </p:spPr>
        <p:txBody>
          <a:bodyPr wrap="square" lIns="0" tIns="0" rIns="0" bIns="0" rtlCol="0" anchor="ctr"/>
          <a:lstStyle/>
          <a:p>
            <a:pPr marL="0" indent="0">
              <a:buNone/>
            </a:pPr>
            <a:r>
              <a:rPr lang="en-US" sz="1200" b="1" dirty="0">
                <a:solidFill>
                  <a:srgbClr val="6A2FB8"/>
                </a:solidFill>
                <a:latin typeface="Noto Sans JP" pitchFamily="34" charset="0"/>
                <a:ea typeface="Noto Sans JP" pitchFamily="34" charset="-122"/>
                <a:cs typeface="Noto Sans JP" pitchFamily="34" charset="-120"/>
              </a:rPr>
              <a:t>柱3</a:t>
            </a:r>
            <a:endParaRPr lang="en-US" sz="1200" dirty="0"/>
          </a:p>
        </p:txBody>
      </p:sp>
      <p:sp>
        <p:nvSpPr>
          <p:cNvPr id="21" name="Shape 19"/>
          <p:cNvSpPr/>
          <p:nvPr/>
        </p:nvSpPr>
        <p:spPr>
          <a:xfrm>
            <a:off x="4160520" y="4023360"/>
            <a:ext cx="1554480" cy="310896"/>
          </a:xfrm>
          <a:prstGeom prst="roundRect">
            <a:avLst>
              <a:gd name="adj" fmla="val 50000"/>
            </a:avLst>
          </a:prstGeom>
          <a:solidFill>
            <a:srgbClr val="F0E6FC"/>
          </a:solidFill>
          <a:ln/>
        </p:spPr>
        <p:txBody>
          <a:bodyPr/>
          <a:lstStyle/>
          <a:p>
            <a:endParaRPr lang="ja-JP" altLang="en-US"/>
          </a:p>
        </p:txBody>
      </p:sp>
      <p:sp>
        <p:nvSpPr>
          <p:cNvPr id="22" name="Text 20"/>
          <p:cNvSpPr/>
          <p:nvPr/>
        </p:nvSpPr>
        <p:spPr>
          <a:xfrm>
            <a:off x="4114800" y="4005072"/>
            <a:ext cx="1645920" cy="347472"/>
          </a:xfrm>
          <a:prstGeom prst="rect">
            <a:avLst/>
          </a:prstGeom>
          <a:noFill/>
          <a:ln/>
        </p:spPr>
        <p:txBody>
          <a:bodyPr wrap="square" lIns="0" tIns="0" rIns="0" bIns="0" rtlCol="0" anchor="ctr"/>
          <a:lstStyle/>
          <a:p>
            <a:pPr marL="0" indent="0" algn="ctr">
              <a:buNone/>
            </a:pPr>
            <a:r>
              <a:rPr lang="en-US" sz="1050" b="1" dirty="0">
                <a:solidFill>
                  <a:srgbClr val="6A2FB8"/>
                </a:solidFill>
                <a:latin typeface="Noto Sans JP" pitchFamily="34" charset="0"/>
                <a:ea typeface="Noto Sans JP" pitchFamily="34" charset="-122"/>
                <a:cs typeface="Noto Sans JP" pitchFamily="34" charset="-120"/>
              </a:rPr>
              <a:t>基盤整備</a:t>
            </a:r>
            <a:endParaRPr lang="en-US" sz="1050" dirty="0"/>
          </a:p>
        </p:txBody>
      </p:sp>
      <p:sp>
        <p:nvSpPr>
          <p:cNvPr id="23" name="Text 21"/>
          <p:cNvSpPr/>
          <p:nvPr/>
        </p:nvSpPr>
        <p:spPr>
          <a:xfrm>
            <a:off x="822960" y="434340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競合比較・乗り換えコンテンツの整備</a:t>
            </a:r>
            <a:endParaRPr lang="en-US" sz="1350" dirty="0"/>
          </a:p>
        </p:txBody>
      </p:sp>
      <p:sp>
        <p:nvSpPr>
          <p:cNvPr id="24" name="Text 22"/>
          <p:cNvSpPr/>
          <p:nvPr/>
        </p:nvSpPr>
        <p:spPr>
          <a:xfrm>
            <a:off x="822960" y="480060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「MATCHAとの違い」「ライフペッパーとの違い」「Onwordsを選ぶ理由」の比較解説ページを自社サイトに設置。FAQ構造化データ（スキーマ）を実装しAIの引用精度を上げる。</a:t>
            </a:r>
            <a:endParaRPr lang="en-US" sz="1000" dirty="0"/>
          </a:p>
        </p:txBody>
      </p:sp>
      <p:sp>
        <p:nvSpPr>
          <p:cNvPr id="25" name="Shape 23"/>
          <p:cNvSpPr/>
          <p:nvPr/>
        </p:nvSpPr>
        <p:spPr>
          <a:xfrm>
            <a:off x="6245352" y="3840480"/>
            <a:ext cx="5440680" cy="1920240"/>
          </a:xfrm>
          <a:prstGeom prst="roundRect">
            <a:avLst>
              <a:gd name="adj" fmla="val 5238"/>
            </a:avLst>
          </a:prstGeom>
          <a:solidFill>
            <a:srgbClr val="FFFFFF"/>
          </a:solidFill>
          <a:ln w="12700">
            <a:solidFill>
              <a:srgbClr val="E5E5EA"/>
            </a:solidFill>
            <a:prstDash val="solid"/>
          </a:ln>
          <a:effectLst>
            <a:outerShdw blurRad="101600" dist="38100" dir="5400000" algn="bl" rotWithShape="0">
              <a:srgbClr val="8541DC">
                <a:alpha val="18000"/>
              </a:srgbClr>
            </a:outerShdw>
          </a:effectLst>
        </p:spPr>
        <p:txBody>
          <a:bodyPr/>
          <a:lstStyle/>
          <a:p>
            <a:endParaRPr lang="ja-JP" altLang="en-US"/>
          </a:p>
        </p:txBody>
      </p:sp>
      <p:sp>
        <p:nvSpPr>
          <p:cNvPr id="26" name="Shape 24"/>
          <p:cNvSpPr/>
          <p:nvPr/>
        </p:nvSpPr>
        <p:spPr>
          <a:xfrm>
            <a:off x="6245352" y="4096512"/>
            <a:ext cx="82296" cy="1371600"/>
          </a:xfrm>
          <a:prstGeom prst="roundRect">
            <a:avLst>
              <a:gd name="adj" fmla="val 44444"/>
            </a:avLst>
          </a:prstGeom>
          <a:solidFill>
            <a:srgbClr val="4A1F87"/>
          </a:solidFill>
          <a:ln/>
        </p:spPr>
        <p:txBody>
          <a:bodyPr/>
          <a:lstStyle/>
          <a:p>
            <a:endParaRPr lang="ja-JP" altLang="en-US"/>
          </a:p>
        </p:txBody>
      </p:sp>
      <p:sp>
        <p:nvSpPr>
          <p:cNvPr id="27" name="Text 25"/>
          <p:cNvSpPr/>
          <p:nvPr/>
        </p:nvSpPr>
        <p:spPr>
          <a:xfrm>
            <a:off x="6565392" y="4023360"/>
            <a:ext cx="1097280" cy="320040"/>
          </a:xfrm>
          <a:prstGeom prst="rect">
            <a:avLst/>
          </a:prstGeom>
          <a:noFill/>
          <a:ln/>
        </p:spPr>
        <p:txBody>
          <a:bodyPr wrap="square" lIns="0" tIns="0" rIns="0" bIns="0" rtlCol="0" anchor="ctr"/>
          <a:lstStyle/>
          <a:p>
            <a:pPr marL="0" indent="0">
              <a:buNone/>
            </a:pPr>
            <a:r>
              <a:rPr lang="en-US" sz="1200" b="1" dirty="0">
                <a:solidFill>
                  <a:srgbClr val="4A1F87"/>
                </a:solidFill>
                <a:latin typeface="Noto Sans JP" pitchFamily="34" charset="0"/>
                <a:ea typeface="Noto Sans JP" pitchFamily="34" charset="-122"/>
                <a:cs typeface="Noto Sans JP" pitchFamily="34" charset="-120"/>
              </a:rPr>
              <a:t>柱4</a:t>
            </a:r>
            <a:endParaRPr lang="en-US" sz="1200" dirty="0"/>
          </a:p>
        </p:txBody>
      </p:sp>
      <p:sp>
        <p:nvSpPr>
          <p:cNvPr id="28" name="Shape 26"/>
          <p:cNvSpPr/>
          <p:nvPr/>
        </p:nvSpPr>
        <p:spPr>
          <a:xfrm>
            <a:off x="9902952" y="4023360"/>
            <a:ext cx="1554480" cy="310896"/>
          </a:xfrm>
          <a:prstGeom prst="roundRect">
            <a:avLst>
              <a:gd name="adj" fmla="val 50000"/>
            </a:avLst>
          </a:prstGeom>
          <a:solidFill>
            <a:srgbClr val="F0E6FC"/>
          </a:solidFill>
          <a:ln/>
        </p:spPr>
        <p:txBody>
          <a:bodyPr/>
          <a:lstStyle/>
          <a:p>
            <a:endParaRPr lang="ja-JP" altLang="en-US"/>
          </a:p>
        </p:txBody>
      </p:sp>
      <p:sp>
        <p:nvSpPr>
          <p:cNvPr id="29" name="Text 27"/>
          <p:cNvSpPr/>
          <p:nvPr/>
        </p:nvSpPr>
        <p:spPr>
          <a:xfrm>
            <a:off x="9857232" y="4005072"/>
            <a:ext cx="1645920" cy="347472"/>
          </a:xfrm>
          <a:prstGeom prst="rect">
            <a:avLst/>
          </a:prstGeom>
          <a:noFill/>
          <a:ln/>
        </p:spPr>
        <p:txBody>
          <a:bodyPr wrap="square" lIns="0" tIns="0" rIns="0" bIns="0" rtlCol="0" anchor="ctr"/>
          <a:lstStyle/>
          <a:p>
            <a:pPr marL="0" indent="0" algn="ctr">
              <a:buNone/>
            </a:pPr>
            <a:r>
              <a:rPr lang="en-US" sz="1050" b="1" dirty="0">
                <a:solidFill>
                  <a:srgbClr val="4A1F87"/>
                </a:solidFill>
                <a:latin typeface="Noto Sans JP" pitchFamily="34" charset="0"/>
                <a:ea typeface="Noto Sans JP" pitchFamily="34" charset="-122"/>
                <a:cs typeface="Noto Sans JP" pitchFamily="34" charset="-120"/>
              </a:rPr>
              <a:t>即効性 最高</a:t>
            </a:r>
            <a:endParaRPr lang="en-US" sz="1050" dirty="0"/>
          </a:p>
        </p:txBody>
      </p:sp>
      <p:sp>
        <p:nvSpPr>
          <p:cNvPr id="30" name="Text 28"/>
          <p:cNvSpPr/>
          <p:nvPr/>
        </p:nvSpPr>
        <p:spPr>
          <a:xfrm>
            <a:off x="6565392" y="4343400"/>
            <a:ext cx="4846320" cy="457200"/>
          </a:xfrm>
          <a:prstGeom prst="rect">
            <a:avLst/>
          </a:prstGeom>
          <a:noFill/>
          <a:ln/>
        </p:spPr>
        <p:txBody>
          <a:bodyPr wrap="square" lIns="0" tIns="0" rIns="0" bIns="0" rtlCol="0" anchor="ctr"/>
          <a:lstStyle/>
          <a:p>
            <a:pPr marL="0" indent="0">
              <a:lnSpc>
                <a:spcPct val="110000"/>
              </a:lnSpc>
              <a:buNone/>
            </a:pPr>
            <a:r>
              <a:rPr lang="en-US" sz="1350" b="1" dirty="0">
                <a:solidFill>
                  <a:srgbClr val="222222"/>
                </a:solidFill>
                <a:latin typeface="Noto Sans JP" pitchFamily="34" charset="0"/>
                <a:ea typeface="Noto Sans JP" pitchFamily="34" charset="-122"/>
                <a:cs typeface="Noto Sans JP" pitchFamily="34" charset="-120"/>
              </a:rPr>
              <a:t>ステージング環境の即時noindex対応</a:t>
            </a:r>
            <a:endParaRPr lang="en-US" sz="1350" dirty="0"/>
          </a:p>
        </p:txBody>
      </p:sp>
      <p:sp>
        <p:nvSpPr>
          <p:cNvPr id="31" name="Text 29"/>
          <p:cNvSpPr/>
          <p:nvPr/>
        </p:nvSpPr>
        <p:spPr>
          <a:xfrm>
            <a:off x="6565392" y="4800600"/>
            <a:ext cx="4892040" cy="868680"/>
          </a:xfrm>
          <a:prstGeom prst="rect">
            <a:avLst/>
          </a:prstGeom>
          <a:noFill/>
          <a:ln/>
        </p:spPr>
        <p:txBody>
          <a:bodyPr wrap="square" lIns="0" tIns="0" rIns="0" bIns="0" rtlCol="0" anchor="ctr"/>
          <a:lstStyle/>
          <a:p>
            <a:pPr marL="0" indent="0">
              <a:lnSpc>
                <a:spcPct val="128000"/>
              </a:lnSpc>
              <a:buNone/>
            </a:pPr>
            <a:r>
              <a:rPr lang="en-US" sz="1000" dirty="0">
                <a:solidFill>
                  <a:srgbClr val="555A63"/>
                </a:solidFill>
                <a:latin typeface="Noto Sans JP" pitchFamily="34" charset="0"/>
                <a:ea typeface="Noto Sans JP" pitchFamily="34" charset="-122"/>
                <a:cs typeface="Noto Sans JP" pitchFamily="34" charset="-120"/>
              </a:rPr>
              <a:t>stg.onwords.co.jpにnoindex/nofollow設定を追加し、本番サイトとの混同引用を防ぐ。robots.txtとmeta robotsの両方で対応。AIが誤った情報を引用するリスクを即座に排除する。</a:t>
            </a:r>
            <a:endParaRPr lang="en-US" sz="1000" dirty="0"/>
          </a:p>
        </p:txBody>
      </p:sp>
      <p:sp>
        <p:nvSpPr>
          <p:cNvPr id="32" name="Text 30"/>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33" name="Text 31"/>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ROADMAP — 道筋</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効果が出るまでのロードマップ</a:t>
            </a:r>
            <a:endParaRPr lang="en-US" sz="2500" dirty="0"/>
          </a:p>
        </p:txBody>
      </p:sp>
      <p:sp>
        <p:nvSpPr>
          <p:cNvPr id="4" name="Shape 2"/>
          <p:cNvSpPr/>
          <p:nvPr/>
        </p:nvSpPr>
        <p:spPr>
          <a:xfrm>
            <a:off x="502920" y="1737360"/>
            <a:ext cx="3538728" cy="384048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5" name="Shape 3"/>
          <p:cNvSpPr/>
          <p:nvPr/>
        </p:nvSpPr>
        <p:spPr>
          <a:xfrm>
            <a:off x="502920" y="1737360"/>
            <a:ext cx="3538728" cy="82296"/>
          </a:xfrm>
          <a:prstGeom prst="roundRect">
            <a:avLst>
              <a:gd name="adj" fmla="val 44444"/>
            </a:avLst>
          </a:prstGeom>
          <a:solidFill>
            <a:srgbClr val="F57527"/>
          </a:solidFill>
          <a:ln/>
        </p:spPr>
        <p:txBody>
          <a:bodyPr/>
          <a:lstStyle/>
          <a:p>
            <a:endParaRPr lang="ja-JP" altLang="en-US"/>
          </a:p>
        </p:txBody>
      </p:sp>
      <p:sp>
        <p:nvSpPr>
          <p:cNvPr id="6" name="Text 4"/>
          <p:cNvSpPr/>
          <p:nvPr/>
        </p:nvSpPr>
        <p:spPr>
          <a:xfrm>
            <a:off x="731520" y="1965960"/>
            <a:ext cx="3108960" cy="365760"/>
          </a:xfrm>
          <a:prstGeom prst="rect">
            <a:avLst/>
          </a:prstGeom>
          <a:noFill/>
          <a:ln/>
        </p:spPr>
        <p:txBody>
          <a:bodyPr wrap="square" lIns="0" tIns="0" rIns="0" bIns="0" rtlCol="0" anchor="ctr"/>
          <a:lstStyle/>
          <a:p>
            <a:pPr marL="0" indent="0">
              <a:buNone/>
            </a:pPr>
            <a:r>
              <a:rPr lang="en-US" sz="1250" b="1" dirty="0">
                <a:solidFill>
                  <a:srgbClr val="F57527"/>
                </a:solidFill>
                <a:latin typeface="Noto Sans JP" pitchFamily="34" charset="0"/>
                <a:ea typeface="Noto Sans JP" pitchFamily="34" charset="-122"/>
                <a:cs typeface="Noto Sans JP" pitchFamily="34" charset="-120"/>
              </a:rPr>
              <a:t>短期（〜1–2ヶ月）</a:t>
            </a:r>
            <a:endParaRPr lang="en-US" sz="1250" dirty="0"/>
          </a:p>
        </p:txBody>
      </p:sp>
      <p:sp>
        <p:nvSpPr>
          <p:cNvPr id="7" name="Text 5"/>
          <p:cNvSpPr/>
          <p:nvPr/>
        </p:nvSpPr>
        <p:spPr>
          <a:xfrm>
            <a:off x="731520" y="2423160"/>
            <a:ext cx="3108960" cy="292608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stg.onwords.co.jp のnoindex設定（即時）</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Googleナレッジパネル申請・Wikidata登録</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主要インバウンド支援比較メディアへの掲載申請</a:t>
            </a:r>
            <a:endParaRPr lang="en-US" sz="1030" dirty="0"/>
          </a:p>
        </p:txBody>
      </p:sp>
      <p:sp>
        <p:nvSpPr>
          <p:cNvPr id="8" name="Shape 6"/>
          <p:cNvSpPr/>
          <p:nvPr/>
        </p:nvSpPr>
        <p:spPr>
          <a:xfrm>
            <a:off x="4325112" y="1737360"/>
            <a:ext cx="3538728" cy="384048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9" name="Shape 7"/>
          <p:cNvSpPr/>
          <p:nvPr/>
        </p:nvSpPr>
        <p:spPr>
          <a:xfrm>
            <a:off x="4325112" y="1737360"/>
            <a:ext cx="3538728" cy="82296"/>
          </a:xfrm>
          <a:prstGeom prst="roundRect">
            <a:avLst>
              <a:gd name="adj" fmla="val 44444"/>
            </a:avLst>
          </a:prstGeom>
          <a:solidFill>
            <a:srgbClr val="8541DC"/>
          </a:solidFill>
          <a:ln/>
        </p:spPr>
        <p:txBody>
          <a:bodyPr/>
          <a:lstStyle/>
          <a:p>
            <a:endParaRPr lang="ja-JP" altLang="en-US"/>
          </a:p>
        </p:txBody>
      </p:sp>
      <p:sp>
        <p:nvSpPr>
          <p:cNvPr id="10" name="Text 8"/>
          <p:cNvSpPr/>
          <p:nvPr/>
        </p:nvSpPr>
        <p:spPr>
          <a:xfrm>
            <a:off x="4553712" y="1965960"/>
            <a:ext cx="3108960" cy="36576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中期（3–4ヶ月）</a:t>
            </a:r>
            <a:endParaRPr lang="en-US" sz="1250" dirty="0"/>
          </a:p>
        </p:txBody>
      </p:sp>
      <p:sp>
        <p:nvSpPr>
          <p:cNvPr id="11" name="Text 9"/>
          <p:cNvSpPr/>
          <p:nvPr/>
        </p:nvSpPr>
        <p:spPr>
          <a:xfrm>
            <a:off x="4553712" y="2423160"/>
            <a:ext cx="3108960" cy="292608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「MATCHA比較」「ライフペッパー比較」ページの作成・公開</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FAQ構造化データ（スキーマ）実装・カテゴリ記事整備</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口コミ収集・導入事例の外部展開（自治体・DMO事例）</a:t>
            </a:r>
            <a:endParaRPr lang="en-US" sz="1030" dirty="0"/>
          </a:p>
        </p:txBody>
      </p:sp>
      <p:sp>
        <p:nvSpPr>
          <p:cNvPr id="12" name="Shape 10"/>
          <p:cNvSpPr/>
          <p:nvPr/>
        </p:nvSpPr>
        <p:spPr>
          <a:xfrm>
            <a:off x="8147304" y="1737360"/>
            <a:ext cx="3538728" cy="3840480"/>
          </a:xfrm>
          <a:prstGeom prst="roundRect">
            <a:avLst>
              <a:gd name="adj" fmla="val 2842"/>
            </a:avLst>
          </a:prstGeom>
          <a:solidFill>
            <a:srgbClr val="FFFFFF"/>
          </a:solidFill>
          <a:ln w="12700">
            <a:solidFill>
              <a:srgbClr val="E5E5EA"/>
            </a:solidFill>
            <a:prstDash val="solid"/>
          </a:ln>
        </p:spPr>
        <p:txBody>
          <a:bodyPr/>
          <a:lstStyle/>
          <a:p>
            <a:endParaRPr lang="ja-JP" altLang="en-US"/>
          </a:p>
        </p:txBody>
      </p:sp>
      <p:sp>
        <p:nvSpPr>
          <p:cNvPr id="13" name="Shape 11"/>
          <p:cNvSpPr/>
          <p:nvPr/>
        </p:nvSpPr>
        <p:spPr>
          <a:xfrm>
            <a:off x="8147304" y="1737360"/>
            <a:ext cx="3538728" cy="82296"/>
          </a:xfrm>
          <a:prstGeom prst="roundRect">
            <a:avLst>
              <a:gd name="adj" fmla="val 44444"/>
            </a:avLst>
          </a:prstGeom>
          <a:solidFill>
            <a:srgbClr val="6A2FB8"/>
          </a:solidFill>
          <a:ln/>
        </p:spPr>
        <p:txBody>
          <a:bodyPr/>
          <a:lstStyle/>
          <a:p>
            <a:endParaRPr lang="ja-JP" altLang="en-US"/>
          </a:p>
        </p:txBody>
      </p:sp>
      <p:sp>
        <p:nvSpPr>
          <p:cNvPr id="14" name="Text 12"/>
          <p:cNvSpPr/>
          <p:nvPr/>
        </p:nvSpPr>
        <p:spPr>
          <a:xfrm>
            <a:off x="8375904" y="1965960"/>
            <a:ext cx="3108960" cy="365760"/>
          </a:xfrm>
          <a:prstGeom prst="rect">
            <a:avLst/>
          </a:prstGeom>
          <a:noFill/>
          <a:ln/>
        </p:spPr>
        <p:txBody>
          <a:bodyPr wrap="square" lIns="0" tIns="0" rIns="0" bIns="0" rtlCol="0" anchor="ctr"/>
          <a:lstStyle/>
          <a:p>
            <a:pPr marL="0" indent="0">
              <a:buNone/>
            </a:pPr>
            <a:r>
              <a:rPr lang="en-US" sz="1250" b="1" dirty="0">
                <a:solidFill>
                  <a:srgbClr val="6A2FB8"/>
                </a:solidFill>
                <a:latin typeface="Noto Sans JP" pitchFamily="34" charset="0"/>
                <a:ea typeface="Noto Sans JP" pitchFamily="34" charset="-122"/>
                <a:cs typeface="Noto Sans JP" pitchFamily="34" charset="-120"/>
              </a:rPr>
              <a:t>長期（5ヶ月〜）</a:t>
            </a:r>
            <a:endParaRPr lang="en-US" sz="1250" dirty="0"/>
          </a:p>
        </p:txBody>
      </p:sp>
      <p:sp>
        <p:nvSpPr>
          <p:cNvPr id="15" name="Text 13"/>
          <p:cNvSpPr/>
          <p:nvPr/>
        </p:nvSpPr>
        <p:spPr>
          <a:xfrm>
            <a:off x="8375904" y="2423160"/>
            <a:ext cx="3108960" cy="292608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ブランド想起フェーズでの登場率引き上げ（目標：30%以上）</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情報収集・比較検討フェーズでの登場率引き上げ（目標：20%以上）</a:t>
            </a:r>
            <a:endParaRPr lang="en-US" sz="1030" dirty="0"/>
          </a:p>
          <a:p>
            <a:pPr marL="152400" indent="-152400">
              <a:lnSpc>
                <a:spcPct val="128000"/>
              </a:lnSpc>
              <a:spcAft>
                <a:spcPts val="700"/>
              </a:spcAft>
              <a:buSzPct val="100000"/>
              <a:buChar char="•"/>
            </a:pPr>
            <a:r>
              <a:rPr lang="en-US" sz="1030" dirty="0">
                <a:solidFill>
                  <a:srgbClr val="222222"/>
                </a:solidFill>
                <a:latin typeface="Noto Sans JP" pitchFamily="34" charset="0"/>
                <a:ea typeface="Noto Sans JP" pitchFamily="34" charset="-122"/>
                <a:cs typeface="Noto Sans JP" pitchFamily="34" charset="-120"/>
              </a:rPr>
              <a:t>月次再計測でエンティティ認識の改善を追跡</a:t>
            </a:r>
            <a:endParaRPr lang="en-US" sz="1030" dirty="0"/>
          </a:p>
        </p:txBody>
      </p:sp>
      <p:sp>
        <p:nvSpPr>
          <p:cNvPr id="16" name="Text 14"/>
          <p:cNvSpPr/>
          <p:nvPr/>
        </p:nvSpPr>
        <p:spPr>
          <a:xfrm>
            <a:off x="502920" y="5760720"/>
            <a:ext cx="11183112" cy="365760"/>
          </a:xfrm>
          <a:prstGeom prst="rect">
            <a:avLst/>
          </a:prstGeom>
          <a:noFill/>
          <a:ln/>
        </p:spPr>
        <p:txBody>
          <a:bodyPr wrap="square" lIns="0" tIns="0" rIns="0" bIns="0" rtlCol="0" anchor="ctr"/>
          <a:lstStyle/>
          <a:p>
            <a:pPr marL="0" indent="0" algn="ctr">
              <a:buNone/>
            </a:pPr>
            <a:r>
              <a:rPr lang="en-US" sz="1200" b="1" dirty="0">
                <a:solidFill>
                  <a:srgbClr val="F57527"/>
                </a:solidFill>
                <a:latin typeface="Noto Sans JP" pitchFamily="34" charset="0"/>
                <a:ea typeface="Noto Sans JP" pitchFamily="34" charset="-122"/>
                <a:cs typeface="Noto Sans JP" pitchFamily="34" charset="-120"/>
              </a:rPr>
              <a:t>全域0%は深刻だが、出発点が明確。エンティティ確立＋第三者メディア掲載の2施策を集中実行すれば、3ヶ月以内に数値改善が期待できる。</a:t>
            </a:r>
            <a:endParaRPr lang="en-US" sz="1200" dirty="0"/>
          </a:p>
        </p:txBody>
      </p:sp>
      <p:sp>
        <p:nvSpPr>
          <p:cNvPr id="17" name="Text 15"/>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8" name="Text 16"/>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006736" y="4846814"/>
            <a:ext cx="1133856" cy="1133856"/>
          </a:xfrm>
          <a:prstGeom prst="ellipse">
            <a:avLst/>
          </a:prstGeom>
          <a:solidFill>
            <a:srgbClr val="FFFFFF">
              <a:alpha val="32000"/>
            </a:srgbClr>
          </a:solidFill>
          <a:ln/>
        </p:spPr>
        <p:txBody>
          <a:bodyPr/>
          <a:lstStyle/>
          <a:p>
            <a:endParaRPr lang="ja-JP" altLang="en-US"/>
          </a:p>
        </p:txBody>
      </p:sp>
      <p:sp>
        <p:nvSpPr>
          <p:cNvPr id="3" name="Shape 1"/>
          <p:cNvSpPr/>
          <p:nvPr/>
        </p:nvSpPr>
        <p:spPr>
          <a:xfrm>
            <a:off x="9680753" y="5368388"/>
            <a:ext cx="1133856" cy="1133856"/>
          </a:xfrm>
          <a:prstGeom prst="ellipse">
            <a:avLst/>
          </a:prstGeom>
          <a:solidFill>
            <a:srgbClr val="D9CBF2">
              <a:alpha val="32000"/>
            </a:srgbClr>
          </a:solidFill>
          <a:ln/>
        </p:spPr>
        <p:txBody>
          <a:bodyPr/>
          <a:lstStyle/>
          <a:p>
            <a:endParaRPr lang="ja-JP" altLang="en-US"/>
          </a:p>
        </p:txBody>
      </p:sp>
      <p:sp>
        <p:nvSpPr>
          <p:cNvPr id="4" name="Shape 2"/>
          <p:cNvSpPr/>
          <p:nvPr/>
        </p:nvSpPr>
        <p:spPr>
          <a:xfrm>
            <a:off x="10332720" y="5368388"/>
            <a:ext cx="1133856" cy="1133856"/>
          </a:xfrm>
          <a:prstGeom prst="ellipse">
            <a:avLst/>
          </a:prstGeom>
          <a:solidFill>
            <a:srgbClr val="B49AE6">
              <a:alpha val="32000"/>
            </a:srgbClr>
          </a:solidFill>
          <a:ln/>
        </p:spPr>
        <p:txBody>
          <a:bodyPr/>
          <a:lstStyle/>
          <a:p>
            <a:endParaRPr lang="ja-JP" altLang="en-US"/>
          </a:p>
        </p:txBody>
      </p:sp>
      <p:sp>
        <p:nvSpPr>
          <p:cNvPr id="5" name="Text 3"/>
          <p:cNvSpPr/>
          <p:nvPr/>
        </p:nvSpPr>
        <p:spPr>
          <a:xfrm>
            <a:off x="822960" y="1920240"/>
            <a:ext cx="4572000" cy="822960"/>
          </a:xfrm>
          <a:prstGeom prst="rect">
            <a:avLst/>
          </a:prstGeom>
          <a:noFill/>
          <a:ln/>
        </p:spPr>
        <p:txBody>
          <a:bodyPr wrap="square" lIns="0" tIns="0" rIns="0" bIns="0" rtlCol="0" anchor="ctr"/>
          <a:lstStyle/>
          <a:p>
            <a:pPr marL="0" indent="0">
              <a:buNone/>
            </a:pPr>
            <a:r>
              <a:rPr lang="en-US" sz="4000" b="1" dirty="0">
                <a:solidFill>
                  <a:srgbClr val="8E76C8"/>
                </a:solidFill>
                <a:latin typeface="Noto Sans JP" pitchFamily="34" charset="0"/>
                <a:ea typeface="Noto Sans JP" pitchFamily="34" charset="-122"/>
                <a:cs typeface="Noto Sans JP" pitchFamily="34" charset="-120"/>
              </a:rPr>
              <a:t>05</a:t>
            </a:r>
            <a:endParaRPr lang="en-US" sz="4000" dirty="0"/>
          </a:p>
        </p:txBody>
      </p:sp>
      <p:sp>
        <p:nvSpPr>
          <p:cNvPr id="6" name="Text 4"/>
          <p:cNvSpPr/>
          <p:nvPr/>
        </p:nvSpPr>
        <p:spPr>
          <a:xfrm>
            <a:off x="822960" y="2788920"/>
            <a:ext cx="10424160" cy="914400"/>
          </a:xfrm>
          <a:prstGeom prst="rect">
            <a:avLst/>
          </a:prstGeom>
          <a:noFill/>
          <a:ln/>
        </p:spPr>
        <p:txBody>
          <a:bodyPr wrap="square" lIns="0" tIns="0" rIns="0" bIns="0" rtlCol="0" anchor="ctr"/>
          <a:lstStyle/>
          <a:p>
            <a:pPr marL="0" indent="0">
              <a:lnSpc>
                <a:spcPct val="110000"/>
              </a:lnSpc>
              <a:buNone/>
            </a:pPr>
            <a:r>
              <a:rPr lang="en-US" sz="3300" b="1" dirty="0">
                <a:solidFill>
                  <a:srgbClr val="FFFFFF"/>
                </a:solidFill>
                <a:latin typeface="Noto Sans JP" pitchFamily="34" charset="0"/>
                <a:ea typeface="Noto Sans JP" pitchFamily="34" charset="-122"/>
                <a:cs typeface="Noto Sans JP" pitchFamily="34" charset="-120"/>
              </a:rPr>
              <a:t>AI経由売上の測り方</a:t>
            </a:r>
            <a:endParaRPr lang="en-US" sz="3300" dirty="0"/>
          </a:p>
        </p:txBody>
      </p:sp>
      <p:sp>
        <p:nvSpPr>
          <p:cNvPr id="7" name="Text 5"/>
          <p:cNvSpPr/>
          <p:nvPr/>
        </p:nvSpPr>
        <p:spPr>
          <a:xfrm>
            <a:off x="841248" y="3794760"/>
            <a:ext cx="9875520" cy="822960"/>
          </a:xfrm>
          <a:prstGeom prst="rect">
            <a:avLst/>
          </a:prstGeom>
          <a:noFill/>
          <a:ln/>
        </p:spPr>
        <p:txBody>
          <a:bodyPr wrap="square" lIns="0" tIns="0" rIns="0" bIns="0" rtlCol="0" anchor="ctr"/>
          <a:lstStyle/>
          <a:p>
            <a:pPr marL="0" indent="0">
              <a:lnSpc>
                <a:spcPct val="135000"/>
              </a:lnSpc>
              <a:buNone/>
            </a:pPr>
            <a:r>
              <a:rPr lang="en-US" sz="1400" dirty="0">
                <a:solidFill>
                  <a:srgbClr val="D9CBF2"/>
                </a:solidFill>
                <a:latin typeface="Noto Sans JP" pitchFamily="34" charset="0"/>
                <a:ea typeface="Noto Sans JP" pitchFamily="34" charset="-122"/>
                <a:cs typeface="Noto Sans JP" pitchFamily="34" charset="-120"/>
              </a:rPr>
              <a:t>露出指標で終わらせず、AIが貢献した売上を金額で示す。</a:t>
            </a:r>
            <a:endParaRPr lang="en-US" sz="1400" dirty="0"/>
          </a:p>
        </p:txBody>
      </p:sp>
      <p:sp>
        <p:nvSpPr>
          <p:cNvPr id="8"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
        <p:nvSpPr>
          <p:cNvPr id="9"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B9A7E0"/>
                </a:solidFill>
                <a:latin typeface="Noto Sans JP" pitchFamily="34" charset="0"/>
                <a:ea typeface="Noto Sans JP" pitchFamily="34" charset="-122"/>
                <a:cs typeface="Noto Sans JP"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MEASUREMENT — AI経由売上貢献の算定</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露出で終わらせない。“AIが貢献した売上”を金額で示す</a:t>
            </a:r>
            <a:endParaRPr lang="en-US" sz="2500" dirty="0"/>
          </a:p>
        </p:txBody>
      </p:sp>
      <p:sp>
        <p:nvSpPr>
          <p:cNvPr id="4" name="Shape 2"/>
          <p:cNvSpPr/>
          <p:nvPr/>
        </p:nvSpPr>
        <p:spPr>
          <a:xfrm>
            <a:off x="502920" y="1554480"/>
            <a:ext cx="5532120" cy="2880360"/>
          </a:xfrm>
          <a:prstGeom prst="roundRect">
            <a:avLst>
              <a:gd name="adj" fmla="val 3492"/>
            </a:avLst>
          </a:prstGeom>
          <a:solidFill>
            <a:srgbClr val="F5F5F7"/>
          </a:solidFill>
          <a:ln/>
        </p:spPr>
        <p:txBody>
          <a:bodyPr/>
          <a:lstStyle/>
          <a:p>
            <a:endParaRPr lang="ja-JP" altLang="en-US"/>
          </a:p>
        </p:txBody>
      </p:sp>
      <p:sp>
        <p:nvSpPr>
          <p:cNvPr id="5" name="Text 3"/>
          <p:cNvSpPr/>
          <p:nvPr/>
        </p:nvSpPr>
        <p:spPr>
          <a:xfrm>
            <a:off x="777240" y="1737360"/>
            <a:ext cx="4937760" cy="365760"/>
          </a:xfrm>
          <a:prstGeom prst="rect">
            <a:avLst/>
          </a:prstGeom>
          <a:noFill/>
          <a:ln/>
        </p:spPr>
        <p:txBody>
          <a:bodyPr wrap="square" lIns="0" tIns="0" rIns="0" bIns="0" rtlCol="0" anchor="ctr"/>
          <a:lstStyle/>
          <a:p>
            <a:pPr marL="0" indent="0">
              <a:buNone/>
            </a:pPr>
            <a:r>
              <a:rPr lang="en-US" sz="1250" b="1" dirty="0">
                <a:solidFill>
                  <a:srgbClr val="8541DC"/>
                </a:solidFill>
                <a:latin typeface="Noto Sans JP" pitchFamily="34" charset="0"/>
                <a:ea typeface="Noto Sans JP" pitchFamily="34" charset="-122"/>
                <a:cs typeface="Noto Sans JP" pitchFamily="34" charset="-120"/>
              </a:rPr>
              <a:t>計測方法：問い合わせフォームに2問追加</a:t>
            </a:r>
            <a:endParaRPr lang="en-US" sz="1250" dirty="0"/>
          </a:p>
        </p:txBody>
      </p:sp>
      <p:sp>
        <p:nvSpPr>
          <p:cNvPr id="6" name="Text 4"/>
          <p:cNvSpPr/>
          <p:nvPr/>
        </p:nvSpPr>
        <p:spPr>
          <a:xfrm>
            <a:off x="777240" y="2194560"/>
            <a:ext cx="5029200" cy="155448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Q1. 当社をどこで知ったか（検索／生成AI／比較・一括請求サイト／紹介 等）</a:t>
            </a:r>
            <a:endParaRPr lang="en-US" sz="1100" dirty="0"/>
          </a:p>
          <a:p>
            <a:pPr marL="152400" indent="-152400">
              <a:lnSpc>
                <a:spcPct val="128000"/>
              </a:lnSpc>
              <a:spcAft>
                <a:spcPts val="700"/>
              </a:spcAft>
              <a:buSzPct val="100000"/>
              <a:buChar char="•"/>
            </a:pPr>
            <a:r>
              <a:rPr lang="en-US" sz="1100" dirty="0">
                <a:solidFill>
                  <a:srgbClr val="222222"/>
                </a:solidFill>
                <a:latin typeface="Noto Sans JP" pitchFamily="34" charset="0"/>
                <a:ea typeface="Noto Sans JP" pitchFamily="34" charset="-122"/>
                <a:cs typeface="Noto Sans JP" pitchFamily="34" charset="-120"/>
              </a:rPr>
              <a:t>Q2. 検討に生成AIを使ったか（はい／いいえ）</a:t>
            </a:r>
            <a:endParaRPr lang="en-US" sz="1100" dirty="0"/>
          </a:p>
        </p:txBody>
      </p:sp>
      <p:sp>
        <p:nvSpPr>
          <p:cNvPr id="7" name="Text 5"/>
          <p:cNvSpPr/>
          <p:nvPr/>
        </p:nvSpPr>
        <p:spPr>
          <a:xfrm>
            <a:off x="777240" y="3840480"/>
            <a:ext cx="5029200" cy="457200"/>
          </a:xfrm>
          <a:prstGeom prst="rect">
            <a:avLst/>
          </a:prstGeom>
          <a:noFill/>
          <a:ln/>
        </p:spPr>
        <p:txBody>
          <a:bodyPr wrap="square" lIns="0" tIns="0" rIns="0" bIns="0" rtlCol="0" anchor="ctr"/>
          <a:lstStyle/>
          <a:p>
            <a:pPr marL="0" indent="0">
              <a:lnSpc>
                <a:spcPct val="120000"/>
              </a:lnSpc>
              <a:buNone/>
            </a:pPr>
            <a:r>
              <a:rPr lang="en-US" sz="1050" b="1" dirty="0">
                <a:solidFill>
                  <a:srgbClr val="4A1F87"/>
                </a:solidFill>
                <a:latin typeface="Noto Sans JP" pitchFamily="34" charset="0"/>
                <a:ea typeface="Noto Sans JP" pitchFamily="34" charset="-122"/>
                <a:cs typeface="Noto Sans JP" pitchFamily="34" charset="-120"/>
              </a:rPr>
              <a:t>→ 回答を AI新規認知／AI検討関与／AI非関与 に分類</a:t>
            </a:r>
            <a:endParaRPr lang="en-US" sz="1050" dirty="0"/>
          </a:p>
        </p:txBody>
      </p:sp>
      <p:sp>
        <p:nvSpPr>
          <p:cNvPr id="8" name="Shape 6"/>
          <p:cNvSpPr/>
          <p:nvPr/>
        </p:nvSpPr>
        <p:spPr>
          <a:xfrm>
            <a:off x="6263640" y="1554480"/>
            <a:ext cx="5422392" cy="2880360"/>
          </a:xfrm>
          <a:prstGeom prst="roundRect">
            <a:avLst>
              <a:gd name="adj" fmla="val 3492"/>
            </a:avLst>
          </a:prstGeom>
          <a:solidFill>
            <a:srgbClr val="FFFFFF"/>
          </a:solidFill>
          <a:ln w="12700">
            <a:solidFill>
              <a:srgbClr val="E5E5EA"/>
            </a:solidFill>
            <a:prstDash val="solid"/>
          </a:ln>
        </p:spPr>
        <p:txBody>
          <a:bodyPr/>
          <a:lstStyle/>
          <a:p>
            <a:endParaRPr lang="ja-JP" altLang="en-US"/>
          </a:p>
        </p:txBody>
      </p:sp>
      <p:sp>
        <p:nvSpPr>
          <p:cNvPr id="9" name="Text 7"/>
          <p:cNvSpPr/>
          <p:nvPr/>
        </p:nvSpPr>
        <p:spPr>
          <a:xfrm>
            <a:off x="6537960" y="1737360"/>
            <a:ext cx="4937760" cy="365760"/>
          </a:xfrm>
          <a:prstGeom prst="rect">
            <a:avLst/>
          </a:prstGeom>
          <a:noFill/>
          <a:ln/>
        </p:spPr>
        <p:txBody>
          <a:bodyPr wrap="square" lIns="0" tIns="0" rIns="0" bIns="0" rtlCol="0" anchor="ctr"/>
          <a:lstStyle/>
          <a:p>
            <a:pPr marL="0" indent="0">
              <a:buNone/>
            </a:pPr>
            <a:r>
              <a:rPr lang="en-US" sz="1250" b="1" dirty="0">
                <a:solidFill>
                  <a:srgbClr val="6A2FB8"/>
                </a:solidFill>
                <a:latin typeface="Noto Sans JP" pitchFamily="34" charset="0"/>
                <a:ea typeface="Noto Sans JP" pitchFamily="34" charset="-122"/>
                <a:cs typeface="Noto Sans JP" pitchFamily="34" charset="-120"/>
              </a:rPr>
              <a:t>回答の分類</a:t>
            </a:r>
            <a:endParaRPr lang="en-US" sz="1250" dirty="0"/>
          </a:p>
        </p:txBody>
      </p:sp>
      <p:sp>
        <p:nvSpPr>
          <p:cNvPr id="10" name="Shape 8"/>
          <p:cNvSpPr/>
          <p:nvPr/>
        </p:nvSpPr>
        <p:spPr>
          <a:xfrm>
            <a:off x="6537960" y="2194560"/>
            <a:ext cx="1828800" cy="548640"/>
          </a:xfrm>
          <a:prstGeom prst="roundRect">
            <a:avLst>
              <a:gd name="adj" fmla="val 13333"/>
            </a:avLst>
          </a:prstGeom>
          <a:solidFill>
            <a:srgbClr val="8541DC"/>
          </a:solidFill>
          <a:ln/>
        </p:spPr>
        <p:txBody>
          <a:bodyPr/>
          <a:lstStyle/>
          <a:p>
            <a:endParaRPr lang="ja-JP" altLang="en-US"/>
          </a:p>
        </p:txBody>
      </p:sp>
      <p:sp>
        <p:nvSpPr>
          <p:cNvPr id="11" name="Text 9"/>
          <p:cNvSpPr/>
          <p:nvPr/>
        </p:nvSpPr>
        <p:spPr>
          <a:xfrm>
            <a:off x="6492240" y="2176272"/>
            <a:ext cx="1920240" cy="585216"/>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AI新規認知</a:t>
            </a:r>
            <a:endParaRPr lang="en-US" sz="1050" dirty="0"/>
          </a:p>
        </p:txBody>
      </p:sp>
      <p:sp>
        <p:nvSpPr>
          <p:cNvPr id="12" name="Text 10"/>
          <p:cNvSpPr/>
          <p:nvPr/>
        </p:nvSpPr>
        <p:spPr>
          <a:xfrm>
            <a:off x="8503920" y="2157984"/>
            <a:ext cx="3017520" cy="603504"/>
          </a:xfrm>
          <a:prstGeom prst="rect">
            <a:avLst/>
          </a:prstGeom>
          <a:noFill/>
          <a:ln/>
        </p:spPr>
        <p:txBody>
          <a:bodyPr wrap="square" lIns="0" tIns="0" rIns="0" bIns="0" rtlCol="0" anchor="ctr"/>
          <a:lstStyle/>
          <a:p>
            <a:pPr marL="0" indent="0">
              <a:lnSpc>
                <a:spcPct val="110000"/>
              </a:lnSpc>
              <a:buNone/>
            </a:pPr>
            <a:r>
              <a:rPr lang="en-US" sz="950" dirty="0">
                <a:solidFill>
                  <a:srgbClr val="222222"/>
                </a:solidFill>
                <a:latin typeface="Noto Sans JP" pitchFamily="34" charset="0"/>
                <a:ea typeface="Noto Sans JP" pitchFamily="34" charset="-122"/>
                <a:cs typeface="Noto Sans JP" pitchFamily="34" charset="-120"/>
              </a:rPr>
              <a:t>AIがきっかけで知った
</a:t>
            </a:r>
            <a:endParaRPr lang="en-US" sz="950" dirty="0"/>
          </a:p>
          <a:p>
            <a:pPr marL="0" indent="0">
              <a:lnSpc>
                <a:spcPct val="110000"/>
              </a:lnSpc>
              <a:buNone/>
            </a:pPr>
            <a:r>
              <a:rPr lang="en-US" sz="1000" b="1" dirty="0">
                <a:solidFill>
                  <a:srgbClr val="8541DC"/>
                </a:solidFill>
                <a:latin typeface="Noto Sans JP" pitchFamily="34" charset="0"/>
                <a:ea typeface="Noto Sans JP" pitchFamily="34" charset="-122"/>
                <a:cs typeface="Noto Sans JP" pitchFamily="34" charset="-120"/>
              </a:rPr>
              <a:t>貢献度 100%</a:t>
            </a:r>
            <a:endParaRPr lang="en-US" sz="950" dirty="0"/>
          </a:p>
        </p:txBody>
      </p:sp>
      <p:sp>
        <p:nvSpPr>
          <p:cNvPr id="13" name="Shape 11"/>
          <p:cNvSpPr/>
          <p:nvPr/>
        </p:nvSpPr>
        <p:spPr>
          <a:xfrm>
            <a:off x="6537960" y="2907792"/>
            <a:ext cx="1828800" cy="548640"/>
          </a:xfrm>
          <a:prstGeom prst="roundRect">
            <a:avLst>
              <a:gd name="adj" fmla="val 13333"/>
            </a:avLst>
          </a:prstGeom>
          <a:solidFill>
            <a:srgbClr val="A970E8"/>
          </a:solidFill>
          <a:ln/>
        </p:spPr>
        <p:txBody>
          <a:bodyPr/>
          <a:lstStyle/>
          <a:p>
            <a:endParaRPr lang="ja-JP" altLang="en-US"/>
          </a:p>
        </p:txBody>
      </p:sp>
      <p:sp>
        <p:nvSpPr>
          <p:cNvPr id="14" name="Text 12"/>
          <p:cNvSpPr/>
          <p:nvPr/>
        </p:nvSpPr>
        <p:spPr>
          <a:xfrm>
            <a:off x="6492240" y="2889504"/>
            <a:ext cx="1920240" cy="585216"/>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AI検討関与</a:t>
            </a:r>
            <a:endParaRPr lang="en-US" sz="1050" dirty="0"/>
          </a:p>
        </p:txBody>
      </p:sp>
      <p:sp>
        <p:nvSpPr>
          <p:cNvPr id="15" name="Text 13"/>
          <p:cNvSpPr/>
          <p:nvPr/>
        </p:nvSpPr>
        <p:spPr>
          <a:xfrm>
            <a:off x="8503920" y="2871216"/>
            <a:ext cx="3017520" cy="603504"/>
          </a:xfrm>
          <a:prstGeom prst="rect">
            <a:avLst/>
          </a:prstGeom>
          <a:noFill/>
          <a:ln/>
        </p:spPr>
        <p:txBody>
          <a:bodyPr wrap="square" lIns="0" tIns="0" rIns="0" bIns="0" rtlCol="0" anchor="ctr"/>
          <a:lstStyle/>
          <a:p>
            <a:pPr marL="0" indent="0">
              <a:lnSpc>
                <a:spcPct val="110000"/>
              </a:lnSpc>
              <a:buNone/>
            </a:pPr>
            <a:r>
              <a:rPr lang="en-US" sz="950" dirty="0">
                <a:solidFill>
                  <a:srgbClr val="222222"/>
                </a:solidFill>
                <a:latin typeface="Noto Sans JP" pitchFamily="34" charset="0"/>
                <a:ea typeface="Noto Sans JP" pitchFamily="34" charset="-122"/>
                <a:cs typeface="Noto Sans JP" pitchFamily="34" charset="-120"/>
              </a:rPr>
              <a:t>既知だが検討でAIを使った
</a:t>
            </a:r>
            <a:endParaRPr lang="en-US" sz="950" dirty="0"/>
          </a:p>
          <a:p>
            <a:pPr marL="0" indent="0">
              <a:lnSpc>
                <a:spcPct val="110000"/>
              </a:lnSpc>
              <a:buNone/>
            </a:pPr>
            <a:r>
              <a:rPr lang="en-US" sz="1000" b="1" dirty="0">
                <a:solidFill>
                  <a:srgbClr val="A970E8"/>
                </a:solidFill>
                <a:latin typeface="Noto Sans JP" pitchFamily="34" charset="0"/>
                <a:ea typeface="Noto Sans JP" pitchFamily="34" charset="-122"/>
                <a:cs typeface="Noto Sans JP" pitchFamily="34" charset="-120"/>
              </a:rPr>
              <a:t>貢献係数（初期50%）</a:t>
            </a:r>
            <a:endParaRPr lang="en-US" sz="950" dirty="0"/>
          </a:p>
        </p:txBody>
      </p:sp>
      <p:sp>
        <p:nvSpPr>
          <p:cNvPr id="16" name="Shape 14"/>
          <p:cNvSpPr/>
          <p:nvPr/>
        </p:nvSpPr>
        <p:spPr>
          <a:xfrm>
            <a:off x="6537960" y="3621024"/>
            <a:ext cx="1828800" cy="548640"/>
          </a:xfrm>
          <a:prstGeom prst="roundRect">
            <a:avLst>
              <a:gd name="adj" fmla="val 13333"/>
            </a:avLst>
          </a:prstGeom>
          <a:solidFill>
            <a:srgbClr val="8A8F98"/>
          </a:solidFill>
          <a:ln/>
        </p:spPr>
        <p:txBody>
          <a:bodyPr/>
          <a:lstStyle/>
          <a:p>
            <a:endParaRPr lang="ja-JP" altLang="en-US"/>
          </a:p>
        </p:txBody>
      </p:sp>
      <p:sp>
        <p:nvSpPr>
          <p:cNvPr id="17" name="Text 15"/>
          <p:cNvSpPr/>
          <p:nvPr/>
        </p:nvSpPr>
        <p:spPr>
          <a:xfrm>
            <a:off x="6492240" y="3602736"/>
            <a:ext cx="1920240" cy="585216"/>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AI非関与</a:t>
            </a:r>
            <a:endParaRPr lang="en-US" sz="1050" dirty="0"/>
          </a:p>
        </p:txBody>
      </p:sp>
      <p:sp>
        <p:nvSpPr>
          <p:cNvPr id="18" name="Text 16"/>
          <p:cNvSpPr/>
          <p:nvPr/>
        </p:nvSpPr>
        <p:spPr>
          <a:xfrm>
            <a:off x="8503920" y="3584448"/>
            <a:ext cx="3017520" cy="603504"/>
          </a:xfrm>
          <a:prstGeom prst="rect">
            <a:avLst/>
          </a:prstGeom>
          <a:noFill/>
          <a:ln/>
        </p:spPr>
        <p:txBody>
          <a:bodyPr wrap="square" lIns="0" tIns="0" rIns="0" bIns="0" rtlCol="0" anchor="ctr"/>
          <a:lstStyle/>
          <a:p>
            <a:pPr marL="0" indent="0">
              <a:lnSpc>
                <a:spcPct val="110000"/>
              </a:lnSpc>
              <a:buNone/>
            </a:pPr>
            <a:r>
              <a:rPr lang="en-US" sz="950" dirty="0">
                <a:solidFill>
                  <a:srgbClr val="222222"/>
                </a:solidFill>
                <a:latin typeface="Noto Sans JP" pitchFamily="34" charset="0"/>
                <a:ea typeface="Noto Sans JP" pitchFamily="34" charset="-122"/>
                <a:cs typeface="Noto Sans JP" pitchFamily="34" charset="-120"/>
              </a:rPr>
              <a:t>AIを使っていない
</a:t>
            </a:r>
            <a:endParaRPr lang="en-US" sz="950" dirty="0"/>
          </a:p>
          <a:p>
            <a:pPr marL="0" indent="0">
              <a:lnSpc>
                <a:spcPct val="110000"/>
              </a:lnSpc>
              <a:buNone/>
            </a:pPr>
            <a:r>
              <a:rPr lang="en-US" sz="1000" b="1" dirty="0">
                <a:solidFill>
                  <a:srgbClr val="8A8F98"/>
                </a:solidFill>
                <a:latin typeface="Noto Sans JP" pitchFamily="34" charset="0"/>
                <a:ea typeface="Noto Sans JP" pitchFamily="34" charset="-122"/>
                <a:cs typeface="Noto Sans JP" pitchFamily="34" charset="-120"/>
              </a:rPr>
              <a:t>対象外</a:t>
            </a:r>
            <a:endParaRPr lang="en-US" sz="950" dirty="0"/>
          </a:p>
        </p:txBody>
      </p:sp>
      <p:sp>
        <p:nvSpPr>
          <p:cNvPr id="19" name="Shape 17"/>
          <p:cNvSpPr/>
          <p:nvPr/>
        </p:nvSpPr>
        <p:spPr>
          <a:xfrm>
            <a:off x="502920" y="4617720"/>
            <a:ext cx="11183112" cy="868680"/>
          </a:xfrm>
          <a:prstGeom prst="roundRect">
            <a:avLst>
              <a:gd name="adj" fmla="val 11579"/>
            </a:avLst>
          </a:prstGeom>
          <a:solidFill>
            <a:srgbClr val="4A1F87"/>
          </a:solidFill>
          <a:ln/>
        </p:spPr>
        <p:txBody>
          <a:bodyPr/>
          <a:lstStyle/>
          <a:p>
            <a:endParaRPr lang="ja-JP" altLang="en-US"/>
          </a:p>
        </p:txBody>
      </p:sp>
      <p:sp>
        <p:nvSpPr>
          <p:cNvPr id="20" name="Text 18"/>
          <p:cNvSpPr/>
          <p:nvPr/>
        </p:nvSpPr>
        <p:spPr>
          <a:xfrm>
            <a:off x="777240" y="4681728"/>
            <a:ext cx="10607040" cy="457200"/>
          </a:xfrm>
          <a:prstGeom prst="rect">
            <a:avLst/>
          </a:prstGeom>
          <a:noFill/>
          <a:ln/>
        </p:spPr>
        <p:txBody>
          <a:bodyPr wrap="square" lIns="0" tIns="0" rIns="0" bIns="0" rtlCol="0" anchor="ctr"/>
          <a:lstStyle/>
          <a:p>
            <a:pPr marL="0" indent="0">
              <a:buNone/>
            </a:pPr>
            <a:r>
              <a:rPr lang="en-US" sz="1350" b="1" dirty="0">
                <a:solidFill>
                  <a:srgbClr val="FFFFFF"/>
                </a:solidFill>
                <a:latin typeface="Noto Sans JP" pitchFamily="34" charset="0"/>
                <a:ea typeface="Noto Sans JP" pitchFamily="34" charset="-122"/>
                <a:cs typeface="Noto Sans JP" pitchFamily="34" charset="-120"/>
              </a:rPr>
              <a:t>AI売上貢献額 ＝ AI新規認知の売上 × 100% ＋ AI検討関与の売上 × 貢献係数（初期50%）</a:t>
            </a:r>
            <a:endParaRPr lang="en-US" sz="1350" dirty="0"/>
          </a:p>
        </p:txBody>
      </p:sp>
      <p:sp>
        <p:nvSpPr>
          <p:cNvPr id="21" name="Text 19"/>
          <p:cNvSpPr/>
          <p:nvPr/>
        </p:nvSpPr>
        <p:spPr>
          <a:xfrm>
            <a:off x="777240" y="5120640"/>
            <a:ext cx="10607040" cy="320040"/>
          </a:xfrm>
          <a:prstGeom prst="rect">
            <a:avLst/>
          </a:prstGeom>
          <a:noFill/>
          <a:ln/>
        </p:spPr>
        <p:txBody>
          <a:bodyPr wrap="square" lIns="0" tIns="0" rIns="0" bIns="0" rtlCol="0" anchor="ctr"/>
          <a:lstStyle/>
          <a:p>
            <a:pPr marL="0" indent="0">
              <a:buNone/>
            </a:pPr>
            <a:r>
              <a:rPr lang="en-US" sz="1000" dirty="0">
                <a:solidFill>
                  <a:srgbClr val="D9CBF2"/>
                </a:solidFill>
                <a:latin typeface="Noto Sans JP" pitchFamily="34" charset="0"/>
                <a:ea typeface="Noto Sans JP" pitchFamily="34" charset="-122"/>
                <a:cs typeface="Noto Sans JP" pitchFamily="34" charset="-120"/>
              </a:rPr>
              <a:t>※係数はデータ蓄積後に30〜70%で見直し。粗利が分かれば“AI粗利貢献額”で評価する。</a:t>
            </a:r>
            <a:endParaRPr lang="en-US" sz="1000" dirty="0"/>
          </a:p>
        </p:txBody>
      </p:sp>
      <p:sp>
        <p:nvSpPr>
          <p:cNvPr id="22" name="Shape 20"/>
          <p:cNvSpPr/>
          <p:nvPr/>
        </p:nvSpPr>
        <p:spPr>
          <a:xfrm>
            <a:off x="502920" y="5623560"/>
            <a:ext cx="11183112" cy="658368"/>
          </a:xfrm>
          <a:prstGeom prst="roundRect">
            <a:avLst>
              <a:gd name="adj" fmla="val 15278"/>
            </a:avLst>
          </a:prstGeom>
          <a:solidFill>
            <a:srgbClr val="F0E6FC"/>
          </a:solidFill>
          <a:ln/>
        </p:spPr>
        <p:txBody>
          <a:bodyPr/>
          <a:lstStyle/>
          <a:p>
            <a:endParaRPr lang="ja-JP" altLang="en-US"/>
          </a:p>
        </p:txBody>
      </p:sp>
      <p:sp>
        <p:nvSpPr>
          <p:cNvPr id="23" name="Text 21"/>
          <p:cNvSpPr/>
          <p:nvPr/>
        </p:nvSpPr>
        <p:spPr>
          <a:xfrm>
            <a:off x="777240" y="5669280"/>
            <a:ext cx="10607040" cy="566928"/>
          </a:xfrm>
          <a:prstGeom prst="rect">
            <a:avLst/>
          </a:prstGeom>
          <a:noFill/>
          <a:ln/>
        </p:spPr>
        <p:txBody>
          <a:bodyPr wrap="square" lIns="0" tIns="0" rIns="0" bIns="0" rtlCol="0" anchor="ctr"/>
          <a:lstStyle/>
          <a:p>
            <a:pPr marL="0" indent="0">
              <a:buNone/>
            </a:pPr>
            <a:r>
              <a:rPr lang="en-US" sz="1500" b="1" dirty="0">
                <a:solidFill>
                  <a:srgbClr val="F57527"/>
                </a:solidFill>
                <a:latin typeface="Noto Sans JP" pitchFamily="34" charset="0"/>
                <a:ea typeface="Noto Sans JP" pitchFamily="34" charset="-122"/>
                <a:cs typeface="Noto Sans JP" pitchFamily="34" charset="-120"/>
              </a:rPr>
              <a:t>16%　</a:t>
            </a:r>
            <a:r>
              <a:rPr lang="en-US" sz="1100" b="1" dirty="0">
                <a:solidFill>
                  <a:srgbClr val="222222"/>
                </a:solidFill>
                <a:latin typeface="Noto Sans JP" pitchFamily="34" charset="0"/>
                <a:ea typeface="Noto Sans JP" pitchFamily="34" charset="-122"/>
                <a:cs typeface="Noto Sans JP" pitchFamily="34" charset="-120"/>
              </a:rPr>
              <a:t>AI検索の成果を体系的に追跡できているブランドはわずか16%（McKinsey）。＝“先行優位”を取るチャンス。</a:t>
            </a:r>
            <a:endParaRPr lang="en-US" sz="1500" dirty="0"/>
          </a:p>
        </p:txBody>
      </p:sp>
      <p:sp>
        <p:nvSpPr>
          <p:cNvPr id="24" name="Text 22"/>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25" name="Text 23"/>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10896"/>
            <a:ext cx="11155680" cy="274320"/>
          </a:xfrm>
          <a:prstGeom prst="rect">
            <a:avLst/>
          </a:prstGeom>
          <a:noFill/>
          <a:ln/>
        </p:spPr>
        <p:txBody>
          <a:bodyPr wrap="square" lIns="0" tIns="0" rIns="0" bIns="0" rtlCol="0" anchor="ctr"/>
          <a:lstStyle/>
          <a:p>
            <a:pPr marL="0" indent="0">
              <a:buNone/>
            </a:pPr>
            <a:r>
              <a:rPr lang="en-US" sz="1100" b="1" kern="0" spc="200" dirty="0">
                <a:solidFill>
                  <a:srgbClr val="8541DC"/>
                </a:solidFill>
                <a:latin typeface="Noto Sans JP" pitchFamily="34" charset="0"/>
                <a:ea typeface="Noto Sans JP" pitchFamily="34" charset="-122"/>
                <a:cs typeface="Noto Sans JP" pitchFamily="34" charset="-120"/>
              </a:rPr>
              <a:t>MEASUREMENT — 試算例</a:t>
            </a:r>
            <a:endParaRPr lang="en-US" sz="1100" dirty="0"/>
          </a:p>
        </p:txBody>
      </p:sp>
      <p:sp>
        <p:nvSpPr>
          <p:cNvPr id="3" name="Text 1"/>
          <p:cNvSpPr/>
          <p:nvPr/>
        </p:nvSpPr>
        <p:spPr>
          <a:xfrm>
            <a:off x="502920" y="566928"/>
            <a:ext cx="11155680" cy="713232"/>
          </a:xfrm>
          <a:prstGeom prst="rect">
            <a:avLst/>
          </a:prstGeom>
          <a:noFill/>
          <a:ln/>
        </p:spPr>
        <p:txBody>
          <a:bodyPr wrap="square" lIns="0" tIns="0" rIns="0" bIns="0" rtlCol="0" anchor="ctr"/>
          <a:lstStyle/>
          <a:p>
            <a:pPr marL="0" indent="0">
              <a:lnSpc>
                <a:spcPct val="108000"/>
              </a:lnSpc>
              <a:buNone/>
            </a:pPr>
            <a:r>
              <a:rPr lang="en-US" sz="2500" b="1" dirty="0">
                <a:solidFill>
                  <a:srgbClr val="222222"/>
                </a:solidFill>
                <a:latin typeface="Noto Sans JP" pitchFamily="34" charset="0"/>
                <a:ea typeface="Noto Sans JP" pitchFamily="34" charset="-122"/>
                <a:cs typeface="Noto Sans JP" pitchFamily="34" charset="-120"/>
              </a:rPr>
              <a:t>AI経由売上貢献額の試算（イメージ）</a:t>
            </a:r>
            <a:endParaRPr lang="en-US" sz="2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3017520"/>
        </p:xfrm>
        <a:graphic>
          <a:graphicData uri="http://schemas.openxmlformats.org/drawingml/2006/table">
            <a:tbl>
              <a:tblPr/>
              <a:tblGrid>
                <a:gridCol w="4233672">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502920">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指標</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AI新規認知</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tc>
                  <a:txBody>
                    <a:bodyPr/>
                    <a:lstStyle/>
                    <a:p>
                      <a:pPr marL="0" indent="0" algn="ctr">
                        <a:buNone/>
                      </a:pPr>
                      <a:r>
                        <a:rPr lang="en-US" sz="1050" b="1" dirty="0">
                          <a:solidFill>
                            <a:srgbClr val="FFFFFF"/>
                          </a:solidFill>
                          <a:latin typeface="Noto Sans JP" pitchFamily="34" charset="0"/>
                          <a:ea typeface="Noto Sans JP" pitchFamily="34" charset="-122"/>
                          <a:cs typeface="Noto Sans JP" pitchFamily="34" charset="-120"/>
                        </a:rPr>
                        <a:t>AI検討関与</a:t>
                      </a:r>
                      <a:endParaRPr lang="en-US" sz="105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4A1F87"/>
                    </a:solidFill>
                  </a:tcPr>
                </a:tc>
                <a:extLst>
                  <a:ext uri="{0D108BD9-81ED-4DB2-BD59-A6C34878D82A}">
                    <a16:rowId xmlns:a16="http://schemas.microsoft.com/office/drawing/2014/main" val="10000"/>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問い合わせ</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20件</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20件</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1"/>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成約（成約率20%）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4件</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4件</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年間収益（@60万円/件）</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240万円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240万円</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6F1FC"/>
                    </a:solidFill>
                  </a:tcPr>
                </a:tc>
                <a:extLst>
                  <a:ext uri="{0D108BD9-81ED-4DB2-BD59-A6C34878D82A}">
                    <a16:rowId xmlns:a16="http://schemas.microsoft.com/office/drawing/2014/main" val="10003"/>
                  </a:ext>
                </a:extLst>
              </a:tr>
              <a:tr h="502920">
                <a:tc>
                  <a:txBody>
                    <a:bodyPr/>
                    <a:lstStyle/>
                    <a:p>
                      <a:pPr marL="0" indent="0" algn="l">
                        <a:buNone/>
                      </a:pPr>
                      <a:r>
                        <a:rPr lang="en-US" sz="1000" b="1" dirty="0">
                          <a:solidFill>
                            <a:srgbClr val="222222"/>
                          </a:solidFill>
                          <a:latin typeface="Noto Sans JP" pitchFamily="34" charset="0"/>
                          <a:ea typeface="Noto Sans JP" pitchFamily="34" charset="-122"/>
                          <a:cs typeface="Noto Sans JP" pitchFamily="34" charset="-120"/>
                        </a:rPr>
                        <a:t>AI貢献度</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100%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222222"/>
                          </a:solidFill>
                          <a:latin typeface="Noto Sans JP" pitchFamily="34" charset="0"/>
                          <a:ea typeface="Noto Sans JP" pitchFamily="34" charset="-122"/>
                          <a:cs typeface="Noto Sans JP" pitchFamily="34" charset="-120"/>
                        </a:rPr>
                        <a:t>50%</a:t>
                      </a:r>
                      <a:endParaRPr lang="en-US" sz="10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8541DC"/>
                          </a:solidFill>
                          <a:latin typeface="Noto Sans JP" pitchFamily="34" charset="0"/>
                          <a:ea typeface="Noto Sans JP" pitchFamily="34" charset="-122"/>
                          <a:cs typeface="Noto Sans JP" pitchFamily="34" charset="-120"/>
                        </a:rPr>
                        <a:t>AI売上貢献額</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marL="0" indent="0" algn="ctr">
                        <a:buNone/>
                      </a:pPr>
                      <a:r>
                        <a:rPr lang="en-US" sz="1100" b="1" dirty="0">
                          <a:solidFill>
                            <a:srgbClr val="8541DC"/>
                          </a:solidFill>
                          <a:latin typeface="Noto Sans JP" pitchFamily="34" charset="0"/>
                          <a:ea typeface="Noto Sans JP" pitchFamily="34" charset="-122"/>
                          <a:cs typeface="Noto Sans JP" pitchFamily="34" charset="-120"/>
                        </a:rPr>
                        <a:t>240万円</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tc>
                  <a:txBody>
                    <a:bodyPr/>
                    <a:lstStyle/>
                    <a:p>
                      <a:pPr marL="0" indent="0" algn="ctr">
                        <a:buNone/>
                      </a:pPr>
                      <a:r>
                        <a:rPr lang="en-US" sz="1100" b="1" dirty="0">
                          <a:solidFill>
                            <a:srgbClr val="8541DC"/>
                          </a:solidFill>
                          <a:latin typeface="Noto Sans JP" pitchFamily="34" charset="0"/>
                          <a:ea typeface="Noto Sans JP" pitchFamily="34" charset="-122"/>
                          <a:cs typeface="Noto Sans JP" pitchFamily="34" charset="-120"/>
                        </a:rPr>
                        <a:t>120万円</a:t>
                      </a:r>
                      <a:endParaRPr lang="en-US" sz="1100" dirty="0">
                        <a:latin typeface="Noto Sans JP" charset="0"/>
                        <a:ea typeface="Noto Sans JP" charset="0"/>
                        <a:cs typeface="Noto Sans JP" charset="0"/>
                      </a:endParaRPr>
                    </a:p>
                  </a:txBody>
                  <a:tcPr marL="45720" marR="45720" anchor="ctr">
                    <a:lnL w="9525" cap="flat" cmpd="sng" algn="ctr">
                      <a:solidFill>
                        <a:srgbClr val="E5E5EA"/>
                      </a:solidFill>
                      <a:prstDash val="solid"/>
                      <a:round/>
                      <a:headEnd type="none" w="med" len="med"/>
                      <a:tailEnd type="none" w="med" len="med"/>
                    </a:lnL>
                    <a:lnR w="9525" cap="flat" cmpd="sng" algn="ctr">
                      <a:solidFill>
                        <a:srgbClr val="E5E5EA"/>
                      </a:solidFill>
                      <a:prstDash val="solid"/>
                      <a:round/>
                      <a:headEnd type="none" w="med" len="med"/>
                      <a:tailEnd type="none" w="med" len="med"/>
                    </a:lnR>
                    <a:lnT w="9525" cap="flat" cmpd="sng" algn="ctr">
                      <a:solidFill>
                        <a:srgbClr val="E5E5EA"/>
                      </a:solidFill>
                      <a:prstDash val="solid"/>
                      <a:round/>
                      <a:headEnd type="none" w="med" len="med"/>
                      <a:tailEnd type="none" w="med" len="med"/>
                    </a:lnT>
                    <a:lnB w="9525" cap="flat" cmpd="sng" algn="ctr">
                      <a:solidFill>
                        <a:srgbClr val="E5E5EA"/>
                      </a:solidFill>
                      <a:prstDash val="solid"/>
                      <a:round/>
                      <a:headEnd type="none" w="med" len="med"/>
                      <a:tailEnd type="none" w="med" len="med"/>
                    </a:lnB>
                    <a:solidFill>
                      <a:srgbClr val="F0E6FC"/>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5074920"/>
            <a:ext cx="11183112" cy="777240"/>
          </a:xfrm>
          <a:prstGeom prst="roundRect">
            <a:avLst>
              <a:gd name="adj" fmla="val 12941"/>
            </a:avLst>
          </a:prstGeom>
          <a:solidFill>
            <a:srgbClr val="4A1F87"/>
          </a:solidFill>
          <a:ln/>
        </p:spPr>
        <p:txBody>
          <a:bodyPr/>
          <a:lstStyle/>
          <a:p>
            <a:endParaRPr lang="ja-JP" altLang="en-US"/>
          </a:p>
        </p:txBody>
      </p:sp>
      <p:sp>
        <p:nvSpPr>
          <p:cNvPr id="6" name="Text 3"/>
          <p:cNvSpPr/>
          <p:nvPr/>
        </p:nvSpPr>
        <p:spPr>
          <a:xfrm>
            <a:off x="777240" y="5166360"/>
            <a:ext cx="6400800" cy="548640"/>
          </a:xfrm>
          <a:prstGeom prst="rect">
            <a:avLst/>
          </a:prstGeom>
          <a:noFill/>
          <a:ln/>
        </p:spPr>
        <p:txBody>
          <a:bodyPr wrap="square" lIns="0" tIns="0" rIns="0" bIns="0" rtlCol="0" anchor="ctr"/>
          <a:lstStyle/>
          <a:p>
            <a:pPr marL="0" indent="0">
              <a:buNone/>
            </a:pPr>
            <a:r>
              <a:rPr lang="en-US" sz="1500" b="1" dirty="0">
                <a:solidFill>
                  <a:srgbClr val="D9CBF2"/>
                </a:solidFill>
                <a:latin typeface="Noto Sans JP" pitchFamily="34" charset="0"/>
                <a:ea typeface="Noto Sans JP" pitchFamily="34" charset="-122"/>
                <a:cs typeface="Noto Sans JP" pitchFamily="34" charset="-120"/>
              </a:rPr>
              <a:t>合計 AI売上貢献額</a:t>
            </a:r>
            <a:endParaRPr lang="en-US" sz="1500" dirty="0"/>
          </a:p>
        </p:txBody>
      </p:sp>
      <p:sp>
        <p:nvSpPr>
          <p:cNvPr id="7" name="Text 4"/>
          <p:cNvSpPr/>
          <p:nvPr/>
        </p:nvSpPr>
        <p:spPr>
          <a:xfrm>
            <a:off x="6858000" y="5120640"/>
            <a:ext cx="4572000" cy="640080"/>
          </a:xfrm>
          <a:prstGeom prst="rect">
            <a:avLst/>
          </a:prstGeom>
          <a:noFill/>
          <a:ln/>
        </p:spPr>
        <p:txBody>
          <a:bodyPr wrap="square" lIns="0" tIns="0" rIns="0" bIns="0" rtlCol="0" anchor="ctr"/>
          <a:lstStyle/>
          <a:p>
            <a:pPr marL="0" indent="0" algn="r">
              <a:buNone/>
            </a:pPr>
            <a:r>
              <a:rPr lang="en-US" sz="2400" b="1" dirty="0">
                <a:solidFill>
                  <a:srgbClr val="FFFFFF"/>
                </a:solidFill>
                <a:latin typeface="Noto Sans JP" pitchFamily="34" charset="0"/>
                <a:ea typeface="Noto Sans JP" pitchFamily="34" charset="-122"/>
                <a:cs typeface="Noto Sans JP" pitchFamily="34" charset="-120"/>
              </a:rPr>
              <a:t>＝ 年間 360万円</a:t>
            </a:r>
            <a:endParaRPr lang="en-US" sz="2400" dirty="0"/>
          </a:p>
        </p:txBody>
      </p:sp>
      <p:sp>
        <p:nvSpPr>
          <p:cNvPr id="8" name="Text 5"/>
          <p:cNvSpPr/>
          <p:nvPr/>
        </p:nvSpPr>
        <p:spPr>
          <a:xfrm>
            <a:off x="502920" y="6035040"/>
            <a:ext cx="11183112" cy="365760"/>
          </a:xfrm>
          <a:prstGeom prst="rect">
            <a:avLst/>
          </a:prstGeom>
          <a:noFill/>
          <a:ln/>
        </p:spPr>
        <p:txBody>
          <a:bodyPr wrap="square" lIns="0" tIns="0" rIns="0" bIns="0" rtlCol="0" anchor="ctr"/>
          <a:lstStyle/>
          <a:p>
            <a:pPr marL="0" indent="0">
              <a:buNone/>
            </a:pPr>
            <a:r>
              <a:rPr lang="en-US" sz="950" dirty="0">
                <a:solidFill>
                  <a:srgbClr val="8A8F98"/>
                </a:solidFill>
                <a:latin typeface="Noto Sans JP" pitchFamily="34" charset="0"/>
                <a:ea typeface="Noto Sans JP" pitchFamily="34" charset="-122"/>
                <a:cs typeface="Noto Sans JP" pitchFamily="34" charset="-120"/>
              </a:rPr>
              <a:t>※数値は仮のイメージです。実際は貴社の問い合わせ/予約数・成約率・単価に置き換えて算出します（初回はアンケート設計から）。</a:t>
            </a:r>
            <a:endParaRPr lang="en-US" sz="950" dirty="0"/>
          </a:p>
        </p:txBody>
      </p:sp>
      <p:sp>
        <p:nvSpPr>
          <p:cNvPr id="9" name="Text 6"/>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9AA0AA"/>
                </a:solidFill>
                <a:latin typeface="Noto Sans JP" pitchFamily="34" charset="0"/>
                <a:ea typeface="Noto Sans JP" pitchFamily="34" charset="-122"/>
                <a:cs typeface="Noto Sans JP" pitchFamily="34" charset="-120"/>
              </a:rPr>
              <a:t>© EXIDEA Inc.  |  CONFIDENTIAL</a:t>
            </a:r>
            <a:endParaRPr lang="en-US" sz="800" dirty="0"/>
          </a:p>
        </p:txBody>
      </p:sp>
      <p:sp>
        <p:nvSpPr>
          <p:cNvPr id="10" name="Text 7"/>
          <p:cNvSpPr/>
          <p:nvPr/>
        </p:nvSpPr>
        <p:spPr>
          <a:xfrm>
            <a:off x="11292840" y="6473952"/>
            <a:ext cx="411480" cy="274320"/>
          </a:xfrm>
          <a:prstGeom prst="rect">
            <a:avLst/>
          </a:prstGeom>
          <a:noFill/>
          <a:ln/>
        </p:spPr>
        <p:txBody>
          <a:bodyPr wrap="square" lIns="0" tIns="0" rIns="0" bIns="0" rtlCol="0" anchor="ctr"/>
          <a:lstStyle/>
          <a:p>
            <a:pPr marL="0" indent="0" algn="r">
              <a:buNone/>
            </a:pPr>
            <a:r>
              <a:rPr lang="en-US" sz="800" b="1" dirty="0">
                <a:solidFill>
                  <a:srgbClr val="9AA0AA"/>
                </a:solidFill>
                <a:latin typeface="Noto Sans JP" pitchFamily="34" charset="0"/>
                <a:ea typeface="Noto Sans JP" pitchFamily="34" charset="-122"/>
                <a:cs typeface="Noto Sans JP"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794367" y="4836673"/>
            <a:ext cx="1554480" cy="1554480"/>
          </a:xfrm>
          <a:prstGeom prst="ellipse">
            <a:avLst/>
          </a:prstGeom>
          <a:solidFill>
            <a:srgbClr val="8541DC">
              <a:alpha val="25000"/>
            </a:srgbClr>
          </a:solidFill>
          <a:ln/>
        </p:spPr>
        <p:txBody>
          <a:bodyPr/>
          <a:lstStyle/>
          <a:p>
            <a:endParaRPr lang="ja-JP" altLang="en-US"/>
          </a:p>
        </p:txBody>
      </p:sp>
      <p:sp>
        <p:nvSpPr>
          <p:cNvPr id="3" name="Shape 1"/>
          <p:cNvSpPr/>
          <p:nvPr/>
        </p:nvSpPr>
        <p:spPr>
          <a:xfrm>
            <a:off x="9347454" y="5551734"/>
            <a:ext cx="1554480" cy="1554480"/>
          </a:xfrm>
          <a:prstGeom prst="ellipse">
            <a:avLst/>
          </a:prstGeom>
          <a:solidFill>
            <a:srgbClr val="A970E8">
              <a:alpha val="25000"/>
            </a:srgbClr>
          </a:solidFill>
          <a:ln/>
        </p:spPr>
        <p:txBody>
          <a:bodyPr/>
          <a:lstStyle/>
          <a:p>
            <a:endParaRPr lang="ja-JP" altLang="en-US"/>
          </a:p>
        </p:txBody>
      </p:sp>
      <p:sp>
        <p:nvSpPr>
          <p:cNvPr id="4" name="Shape 2"/>
          <p:cNvSpPr/>
          <p:nvPr/>
        </p:nvSpPr>
        <p:spPr>
          <a:xfrm>
            <a:off x="10241280" y="5551734"/>
            <a:ext cx="1554480" cy="1554480"/>
          </a:xfrm>
          <a:prstGeom prst="ellipse">
            <a:avLst/>
          </a:prstGeom>
          <a:solidFill>
            <a:srgbClr val="6A2FB8">
              <a:alpha val="25000"/>
            </a:srgbClr>
          </a:solidFill>
          <a:ln/>
        </p:spPr>
        <p:txBody>
          <a:bodyPr/>
          <a:lstStyle/>
          <a:p>
            <a:endParaRPr lang="ja-JP" altLang="en-US"/>
          </a:p>
        </p:txBody>
      </p:sp>
      <p:sp>
        <p:nvSpPr>
          <p:cNvPr id="5" name="Text 3"/>
          <p:cNvSpPr/>
          <p:nvPr/>
        </p:nvSpPr>
        <p:spPr>
          <a:xfrm>
            <a:off x="822960" y="1463040"/>
            <a:ext cx="8229600" cy="320040"/>
          </a:xfrm>
          <a:prstGeom prst="rect">
            <a:avLst/>
          </a:prstGeom>
          <a:noFill/>
          <a:ln/>
        </p:spPr>
        <p:txBody>
          <a:bodyPr wrap="square" lIns="0" tIns="0" rIns="0" bIns="0" rtlCol="0" anchor="ctr"/>
          <a:lstStyle/>
          <a:p>
            <a:pPr marL="0" indent="0">
              <a:buNone/>
            </a:pPr>
            <a:r>
              <a:rPr lang="en-US" sz="1300" b="1" kern="0" spc="300" dirty="0">
                <a:solidFill>
                  <a:srgbClr val="D9CBF2"/>
                </a:solidFill>
                <a:latin typeface="Noto Sans JP" pitchFamily="34" charset="0"/>
                <a:ea typeface="Noto Sans JP" pitchFamily="34" charset="-122"/>
                <a:cs typeface="Noto Sans JP" pitchFamily="34" charset="-120"/>
              </a:rPr>
              <a:t>NEXT STEP</a:t>
            </a:r>
            <a:endParaRPr lang="en-US" sz="1300" dirty="0"/>
          </a:p>
        </p:txBody>
      </p:sp>
      <p:sp>
        <p:nvSpPr>
          <p:cNvPr id="6" name="Text 4"/>
          <p:cNvSpPr/>
          <p:nvPr/>
        </p:nvSpPr>
        <p:spPr>
          <a:xfrm>
            <a:off x="822960" y="1920240"/>
            <a:ext cx="10058400" cy="1554480"/>
          </a:xfrm>
          <a:prstGeom prst="rect">
            <a:avLst/>
          </a:prstGeom>
          <a:noFill/>
          <a:ln/>
        </p:spPr>
        <p:txBody>
          <a:bodyPr wrap="square" lIns="0" tIns="0" rIns="0" bIns="0" rtlCol="0" anchor="ctr"/>
          <a:lstStyle/>
          <a:p>
            <a:pPr marL="0" indent="0">
              <a:lnSpc>
                <a:spcPct val="120000"/>
              </a:lnSpc>
              <a:buNone/>
            </a:pPr>
            <a:r>
              <a:rPr lang="en-US" sz="2800" b="1" dirty="0">
                <a:solidFill>
                  <a:srgbClr val="FFFFFF"/>
                </a:solidFill>
                <a:latin typeface="Noto Sans JP" pitchFamily="34" charset="0"/>
                <a:ea typeface="Noto Sans JP" pitchFamily="34" charset="-122"/>
                <a:cs typeface="Noto Sans JP" pitchFamily="34" charset="-120"/>
              </a:rPr>
              <a:t>AIに“存在しない会社”から、</a:t>
            </a:r>
            <a:endParaRPr lang="en-US" sz="2800" dirty="0"/>
          </a:p>
          <a:p>
            <a:pPr marL="0" indent="0">
              <a:lnSpc>
                <a:spcPct val="120000"/>
              </a:lnSpc>
              <a:buNone/>
            </a:pPr>
            <a:r>
              <a:rPr lang="en-US" sz="2800" b="1" dirty="0">
                <a:solidFill>
                  <a:srgbClr val="FFFFFF"/>
                </a:solidFill>
                <a:latin typeface="Noto Sans JP" pitchFamily="34" charset="0"/>
                <a:ea typeface="Noto Sans JP" pitchFamily="34" charset="-122"/>
                <a:cs typeface="Noto Sans JP" pitchFamily="34" charset="-120"/>
              </a:rPr>
              <a:t>“選ばれる会社”へ。</a:t>
            </a:r>
            <a:endParaRPr lang="en-US" sz="2800" dirty="0"/>
          </a:p>
        </p:txBody>
      </p:sp>
      <p:sp>
        <p:nvSpPr>
          <p:cNvPr id="7" name="Text 5"/>
          <p:cNvSpPr/>
          <p:nvPr/>
        </p:nvSpPr>
        <p:spPr>
          <a:xfrm>
            <a:off x="868680" y="3657600"/>
            <a:ext cx="9784080" cy="1828800"/>
          </a:xfrm>
          <a:prstGeom prst="rect">
            <a:avLst/>
          </a:prstGeom>
          <a:noFill/>
          <a:ln/>
        </p:spPr>
        <p:txBody>
          <a:bodyPr wrap="square" lIns="0" tIns="0" rIns="0" bIns="0" rtlCol="0" anchor="ctr"/>
          <a:lstStyle/>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有料ショット分析：エンティティ確立KW特定×競合比較メディア掲載状況の深掘り×対策TODO</a:t>
            </a:r>
            <a:endParaRPr lang="en-US" sz="1300" dirty="0"/>
          </a:p>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実行支援：ナレッジパネル申請・比較メディア掲載・乗り換えコンテンツ作成・構造化データ実装の伴走</a:t>
            </a:r>
            <a:endParaRPr lang="en-US" sz="1300" dirty="0"/>
          </a:p>
          <a:p>
            <a:pPr marL="152400" indent="-152400">
              <a:lnSpc>
                <a:spcPct val="128000"/>
              </a:lnSpc>
              <a:spcAft>
                <a:spcPts val="700"/>
              </a:spcAft>
              <a:buSzPct val="100000"/>
              <a:buChar char="•"/>
            </a:pPr>
            <a:r>
              <a:rPr lang="en-US" sz="1300" dirty="0">
                <a:solidFill>
                  <a:srgbClr val="D9CBF2"/>
                </a:solidFill>
                <a:latin typeface="Noto Sans JP" pitchFamily="34" charset="0"/>
                <a:ea typeface="Noto Sans JP" pitchFamily="34" charset="-122"/>
                <a:cs typeface="Noto Sans JP" pitchFamily="34" charset="-120"/>
              </a:rPr>
              <a:t>月次モニタリングで全ファネルの登場率を継続追跡</a:t>
            </a:r>
            <a:endParaRPr lang="en-US" sz="1300" dirty="0"/>
          </a:p>
        </p:txBody>
      </p:sp>
      <p:sp>
        <p:nvSpPr>
          <p:cNvPr id="8" name="Text 6"/>
          <p:cNvSpPr/>
          <p:nvPr/>
        </p:nvSpPr>
        <p:spPr>
          <a:xfrm>
            <a:off x="822960" y="6035040"/>
            <a:ext cx="7315200" cy="274320"/>
          </a:xfrm>
          <a:prstGeom prst="rect">
            <a:avLst/>
          </a:prstGeom>
          <a:noFill/>
          <a:ln/>
        </p:spPr>
        <p:txBody>
          <a:bodyPr wrap="square" lIns="0" tIns="0" rIns="0" bIns="0" rtlCol="0" anchor="ctr"/>
          <a:lstStyle/>
          <a:p>
            <a:pPr marL="0" indent="0">
              <a:buNone/>
            </a:pPr>
            <a:r>
              <a:rPr lang="en-US" sz="1100" dirty="0">
                <a:solidFill>
                  <a:srgbClr val="B9A7E0"/>
                </a:solidFill>
                <a:latin typeface="Noto Sans JP" pitchFamily="34" charset="0"/>
                <a:ea typeface="Noto Sans JP" pitchFamily="34" charset="-122"/>
                <a:cs typeface="Noto Sans JP" pitchFamily="34" charset="-120"/>
              </a:rPr>
              <a:t>株式会社EXIDEA　EmmaTools / LLMO</a:t>
            </a:r>
            <a:endParaRPr lang="en-US" sz="1100" dirty="0"/>
          </a:p>
        </p:txBody>
      </p:sp>
      <p:sp>
        <p:nvSpPr>
          <p:cNvPr id="9" name="Text 7"/>
          <p:cNvSpPr/>
          <p:nvPr/>
        </p:nvSpPr>
        <p:spPr>
          <a:xfrm>
            <a:off x="502920" y="6473952"/>
            <a:ext cx="5943600" cy="274320"/>
          </a:xfrm>
          <a:prstGeom prst="rect">
            <a:avLst/>
          </a:prstGeom>
          <a:noFill/>
          <a:ln/>
        </p:spPr>
        <p:txBody>
          <a:bodyPr wrap="square" lIns="0" tIns="0" rIns="0" bIns="0" rtlCol="0" anchor="ctr"/>
          <a:lstStyle/>
          <a:p>
            <a:pPr marL="0" indent="0" algn="l">
              <a:buNone/>
            </a:pPr>
            <a:r>
              <a:rPr lang="en-US" sz="800" dirty="0">
                <a:solidFill>
                  <a:srgbClr val="B9A7E0"/>
                </a:solidFill>
                <a:latin typeface="Noto Sans JP" pitchFamily="34" charset="0"/>
                <a:ea typeface="Noto Sans JP" pitchFamily="34" charset="-122"/>
                <a:cs typeface="Noto Sans JP" pitchFamily="34" charset="-120"/>
              </a:rPr>
              <a:t>© EXIDEA Inc.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239</TotalTime>
  <Words>2501</Words>
  <Application>Microsoft Macintosh PowerPoint</Application>
  <PresentationFormat>ワイド画面</PresentationFormat>
  <Paragraphs>480</Paragraphs>
  <Slides>27</Slides>
  <Notes>27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27</vt:i4>
      </vt:variant>
    </vt:vector>
  </HeadingPairs>
  <TitlesOfParts>
    <vt:vector size="30" baseType="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株式会社Onwords 様 LLMO現状分析</dc:title>
  <dc:subject>PptxGenJS Presentation</dc:subject>
  <dc:creator>EXIDEA Inc.</dc:creator>
  <cp:lastModifiedBy>大出 岳 | EXIDEA</cp:lastModifiedBy>
  <cp:revision>2</cp:revision>
  <dcterms:created xsi:type="dcterms:W3CDTF">2026-08-26T09:48:22Z</dcterms:created>
  <dcterms:modified xsi:type="dcterms:W3CDTF">2026-08-31T05:20:11Z</dcterms:modified>
</cp:coreProperties>
</file>