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34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05701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903970" y="2629357"/>
            <a:ext cx="2743200" cy="2743200"/>
          </a:xfrm>
          <a:prstGeom prst="ellipse">
            <a:avLst/>
          </a:prstGeom>
          <a:solidFill>
            <a:srgbClr val="8541DC">
              <a:alpha val="30000"/>
            </a:srgbClr>
          </a:solidFill>
          <a:ln/>
        </p:spPr>
        <p:txBody>
          <a:bodyPr/>
          <a:lstStyle/>
          <a:p>
            <a:endParaRPr lang="ja-JP" altLang="en-US"/>
          </a:p>
        </p:txBody>
      </p:sp>
      <p:sp>
        <p:nvSpPr>
          <p:cNvPr id="3" name="Shape 1"/>
          <p:cNvSpPr/>
          <p:nvPr/>
        </p:nvSpPr>
        <p:spPr>
          <a:xfrm>
            <a:off x="8115300" y="3891229"/>
            <a:ext cx="2743200" cy="2743200"/>
          </a:xfrm>
          <a:prstGeom prst="ellipse">
            <a:avLst/>
          </a:prstGeom>
          <a:solidFill>
            <a:srgbClr val="A970E8">
              <a:alpha val="30000"/>
            </a:srgbClr>
          </a:solidFill>
          <a:ln/>
        </p:spPr>
        <p:txBody>
          <a:bodyPr/>
          <a:lstStyle/>
          <a:p>
            <a:endParaRPr lang="ja-JP" altLang="en-US"/>
          </a:p>
        </p:txBody>
      </p:sp>
      <p:sp>
        <p:nvSpPr>
          <p:cNvPr id="4" name="Shape 2"/>
          <p:cNvSpPr/>
          <p:nvPr/>
        </p:nvSpPr>
        <p:spPr>
          <a:xfrm>
            <a:off x="9692640" y="3891229"/>
            <a:ext cx="2743200" cy="2743200"/>
          </a:xfrm>
          <a:prstGeom prst="ellipse">
            <a:avLst/>
          </a:prstGeom>
          <a:solidFill>
            <a:srgbClr val="6A2FB8">
              <a:alpha val="30000"/>
            </a:srgbClr>
          </a:solidFill>
          <a:ln/>
        </p:spPr>
        <p:txBody>
          <a:bodyPr/>
          <a:lstStyle/>
          <a:p>
            <a:endParaRPr lang="ja-JP" altLang="en-US"/>
          </a:p>
        </p:txBody>
      </p:sp>
      <p:sp>
        <p:nvSpPr>
          <p:cNvPr id="5" name="Text 3"/>
          <p:cNvSpPr/>
          <p:nvPr/>
        </p:nvSpPr>
        <p:spPr>
          <a:xfrm>
            <a:off x="822960" y="1371600"/>
            <a:ext cx="9144000" cy="320040"/>
          </a:xfrm>
          <a:prstGeom prst="rect">
            <a:avLst/>
          </a:prstGeom>
          <a:noFill/>
          <a:ln/>
        </p:spPr>
        <p:txBody>
          <a:bodyPr wrap="square" lIns="0" tIns="0" rIns="0" bIns="0" rtlCol="0" anchor="ctr"/>
          <a:lstStyle/>
          <a:p>
            <a:pPr marL="0" indent="0">
              <a:buNone/>
            </a:pPr>
            <a:r>
              <a:rPr lang="en-US" sz="1300" b="1" kern="0" spc="300" dirty="0">
                <a:solidFill>
                  <a:srgbClr val="D9CBF2"/>
                </a:solidFill>
                <a:latin typeface="Noto Sans JP" pitchFamily="34" charset="0"/>
                <a:ea typeface="Noto Sans JP" pitchFamily="34" charset="-122"/>
                <a:cs typeface="Noto Sans JP" pitchFamily="34" charset="-120"/>
              </a:rPr>
              <a:t>LLMO 無料分析レポート</a:t>
            </a:r>
            <a:endParaRPr lang="en-US" sz="1300" dirty="0"/>
          </a:p>
        </p:txBody>
      </p:sp>
      <p:sp>
        <p:nvSpPr>
          <p:cNvPr id="6" name="Text 4"/>
          <p:cNvSpPr/>
          <p:nvPr/>
        </p:nvSpPr>
        <p:spPr>
          <a:xfrm>
            <a:off x="822960" y="1874520"/>
            <a:ext cx="10058400" cy="1737360"/>
          </a:xfrm>
          <a:prstGeom prst="rect">
            <a:avLst/>
          </a:prstGeom>
          <a:noFill/>
          <a:ln/>
        </p:spPr>
        <p:txBody>
          <a:bodyPr wrap="square" lIns="0" tIns="0" rIns="0" bIns="0" rtlCol="0" anchor="ctr"/>
          <a:lstStyle/>
          <a:p>
            <a:pPr marL="0" indent="0">
              <a:lnSpc>
                <a:spcPct val="115000"/>
              </a:lnSpc>
              <a:buNone/>
            </a:pPr>
            <a:r>
              <a:rPr lang="en-US" sz="3800" b="1" dirty="0">
                <a:solidFill>
                  <a:srgbClr val="FFFFFF"/>
                </a:solidFill>
                <a:latin typeface="Noto Sans JP" pitchFamily="34" charset="0"/>
                <a:ea typeface="Noto Sans JP" pitchFamily="34" charset="-122"/>
                <a:cs typeface="Noto Sans JP" pitchFamily="34" charset="-120"/>
              </a:rPr>
              <a:t>AI検索で、</a:t>
            </a:r>
            <a:endParaRPr lang="en-US" sz="3800" dirty="0"/>
          </a:p>
          <a:p>
            <a:pPr marL="0" indent="0">
              <a:lnSpc>
                <a:spcPct val="115000"/>
              </a:lnSpc>
              <a:buNone/>
            </a:pPr>
            <a:r>
              <a:rPr lang="en-US" sz="3800" b="1" dirty="0">
                <a:solidFill>
                  <a:srgbClr val="FFFFFF"/>
                </a:solidFill>
                <a:latin typeface="Noto Sans JP" pitchFamily="34" charset="0"/>
                <a:ea typeface="Noto Sans JP" pitchFamily="34" charset="-122"/>
                <a:cs typeface="Noto Sans JP" pitchFamily="34" charset="-120"/>
              </a:rPr>
              <a:t>“選ばれる買取店”になるために。</a:t>
            </a:r>
            <a:endParaRPr lang="en-US" sz="3800" dirty="0"/>
          </a:p>
        </p:txBody>
      </p:sp>
      <p:sp>
        <p:nvSpPr>
          <p:cNvPr id="7" name="Text 5"/>
          <p:cNvSpPr/>
          <p:nvPr/>
        </p:nvSpPr>
        <p:spPr>
          <a:xfrm>
            <a:off x="841248" y="3977640"/>
            <a:ext cx="8686800" cy="457200"/>
          </a:xfrm>
          <a:prstGeom prst="rect">
            <a:avLst/>
          </a:prstGeom>
          <a:noFill/>
          <a:ln/>
        </p:spPr>
        <p:txBody>
          <a:bodyPr wrap="square" lIns="0" tIns="0" rIns="0" bIns="0" rtlCol="0" anchor="ctr"/>
          <a:lstStyle/>
          <a:p>
            <a:pPr marL="0" indent="0">
              <a:buNone/>
            </a:pPr>
            <a:r>
              <a:rPr lang="en-US" sz="1700" b="1" dirty="0">
                <a:solidFill>
                  <a:srgbClr val="FFFFFF"/>
                </a:solidFill>
                <a:latin typeface="Noto Sans JP" pitchFamily="34" charset="0"/>
                <a:ea typeface="Noto Sans JP" pitchFamily="34" charset="-122"/>
                <a:cs typeface="Noto Sans JP" pitchFamily="34" charset="-120"/>
              </a:rPr>
              <a:t>カーセブン様</a:t>
            </a:r>
            <a:endParaRPr lang="en-US" sz="1700" dirty="0"/>
          </a:p>
        </p:txBody>
      </p:sp>
      <p:sp>
        <p:nvSpPr>
          <p:cNvPr id="8" name="Text 6"/>
          <p:cNvSpPr/>
          <p:nvPr/>
        </p:nvSpPr>
        <p:spPr>
          <a:xfrm>
            <a:off x="841248" y="4526280"/>
            <a:ext cx="9601200" cy="822960"/>
          </a:xfrm>
          <a:prstGeom prst="rect">
            <a:avLst/>
          </a:prstGeom>
          <a:noFill/>
          <a:ln/>
        </p:spPr>
        <p:txBody>
          <a:bodyPr wrap="square" lIns="0" tIns="0" rIns="0" bIns="0" rtlCol="0" anchor="ctr"/>
          <a:lstStyle/>
          <a:p>
            <a:pPr marL="0" indent="0">
              <a:lnSpc>
                <a:spcPct val="140000"/>
              </a:lnSpc>
              <a:buNone/>
            </a:pPr>
            <a:r>
              <a:rPr lang="en-US" sz="1250" dirty="0">
                <a:solidFill>
                  <a:srgbClr val="D9CBF2"/>
                </a:solidFill>
                <a:latin typeface="Noto Sans JP" pitchFamily="34" charset="0"/>
                <a:ea typeface="Noto Sans JP" pitchFamily="34" charset="-122"/>
                <a:cs typeface="Noto Sans JP" pitchFamily="34" charset="-120"/>
              </a:rPr>
              <a:t>対象サイト：https://www.carseven.co.jp/ ｜ 事業カテゴリー：車買取・車査定</a:t>
            </a:r>
            <a:endParaRPr lang="en-US" sz="1250" dirty="0"/>
          </a:p>
          <a:p>
            <a:pPr marL="0" indent="0">
              <a:lnSpc>
                <a:spcPct val="140000"/>
              </a:lnSpc>
              <a:buNone/>
            </a:pPr>
            <a:r>
              <a:rPr lang="en-US" sz="1250" dirty="0">
                <a:solidFill>
                  <a:srgbClr val="D9CBF2"/>
                </a:solidFill>
                <a:latin typeface="Noto Sans JP" pitchFamily="34" charset="0"/>
                <a:ea typeface="Noto Sans JP" pitchFamily="34" charset="-122"/>
                <a:cs typeface="Noto Sans JP" pitchFamily="34" charset="-120"/>
              </a:rPr>
              <a:t>計測：EmmaTools LLMOツール（ChatGPT・Gemini・AI Overviews）｜ 取得日：2026-08-31</a:t>
            </a:r>
            <a:endParaRPr lang="en-US" sz="1250" dirty="0"/>
          </a:p>
        </p:txBody>
      </p:sp>
      <p:sp>
        <p:nvSpPr>
          <p:cNvPr id="9" name="Text 7"/>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EXIDEA Inc. / EmmaTools LLMO</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AGENDA</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本日お話しすること</a:t>
            </a:r>
            <a:endParaRPr lang="en-US" sz="2500" dirty="0"/>
          </a:p>
        </p:txBody>
      </p:sp>
      <p:sp>
        <p:nvSpPr>
          <p:cNvPr id="4" name="Shape 2"/>
          <p:cNvSpPr/>
          <p:nvPr/>
        </p:nvSpPr>
        <p:spPr>
          <a:xfrm>
            <a:off x="502920" y="1463040"/>
            <a:ext cx="11183112" cy="640080"/>
          </a:xfrm>
          <a:prstGeom prst="roundRect">
            <a:avLst>
              <a:gd name="adj" fmla="val 15714"/>
            </a:avLst>
          </a:prstGeom>
          <a:solidFill>
            <a:srgbClr val="F5F5F7"/>
          </a:solidFill>
          <a:ln/>
        </p:spPr>
        <p:txBody>
          <a:bodyPr/>
          <a:lstStyle/>
          <a:p>
            <a:endParaRPr lang="ja-JP" altLang="en-US"/>
          </a:p>
        </p:txBody>
      </p:sp>
      <p:sp>
        <p:nvSpPr>
          <p:cNvPr id="5" name="Text 3"/>
          <p:cNvSpPr/>
          <p:nvPr/>
        </p:nvSpPr>
        <p:spPr>
          <a:xfrm>
            <a:off x="777240" y="1463040"/>
            <a:ext cx="914400" cy="640080"/>
          </a:xfrm>
          <a:prstGeom prst="rect">
            <a:avLst/>
          </a:prstGeom>
          <a:noFill/>
          <a:ln/>
        </p:spPr>
        <p:txBody>
          <a:bodyPr wrap="square" lIns="0" tIns="0" rIns="0" bIns="0" rtlCol="0" anchor="ctr"/>
          <a:lstStyle/>
          <a:p>
            <a:pPr marL="0" indent="0">
              <a:buNone/>
            </a:pPr>
            <a:r>
              <a:rPr lang="en-US" sz="2000" b="1" dirty="0">
                <a:solidFill>
                  <a:srgbClr val="8541DC"/>
                </a:solidFill>
                <a:latin typeface="Noto Sans JP" pitchFamily="34" charset="0"/>
                <a:ea typeface="Noto Sans JP" pitchFamily="34" charset="-122"/>
                <a:cs typeface="Noto Sans JP" pitchFamily="34" charset="-120"/>
              </a:rPr>
              <a:t>01</a:t>
            </a:r>
            <a:endParaRPr lang="en-US" sz="2000" dirty="0"/>
          </a:p>
        </p:txBody>
      </p:sp>
      <p:sp>
        <p:nvSpPr>
          <p:cNvPr id="6" name="Text 4"/>
          <p:cNvSpPr/>
          <p:nvPr/>
        </p:nvSpPr>
        <p:spPr>
          <a:xfrm>
            <a:off x="1828800" y="1463040"/>
            <a:ext cx="3931920" cy="640080"/>
          </a:xfrm>
          <a:prstGeom prst="rect">
            <a:avLst/>
          </a:prstGeom>
          <a:noFill/>
          <a:ln/>
        </p:spPr>
        <p:txBody>
          <a:bodyPr wrap="square" lIns="0" tIns="0" rIns="0" bIns="0" rtlCol="0" anchor="ctr"/>
          <a:lstStyle/>
          <a:p>
            <a:pPr marL="0" indent="0">
              <a:buNone/>
            </a:pPr>
            <a:r>
              <a:rPr lang="en-US" sz="1350" b="1" dirty="0">
                <a:solidFill>
                  <a:srgbClr val="222222"/>
                </a:solidFill>
                <a:latin typeface="Noto Sans JP" pitchFamily="34" charset="0"/>
                <a:ea typeface="Noto Sans JP" pitchFamily="34" charset="-122"/>
                <a:cs typeface="Noto Sans JP" pitchFamily="34" charset="-120"/>
              </a:rPr>
              <a:t>LLMOの考え方</a:t>
            </a:r>
            <a:endParaRPr lang="en-US" sz="1350" dirty="0"/>
          </a:p>
        </p:txBody>
      </p:sp>
      <p:sp>
        <p:nvSpPr>
          <p:cNvPr id="7" name="Text 5"/>
          <p:cNvSpPr/>
          <p:nvPr/>
        </p:nvSpPr>
        <p:spPr>
          <a:xfrm>
            <a:off x="5852160" y="1463040"/>
            <a:ext cx="5577840" cy="64008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AI時代に“選ばれる”とは何か（当社の考え方）</a:t>
            </a:r>
            <a:endParaRPr lang="en-US" sz="1050" dirty="0"/>
          </a:p>
        </p:txBody>
      </p:sp>
      <p:sp>
        <p:nvSpPr>
          <p:cNvPr id="8" name="Shape 6"/>
          <p:cNvSpPr/>
          <p:nvPr/>
        </p:nvSpPr>
        <p:spPr>
          <a:xfrm>
            <a:off x="502920" y="2231136"/>
            <a:ext cx="11183112" cy="640080"/>
          </a:xfrm>
          <a:prstGeom prst="roundRect">
            <a:avLst>
              <a:gd name="adj" fmla="val 15714"/>
            </a:avLst>
          </a:prstGeom>
          <a:solidFill>
            <a:srgbClr val="F5F5F7"/>
          </a:solidFill>
          <a:ln/>
        </p:spPr>
        <p:txBody>
          <a:bodyPr/>
          <a:lstStyle/>
          <a:p>
            <a:endParaRPr lang="ja-JP" altLang="en-US"/>
          </a:p>
        </p:txBody>
      </p:sp>
      <p:sp>
        <p:nvSpPr>
          <p:cNvPr id="9" name="Text 7"/>
          <p:cNvSpPr/>
          <p:nvPr/>
        </p:nvSpPr>
        <p:spPr>
          <a:xfrm>
            <a:off x="777240" y="2231136"/>
            <a:ext cx="914400" cy="640080"/>
          </a:xfrm>
          <a:prstGeom prst="rect">
            <a:avLst/>
          </a:prstGeom>
          <a:noFill/>
          <a:ln/>
        </p:spPr>
        <p:txBody>
          <a:bodyPr wrap="square" lIns="0" tIns="0" rIns="0" bIns="0" rtlCol="0" anchor="ctr"/>
          <a:lstStyle/>
          <a:p>
            <a:pPr marL="0" indent="0">
              <a:buNone/>
            </a:pPr>
            <a:r>
              <a:rPr lang="en-US" sz="2000" b="1" dirty="0">
                <a:solidFill>
                  <a:srgbClr val="8541DC"/>
                </a:solidFill>
                <a:latin typeface="Noto Sans JP" pitchFamily="34" charset="0"/>
                <a:ea typeface="Noto Sans JP" pitchFamily="34" charset="-122"/>
                <a:cs typeface="Noto Sans JP" pitchFamily="34" charset="-120"/>
              </a:rPr>
              <a:t>02</a:t>
            </a:r>
            <a:endParaRPr lang="en-US" sz="2000" dirty="0"/>
          </a:p>
        </p:txBody>
      </p:sp>
      <p:sp>
        <p:nvSpPr>
          <p:cNvPr id="10" name="Text 8"/>
          <p:cNvSpPr/>
          <p:nvPr/>
        </p:nvSpPr>
        <p:spPr>
          <a:xfrm>
            <a:off x="1828800" y="2231136"/>
            <a:ext cx="3931920" cy="640080"/>
          </a:xfrm>
          <a:prstGeom prst="rect">
            <a:avLst/>
          </a:prstGeom>
          <a:noFill/>
          <a:ln/>
        </p:spPr>
        <p:txBody>
          <a:bodyPr wrap="square" lIns="0" tIns="0" rIns="0" bIns="0" rtlCol="0" anchor="ctr"/>
          <a:lstStyle/>
          <a:p>
            <a:pPr marL="0" indent="0">
              <a:buNone/>
            </a:pPr>
            <a:r>
              <a:rPr lang="en-US" sz="1350" b="1" dirty="0">
                <a:solidFill>
                  <a:srgbClr val="222222"/>
                </a:solidFill>
                <a:latin typeface="Noto Sans JP" pitchFamily="34" charset="0"/>
                <a:ea typeface="Noto Sans JP" pitchFamily="34" charset="-122"/>
                <a:cs typeface="Noto Sans JP" pitchFamily="34" charset="-120"/>
              </a:rPr>
              <a:t>調査の前提</a:t>
            </a:r>
            <a:endParaRPr lang="en-US" sz="1350" dirty="0"/>
          </a:p>
        </p:txBody>
      </p:sp>
      <p:sp>
        <p:nvSpPr>
          <p:cNvPr id="11" name="Text 9"/>
          <p:cNvSpPr/>
          <p:nvPr/>
        </p:nvSpPr>
        <p:spPr>
          <a:xfrm>
            <a:off x="5852160" y="2231136"/>
            <a:ext cx="5577840" cy="64008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計測したプロンプトと読み方（無料版・限定本数）</a:t>
            </a:r>
            <a:endParaRPr lang="en-US" sz="1050" dirty="0"/>
          </a:p>
        </p:txBody>
      </p:sp>
      <p:sp>
        <p:nvSpPr>
          <p:cNvPr id="12" name="Shape 10"/>
          <p:cNvSpPr/>
          <p:nvPr/>
        </p:nvSpPr>
        <p:spPr>
          <a:xfrm>
            <a:off x="502920" y="2999232"/>
            <a:ext cx="11183112" cy="640080"/>
          </a:xfrm>
          <a:prstGeom prst="roundRect">
            <a:avLst>
              <a:gd name="adj" fmla="val 15714"/>
            </a:avLst>
          </a:prstGeom>
          <a:solidFill>
            <a:srgbClr val="F0E6FC"/>
          </a:solidFill>
          <a:ln/>
        </p:spPr>
        <p:txBody>
          <a:bodyPr/>
          <a:lstStyle/>
          <a:p>
            <a:endParaRPr lang="ja-JP" altLang="en-US"/>
          </a:p>
        </p:txBody>
      </p:sp>
      <p:sp>
        <p:nvSpPr>
          <p:cNvPr id="13" name="Text 11"/>
          <p:cNvSpPr/>
          <p:nvPr/>
        </p:nvSpPr>
        <p:spPr>
          <a:xfrm>
            <a:off x="777240" y="2999232"/>
            <a:ext cx="914400" cy="640080"/>
          </a:xfrm>
          <a:prstGeom prst="rect">
            <a:avLst/>
          </a:prstGeom>
          <a:noFill/>
          <a:ln/>
        </p:spPr>
        <p:txBody>
          <a:bodyPr wrap="square" lIns="0" tIns="0" rIns="0" bIns="0" rtlCol="0" anchor="ctr"/>
          <a:lstStyle/>
          <a:p>
            <a:pPr marL="0" indent="0">
              <a:buNone/>
            </a:pPr>
            <a:r>
              <a:rPr lang="en-US" sz="2000" b="1" dirty="0">
                <a:solidFill>
                  <a:srgbClr val="8541DC"/>
                </a:solidFill>
                <a:latin typeface="Noto Sans JP" pitchFamily="34" charset="0"/>
                <a:ea typeface="Noto Sans JP" pitchFamily="34" charset="-122"/>
                <a:cs typeface="Noto Sans JP" pitchFamily="34" charset="-120"/>
              </a:rPr>
              <a:t>03</a:t>
            </a:r>
            <a:endParaRPr lang="en-US" sz="2000" dirty="0"/>
          </a:p>
        </p:txBody>
      </p:sp>
      <p:sp>
        <p:nvSpPr>
          <p:cNvPr id="14" name="Text 12"/>
          <p:cNvSpPr/>
          <p:nvPr/>
        </p:nvSpPr>
        <p:spPr>
          <a:xfrm>
            <a:off x="1828800" y="2999232"/>
            <a:ext cx="3931920" cy="640080"/>
          </a:xfrm>
          <a:prstGeom prst="rect">
            <a:avLst/>
          </a:prstGeom>
          <a:noFill/>
          <a:ln/>
        </p:spPr>
        <p:txBody>
          <a:bodyPr wrap="square" lIns="0" tIns="0" rIns="0" bIns="0" rtlCol="0" anchor="ctr"/>
          <a:lstStyle/>
          <a:p>
            <a:pPr marL="0" indent="0">
              <a:buNone/>
            </a:pPr>
            <a:r>
              <a:rPr lang="en-US" sz="1350" b="1" dirty="0">
                <a:solidFill>
                  <a:srgbClr val="222222"/>
                </a:solidFill>
                <a:latin typeface="Noto Sans JP" pitchFamily="34" charset="0"/>
                <a:ea typeface="Noto Sans JP" pitchFamily="34" charset="-122"/>
                <a:cs typeface="Noto Sans JP" pitchFamily="34" charset="-120"/>
              </a:rPr>
              <a:t>現状分析</a:t>
            </a:r>
            <a:endParaRPr lang="en-US" sz="1350" dirty="0"/>
          </a:p>
        </p:txBody>
      </p:sp>
      <p:sp>
        <p:nvSpPr>
          <p:cNvPr id="15" name="Text 13"/>
          <p:cNvSpPr/>
          <p:nvPr/>
        </p:nvSpPr>
        <p:spPr>
          <a:xfrm>
            <a:off x="5852160" y="2999232"/>
            <a:ext cx="5577840" cy="64008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ファネルKPI・ブランド認識・サイテーション・サイト診断</a:t>
            </a:r>
            <a:endParaRPr lang="en-US" sz="1050" dirty="0"/>
          </a:p>
        </p:txBody>
      </p:sp>
      <p:sp>
        <p:nvSpPr>
          <p:cNvPr id="16" name="Shape 14"/>
          <p:cNvSpPr/>
          <p:nvPr/>
        </p:nvSpPr>
        <p:spPr>
          <a:xfrm>
            <a:off x="502920" y="3767328"/>
            <a:ext cx="11183112" cy="640080"/>
          </a:xfrm>
          <a:prstGeom prst="roundRect">
            <a:avLst>
              <a:gd name="adj" fmla="val 15714"/>
            </a:avLst>
          </a:prstGeom>
          <a:solidFill>
            <a:srgbClr val="F5F5F7"/>
          </a:solidFill>
          <a:ln/>
        </p:spPr>
        <p:txBody>
          <a:bodyPr/>
          <a:lstStyle/>
          <a:p>
            <a:endParaRPr lang="ja-JP" altLang="en-US"/>
          </a:p>
        </p:txBody>
      </p:sp>
      <p:sp>
        <p:nvSpPr>
          <p:cNvPr id="17" name="Text 15"/>
          <p:cNvSpPr/>
          <p:nvPr/>
        </p:nvSpPr>
        <p:spPr>
          <a:xfrm>
            <a:off x="777240" y="3767328"/>
            <a:ext cx="914400" cy="640080"/>
          </a:xfrm>
          <a:prstGeom prst="rect">
            <a:avLst/>
          </a:prstGeom>
          <a:noFill/>
          <a:ln/>
        </p:spPr>
        <p:txBody>
          <a:bodyPr wrap="square" lIns="0" tIns="0" rIns="0" bIns="0" rtlCol="0" anchor="ctr"/>
          <a:lstStyle/>
          <a:p>
            <a:pPr marL="0" indent="0">
              <a:buNone/>
            </a:pPr>
            <a:r>
              <a:rPr lang="en-US" sz="2000" b="1" dirty="0">
                <a:solidFill>
                  <a:srgbClr val="8541DC"/>
                </a:solidFill>
                <a:latin typeface="Noto Sans JP" pitchFamily="34" charset="0"/>
                <a:ea typeface="Noto Sans JP" pitchFamily="34" charset="-122"/>
                <a:cs typeface="Noto Sans JP" pitchFamily="34" charset="-120"/>
              </a:rPr>
              <a:t>04</a:t>
            </a:r>
            <a:endParaRPr lang="en-US" sz="2000" dirty="0"/>
          </a:p>
        </p:txBody>
      </p:sp>
      <p:sp>
        <p:nvSpPr>
          <p:cNvPr id="18" name="Text 16"/>
          <p:cNvSpPr/>
          <p:nvPr/>
        </p:nvSpPr>
        <p:spPr>
          <a:xfrm>
            <a:off x="1828800" y="3767328"/>
            <a:ext cx="3931920" cy="640080"/>
          </a:xfrm>
          <a:prstGeom prst="rect">
            <a:avLst/>
          </a:prstGeom>
          <a:noFill/>
          <a:ln/>
        </p:spPr>
        <p:txBody>
          <a:bodyPr wrap="square" lIns="0" tIns="0" rIns="0" bIns="0" rtlCol="0" anchor="ctr"/>
          <a:lstStyle/>
          <a:p>
            <a:pPr marL="0" indent="0">
              <a:buNone/>
            </a:pPr>
            <a:r>
              <a:rPr lang="en-US" sz="1350" b="1" dirty="0">
                <a:solidFill>
                  <a:srgbClr val="222222"/>
                </a:solidFill>
                <a:latin typeface="Noto Sans JP" pitchFamily="34" charset="0"/>
                <a:ea typeface="Noto Sans JP" pitchFamily="34" charset="-122"/>
                <a:cs typeface="Noto Sans JP" pitchFamily="34" charset="-120"/>
              </a:rPr>
              <a:t>対策の方向性</a:t>
            </a:r>
            <a:endParaRPr lang="en-US" sz="1350" dirty="0"/>
          </a:p>
        </p:txBody>
      </p:sp>
      <p:sp>
        <p:nvSpPr>
          <p:cNvPr id="19" name="Text 17"/>
          <p:cNvSpPr/>
          <p:nvPr/>
        </p:nvSpPr>
        <p:spPr>
          <a:xfrm>
            <a:off x="5852160" y="3767328"/>
            <a:ext cx="5577840" cy="64008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事実をふまえた4つの方向性</a:t>
            </a:r>
            <a:endParaRPr lang="en-US" sz="1050" dirty="0"/>
          </a:p>
        </p:txBody>
      </p:sp>
      <p:sp>
        <p:nvSpPr>
          <p:cNvPr id="20" name="Shape 18"/>
          <p:cNvSpPr/>
          <p:nvPr/>
        </p:nvSpPr>
        <p:spPr>
          <a:xfrm>
            <a:off x="502920" y="4535424"/>
            <a:ext cx="11183112" cy="640080"/>
          </a:xfrm>
          <a:prstGeom prst="roundRect">
            <a:avLst>
              <a:gd name="adj" fmla="val 15714"/>
            </a:avLst>
          </a:prstGeom>
          <a:solidFill>
            <a:srgbClr val="F5F5F7"/>
          </a:solidFill>
          <a:ln/>
        </p:spPr>
        <p:txBody>
          <a:bodyPr/>
          <a:lstStyle/>
          <a:p>
            <a:endParaRPr lang="ja-JP" altLang="en-US"/>
          </a:p>
        </p:txBody>
      </p:sp>
      <p:sp>
        <p:nvSpPr>
          <p:cNvPr id="21" name="Text 19"/>
          <p:cNvSpPr/>
          <p:nvPr/>
        </p:nvSpPr>
        <p:spPr>
          <a:xfrm>
            <a:off x="777240" y="4535424"/>
            <a:ext cx="914400" cy="640080"/>
          </a:xfrm>
          <a:prstGeom prst="rect">
            <a:avLst/>
          </a:prstGeom>
          <a:noFill/>
          <a:ln/>
        </p:spPr>
        <p:txBody>
          <a:bodyPr wrap="square" lIns="0" tIns="0" rIns="0" bIns="0" rtlCol="0" anchor="ctr"/>
          <a:lstStyle/>
          <a:p>
            <a:pPr marL="0" indent="0">
              <a:buNone/>
            </a:pPr>
            <a:r>
              <a:rPr lang="en-US" sz="2000" b="1" dirty="0">
                <a:solidFill>
                  <a:srgbClr val="8541DC"/>
                </a:solidFill>
                <a:latin typeface="Noto Sans JP" pitchFamily="34" charset="0"/>
                <a:ea typeface="Noto Sans JP" pitchFamily="34" charset="-122"/>
                <a:cs typeface="Noto Sans JP" pitchFamily="34" charset="-120"/>
              </a:rPr>
              <a:t>05</a:t>
            </a:r>
            <a:endParaRPr lang="en-US" sz="2000" dirty="0"/>
          </a:p>
        </p:txBody>
      </p:sp>
      <p:sp>
        <p:nvSpPr>
          <p:cNvPr id="22" name="Text 20"/>
          <p:cNvSpPr/>
          <p:nvPr/>
        </p:nvSpPr>
        <p:spPr>
          <a:xfrm>
            <a:off x="1828800" y="4535424"/>
            <a:ext cx="3931920" cy="640080"/>
          </a:xfrm>
          <a:prstGeom prst="rect">
            <a:avLst/>
          </a:prstGeom>
          <a:noFill/>
          <a:ln/>
        </p:spPr>
        <p:txBody>
          <a:bodyPr wrap="square" lIns="0" tIns="0" rIns="0" bIns="0" rtlCol="0" anchor="ctr"/>
          <a:lstStyle/>
          <a:p>
            <a:pPr marL="0" indent="0">
              <a:buNone/>
            </a:pPr>
            <a:r>
              <a:rPr lang="en-US" sz="1350" b="1" dirty="0">
                <a:solidFill>
                  <a:srgbClr val="222222"/>
                </a:solidFill>
                <a:latin typeface="Noto Sans JP" pitchFamily="34" charset="0"/>
                <a:ea typeface="Noto Sans JP" pitchFamily="34" charset="-122"/>
                <a:cs typeface="Noto Sans JP" pitchFamily="34" charset="-120"/>
              </a:rPr>
              <a:t>AI経由売上の測り方</a:t>
            </a:r>
            <a:endParaRPr lang="en-US" sz="1350" dirty="0"/>
          </a:p>
        </p:txBody>
      </p:sp>
      <p:sp>
        <p:nvSpPr>
          <p:cNvPr id="23" name="Text 21"/>
          <p:cNvSpPr/>
          <p:nvPr/>
        </p:nvSpPr>
        <p:spPr>
          <a:xfrm>
            <a:off x="5852160" y="4535424"/>
            <a:ext cx="5577840" cy="64008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露出で終わらせず、貢献額を金額で示す</a:t>
            </a:r>
            <a:endParaRPr lang="en-US" sz="1050" dirty="0"/>
          </a:p>
        </p:txBody>
      </p:sp>
      <p:sp>
        <p:nvSpPr>
          <p:cNvPr id="24" name="Shape 22"/>
          <p:cNvSpPr/>
          <p:nvPr/>
        </p:nvSpPr>
        <p:spPr>
          <a:xfrm>
            <a:off x="502920" y="5303520"/>
            <a:ext cx="11183112" cy="640080"/>
          </a:xfrm>
          <a:prstGeom prst="roundRect">
            <a:avLst>
              <a:gd name="adj" fmla="val 15714"/>
            </a:avLst>
          </a:prstGeom>
          <a:solidFill>
            <a:srgbClr val="F5F5F7"/>
          </a:solidFill>
          <a:ln/>
        </p:spPr>
        <p:txBody>
          <a:bodyPr/>
          <a:lstStyle/>
          <a:p>
            <a:endParaRPr lang="ja-JP" altLang="en-US"/>
          </a:p>
        </p:txBody>
      </p:sp>
      <p:sp>
        <p:nvSpPr>
          <p:cNvPr id="25" name="Text 23"/>
          <p:cNvSpPr/>
          <p:nvPr/>
        </p:nvSpPr>
        <p:spPr>
          <a:xfrm>
            <a:off x="777240" y="5303520"/>
            <a:ext cx="914400" cy="640080"/>
          </a:xfrm>
          <a:prstGeom prst="rect">
            <a:avLst/>
          </a:prstGeom>
          <a:noFill/>
          <a:ln/>
        </p:spPr>
        <p:txBody>
          <a:bodyPr wrap="square" lIns="0" tIns="0" rIns="0" bIns="0" rtlCol="0" anchor="ctr"/>
          <a:lstStyle/>
          <a:p>
            <a:pPr marL="0" indent="0">
              <a:buNone/>
            </a:pPr>
            <a:r>
              <a:rPr lang="en-US" sz="2000" b="1" dirty="0">
                <a:solidFill>
                  <a:srgbClr val="8541DC"/>
                </a:solidFill>
                <a:latin typeface="Noto Sans JP" pitchFamily="34" charset="0"/>
                <a:ea typeface="Noto Sans JP" pitchFamily="34" charset="-122"/>
                <a:cs typeface="Noto Sans JP" pitchFamily="34" charset="-120"/>
              </a:rPr>
              <a:t>06</a:t>
            </a:r>
            <a:endParaRPr lang="en-US" sz="2000" dirty="0"/>
          </a:p>
        </p:txBody>
      </p:sp>
      <p:sp>
        <p:nvSpPr>
          <p:cNvPr id="26" name="Text 24"/>
          <p:cNvSpPr/>
          <p:nvPr/>
        </p:nvSpPr>
        <p:spPr>
          <a:xfrm>
            <a:off x="1828800" y="5303520"/>
            <a:ext cx="3931920" cy="640080"/>
          </a:xfrm>
          <a:prstGeom prst="rect">
            <a:avLst/>
          </a:prstGeom>
          <a:noFill/>
          <a:ln/>
        </p:spPr>
        <p:txBody>
          <a:bodyPr wrap="square" lIns="0" tIns="0" rIns="0" bIns="0" rtlCol="0" anchor="ctr"/>
          <a:lstStyle/>
          <a:p>
            <a:pPr marL="0" indent="0">
              <a:buNone/>
            </a:pPr>
            <a:r>
              <a:rPr lang="en-US" sz="1350" b="1" dirty="0">
                <a:solidFill>
                  <a:srgbClr val="222222"/>
                </a:solidFill>
                <a:latin typeface="Noto Sans JP" pitchFamily="34" charset="0"/>
                <a:ea typeface="Noto Sans JP" pitchFamily="34" charset="-122"/>
                <a:cs typeface="Noto Sans JP" pitchFamily="34" charset="-120"/>
              </a:rPr>
              <a:t>ここから先のご支援</a:t>
            </a:r>
            <a:endParaRPr lang="en-US" sz="1350" dirty="0"/>
          </a:p>
        </p:txBody>
      </p:sp>
      <p:sp>
        <p:nvSpPr>
          <p:cNvPr id="27" name="Text 25"/>
          <p:cNvSpPr/>
          <p:nvPr/>
        </p:nvSpPr>
        <p:spPr>
          <a:xfrm>
            <a:off x="5852160" y="5303520"/>
            <a:ext cx="5577840" cy="64008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実行まで任せる／自社で回す／軽く続ける</a:t>
            </a:r>
            <a:endParaRPr lang="en-US" sz="1050" dirty="0"/>
          </a:p>
        </p:txBody>
      </p:sp>
      <p:sp>
        <p:nvSpPr>
          <p:cNvPr id="28" name="Text 2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9" name="Text 2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txBody>
          <a:bodyPr/>
          <a:lstStyle/>
          <a:p>
            <a:endParaRPr lang="ja-JP" altLang="en-US"/>
          </a:p>
        </p:txBody>
      </p:sp>
      <p:sp>
        <p:nvSpPr>
          <p:cNvPr id="3" name="Shape 1"/>
          <p:cNvSpPr/>
          <p:nvPr/>
        </p:nvSpPr>
        <p:spPr>
          <a:xfrm>
            <a:off x="9680753" y="5368388"/>
            <a:ext cx="1133856" cy="1133856"/>
          </a:xfrm>
          <a:prstGeom prst="ellipse">
            <a:avLst/>
          </a:prstGeom>
          <a:solidFill>
            <a:srgbClr val="D9CBF2">
              <a:alpha val="32000"/>
            </a:srgbClr>
          </a:solidFill>
          <a:ln/>
        </p:spPr>
        <p:txBody>
          <a:bodyPr/>
          <a:lstStyle/>
          <a:p>
            <a:endParaRPr lang="ja-JP" altLang="en-US"/>
          </a:p>
        </p:txBody>
      </p:sp>
      <p:sp>
        <p:nvSpPr>
          <p:cNvPr id="4" name="Shape 2"/>
          <p:cNvSpPr/>
          <p:nvPr/>
        </p:nvSpPr>
        <p:spPr>
          <a:xfrm>
            <a:off x="10332720" y="5368388"/>
            <a:ext cx="1133856" cy="1133856"/>
          </a:xfrm>
          <a:prstGeom prst="ellipse">
            <a:avLst/>
          </a:prstGeom>
          <a:solidFill>
            <a:srgbClr val="B49AE6">
              <a:alpha val="32000"/>
            </a:srgbClr>
          </a:solidFill>
          <a:ln/>
        </p:spPr>
        <p:txBody>
          <a:bodyPr/>
          <a:lstStyle/>
          <a:p>
            <a:endParaRPr lang="ja-JP" altLang="en-US"/>
          </a:p>
        </p:txBody>
      </p:sp>
      <p:sp>
        <p:nvSpPr>
          <p:cNvPr id="5" name="Text 3"/>
          <p:cNvSpPr/>
          <p:nvPr/>
        </p:nvSpPr>
        <p:spPr>
          <a:xfrm>
            <a:off x="822960" y="1920240"/>
            <a:ext cx="4572000" cy="822960"/>
          </a:xfrm>
          <a:prstGeom prst="rect">
            <a:avLst/>
          </a:prstGeom>
          <a:noFill/>
          <a:ln/>
        </p:spPr>
        <p:txBody>
          <a:bodyPr wrap="square" lIns="0" tIns="0" rIns="0" bIns="0" rtlCol="0" anchor="ctr"/>
          <a:lstStyle/>
          <a:p>
            <a:pPr marL="0" indent="0">
              <a:buNone/>
            </a:pPr>
            <a:r>
              <a:rPr lang="en-US" sz="4000" b="1" dirty="0">
                <a:solidFill>
                  <a:srgbClr val="8E76C8"/>
                </a:solidFill>
                <a:latin typeface="Noto Sans JP" pitchFamily="34" charset="0"/>
                <a:ea typeface="Noto Sans JP" pitchFamily="34" charset="-122"/>
                <a:cs typeface="Noto Sans JP" pitchFamily="34" charset="-120"/>
              </a:rPr>
              <a:t>01</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marL="0" indent="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LLMOの考え方</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marL="0" indent="0">
              <a:lnSpc>
                <a:spcPct val="135000"/>
              </a:lnSpc>
              <a:buNone/>
            </a:pPr>
            <a:r>
              <a:rPr lang="en-US" sz="1400" dirty="0">
                <a:solidFill>
                  <a:srgbClr val="D9CBF2"/>
                </a:solidFill>
                <a:latin typeface="Noto Sans JP" pitchFamily="34" charset="0"/>
                <a:ea typeface="Noto Sans JP" pitchFamily="34" charset="-122"/>
                <a:cs typeface="Noto Sans JP" pitchFamily="34" charset="-120"/>
              </a:rPr>
              <a:t>まず「AIに選ばれる」とは何かを揃えます。</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B9A7E0"/>
                </a:solidFill>
                <a:latin typeface="Noto Sans JP" pitchFamily="34" charset="0"/>
                <a:ea typeface="Noto Sans JP" pitchFamily="34" charset="-122"/>
                <a:cs typeface="Noto Sans JP"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ADOPTION — 生成AIの普及</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生成AIは、1年で“情報インフラ”になった</a:t>
            </a:r>
            <a:endParaRPr lang="en-US" sz="2500" dirty="0"/>
          </a:p>
        </p:txBody>
      </p:sp>
      <p:sp>
        <p:nvSpPr>
          <p:cNvPr id="4" name="Text 2"/>
          <p:cNvSpPr/>
          <p:nvPr/>
        </p:nvSpPr>
        <p:spPr>
          <a:xfrm>
            <a:off x="640080" y="1874520"/>
            <a:ext cx="3566160" cy="868680"/>
          </a:xfrm>
          <a:prstGeom prst="rect">
            <a:avLst/>
          </a:prstGeom>
          <a:noFill/>
          <a:ln/>
        </p:spPr>
        <p:txBody>
          <a:bodyPr wrap="square" lIns="0" tIns="0" rIns="0" bIns="0" rtlCol="0" anchor="ctr"/>
          <a:lstStyle/>
          <a:p>
            <a:pPr marL="0" indent="0" algn="l">
              <a:buNone/>
            </a:pPr>
            <a:r>
              <a:rPr lang="en-US" sz="4400" b="1" dirty="0">
                <a:solidFill>
                  <a:srgbClr val="8541DC"/>
                </a:solidFill>
                <a:latin typeface="Noto Sans JP" pitchFamily="34" charset="0"/>
                <a:ea typeface="Noto Sans JP" pitchFamily="34" charset="-122"/>
                <a:cs typeface="Noto Sans JP" pitchFamily="34" charset="-120"/>
              </a:rPr>
              <a:t>51%</a:t>
            </a:r>
            <a:endParaRPr lang="en-US" sz="4400" dirty="0"/>
          </a:p>
        </p:txBody>
      </p:sp>
      <p:sp>
        <p:nvSpPr>
          <p:cNvPr id="5" name="Text 3"/>
          <p:cNvSpPr/>
          <p:nvPr/>
        </p:nvSpPr>
        <p:spPr>
          <a:xfrm>
            <a:off x="640080" y="2770632"/>
            <a:ext cx="3566160" cy="59436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日本の生成AI利用率（1年で27%→51%・1.9倍）</a:t>
            </a:r>
            <a:endParaRPr lang="en-US" sz="1250" dirty="0"/>
          </a:p>
        </p:txBody>
      </p:sp>
      <p:sp>
        <p:nvSpPr>
          <p:cNvPr id="6" name="Text 4"/>
          <p:cNvSpPr/>
          <p:nvPr/>
        </p:nvSpPr>
        <p:spPr>
          <a:xfrm>
            <a:off x="640080" y="3355848"/>
            <a:ext cx="3566160" cy="457200"/>
          </a:xfrm>
          <a:prstGeom prst="rect">
            <a:avLst/>
          </a:prstGeom>
          <a:noFill/>
          <a:ln/>
        </p:spPr>
        <p:txBody>
          <a:bodyPr wrap="square" lIns="0" tIns="0" rIns="0" bIns="0" rtlCol="0" anchor="ctr"/>
          <a:lstStyle/>
          <a:p>
            <a:pPr marL="0" indent="0">
              <a:lnSpc>
                <a:spcPct val="115000"/>
              </a:lnSpc>
              <a:buNone/>
            </a:pPr>
            <a:r>
              <a:rPr lang="en-US" sz="850" dirty="0">
                <a:solidFill>
                  <a:srgbClr val="8A8F98"/>
                </a:solidFill>
                <a:latin typeface="Noto Sans JP" pitchFamily="34" charset="0"/>
                <a:ea typeface="Noto Sans JP" pitchFamily="34" charset="-122"/>
                <a:cs typeface="Noto Sans JP" pitchFamily="34" charset="-120"/>
              </a:rPr>
              <a:t>NTTドコモ モバイル社会研究所 2026</a:t>
            </a:r>
            <a:endParaRPr lang="en-US" sz="850" dirty="0"/>
          </a:p>
        </p:txBody>
      </p:sp>
      <p:sp>
        <p:nvSpPr>
          <p:cNvPr id="7" name="Text 5"/>
          <p:cNvSpPr/>
          <p:nvPr/>
        </p:nvSpPr>
        <p:spPr>
          <a:xfrm>
            <a:off x="4434840" y="1874520"/>
            <a:ext cx="3566160" cy="868680"/>
          </a:xfrm>
          <a:prstGeom prst="rect">
            <a:avLst/>
          </a:prstGeom>
          <a:noFill/>
          <a:ln/>
        </p:spPr>
        <p:txBody>
          <a:bodyPr wrap="square" lIns="0" tIns="0" rIns="0" bIns="0" rtlCol="0" anchor="ctr"/>
          <a:lstStyle/>
          <a:p>
            <a:pPr marL="0" indent="0" algn="l">
              <a:buNone/>
            </a:pPr>
            <a:r>
              <a:rPr lang="en-US" sz="4400" b="1" dirty="0">
                <a:solidFill>
                  <a:srgbClr val="8541DC"/>
                </a:solidFill>
                <a:latin typeface="Noto Sans JP" pitchFamily="34" charset="0"/>
                <a:ea typeface="Noto Sans JP" pitchFamily="34" charset="-122"/>
                <a:cs typeface="Noto Sans JP" pitchFamily="34" charset="-120"/>
              </a:rPr>
              <a:t>57%</a:t>
            </a:r>
            <a:endParaRPr lang="en-US" sz="4400" dirty="0"/>
          </a:p>
        </p:txBody>
      </p:sp>
      <p:sp>
        <p:nvSpPr>
          <p:cNvPr id="8" name="Text 6"/>
          <p:cNvSpPr/>
          <p:nvPr/>
        </p:nvSpPr>
        <p:spPr>
          <a:xfrm>
            <a:off x="4434840" y="2770632"/>
            <a:ext cx="3566160" cy="59436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商品推薦で生成AIを主要ツールに（16%→57%）</a:t>
            </a:r>
            <a:endParaRPr lang="en-US" sz="1250" dirty="0"/>
          </a:p>
        </p:txBody>
      </p:sp>
      <p:sp>
        <p:nvSpPr>
          <p:cNvPr id="9" name="Text 7"/>
          <p:cNvSpPr/>
          <p:nvPr/>
        </p:nvSpPr>
        <p:spPr>
          <a:xfrm>
            <a:off x="4434840" y="3355848"/>
            <a:ext cx="3566160" cy="457200"/>
          </a:xfrm>
          <a:prstGeom prst="rect">
            <a:avLst/>
          </a:prstGeom>
          <a:noFill/>
          <a:ln/>
        </p:spPr>
        <p:txBody>
          <a:bodyPr wrap="square" lIns="0" tIns="0" rIns="0" bIns="0" rtlCol="0" anchor="ctr"/>
          <a:lstStyle/>
          <a:p>
            <a:pPr marL="0" indent="0">
              <a:lnSpc>
                <a:spcPct val="115000"/>
              </a:lnSpc>
              <a:buNone/>
            </a:pPr>
            <a:r>
              <a:rPr lang="en-US" sz="850" dirty="0">
                <a:solidFill>
                  <a:srgbClr val="8A8F98"/>
                </a:solidFill>
                <a:latin typeface="Noto Sans JP" pitchFamily="34" charset="0"/>
                <a:ea typeface="Noto Sans JP" pitchFamily="34" charset="-122"/>
                <a:cs typeface="Noto Sans JP" pitchFamily="34" charset="-120"/>
              </a:rPr>
              <a:t>Capgemini 2025</a:t>
            </a:r>
            <a:endParaRPr lang="en-US" sz="850" dirty="0"/>
          </a:p>
        </p:txBody>
      </p:sp>
      <p:sp>
        <p:nvSpPr>
          <p:cNvPr id="10" name="Text 8"/>
          <p:cNvSpPr/>
          <p:nvPr/>
        </p:nvSpPr>
        <p:spPr>
          <a:xfrm>
            <a:off x="8229600" y="1874520"/>
            <a:ext cx="3474720" cy="868680"/>
          </a:xfrm>
          <a:prstGeom prst="rect">
            <a:avLst/>
          </a:prstGeom>
          <a:noFill/>
          <a:ln/>
        </p:spPr>
        <p:txBody>
          <a:bodyPr wrap="square" lIns="0" tIns="0" rIns="0" bIns="0" rtlCol="0" anchor="ctr"/>
          <a:lstStyle/>
          <a:p>
            <a:pPr marL="0" indent="0" algn="l">
              <a:buNone/>
            </a:pPr>
            <a:r>
              <a:rPr lang="en-US" sz="4400" b="1" dirty="0">
                <a:solidFill>
                  <a:srgbClr val="F57527"/>
                </a:solidFill>
                <a:latin typeface="Noto Sans JP" pitchFamily="34" charset="0"/>
                <a:ea typeface="Noto Sans JP" pitchFamily="34" charset="-122"/>
                <a:cs typeface="Noto Sans JP" pitchFamily="34" charset="-120"/>
              </a:rPr>
              <a:t>44%</a:t>
            </a:r>
            <a:endParaRPr lang="en-US" sz="4400" dirty="0"/>
          </a:p>
        </p:txBody>
      </p:sp>
      <p:sp>
        <p:nvSpPr>
          <p:cNvPr id="11" name="Text 9"/>
          <p:cNvSpPr/>
          <p:nvPr/>
        </p:nvSpPr>
        <p:spPr>
          <a:xfrm>
            <a:off x="8229600" y="2770632"/>
            <a:ext cx="3474720" cy="59436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購買判断の主要情報源1位＝AI検索（従来検索31%）</a:t>
            </a:r>
            <a:endParaRPr lang="en-US" sz="1250" dirty="0"/>
          </a:p>
        </p:txBody>
      </p:sp>
      <p:sp>
        <p:nvSpPr>
          <p:cNvPr id="12" name="Text 10"/>
          <p:cNvSpPr/>
          <p:nvPr/>
        </p:nvSpPr>
        <p:spPr>
          <a:xfrm>
            <a:off x="8229600" y="3355848"/>
            <a:ext cx="3474720" cy="457200"/>
          </a:xfrm>
          <a:prstGeom prst="rect">
            <a:avLst/>
          </a:prstGeom>
          <a:noFill/>
          <a:ln/>
        </p:spPr>
        <p:txBody>
          <a:bodyPr wrap="square" lIns="0" tIns="0" rIns="0" bIns="0" rtlCol="0" anchor="ctr"/>
          <a:lstStyle/>
          <a:p>
            <a:pPr marL="0" indent="0">
              <a:lnSpc>
                <a:spcPct val="115000"/>
              </a:lnSpc>
              <a:buNone/>
            </a:pPr>
            <a:r>
              <a:rPr lang="en-US" sz="850" dirty="0">
                <a:solidFill>
                  <a:srgbClr val="8A8F98"/>
                </a:solidFill>
                <a:latin typeface="Noto Sans JP" pitchFamily="34" charset="0"/>
                <a:ea typeface="Noto Sans JP" pitchFamily="34" charset="-122"/>
                <a:cs typeface="Noto Sans JP" pitchFamily="34" charset="-120"/>
              </a:rPr>
              <a:t>McKinsey</a:t>
            </a:r>
            <a:endParaRPr lang="en-US" sz="850" dirty="0"/>
          </a:p>
        </p:txBody>
      </p:sp>
      <p:sp>
        <p:nvSpPr>
          <p:cNvPr id="13" name="Shape 11"/>
          <p:cNvSpPr/>
          <p:nvPr/>
        </p:nvSpPr>
        <p:spPr>
          <a:xfrm>
            <a:off x="502920" y="3977640"/>
            <a:ext cx="11183112" cy="2057400"/>
          </a:xfrm>
          <a:prstGeom prst="roundRect">
            <a:avLst>
              <a:gd name="adj" fmla="val 4889"/>
            </a:avLst>
          </a:prstGeom>
          <a:solidFill>
            <a:srgbClr val="F5F5F7"/>
          </a:solidFill>
          <a:ln/>
        </p:spPr>
        <p:txBody>
          <a:bodyPr/>
          <a:lstStyle/>
          <a:p>
            <a:endParaRPr lang="ja-JP" altLang="en-US"/>
          </a:p>
        </p:txBody>
      </p:sp>
      <p:sp>
        <p:nvSpPr>
          <p:cNvPr id="14" name="Text 12"/>
          <p:cNvSpPr/>
          <p:nvPr/>
        </p:nvSpPr>
        <p:spPr>
          <a:xfrm>
            <a:off x="868680" y="4187952"/>
            <a:ext cx="10424160" cy="365760"/>
          </a:xfrm>
          <a:prstGeom prst="rect">
            <a:avLst/>
          </a:prstGeom>
          <a:noFill/>
          <a:ln/>
        </p:spPr>
        <p:txBody>
          <a:bodyPr wrap="square" lIns="0" tIns="0" rIns="0" bIns="0" rtlCol="0" anchor="ctr"/>
          <a:lstStyle/>
          <a:p>
            <a:pPr marL="0" indent="0">
              <a:buNone/>
            </a:pPr>
            <a:r>
              <a:rPr lang="en-US" sz="1400" b="1" dirty="0">
                <a:solidFill>
                  <a:srgbClr val="8541DC"/>
                </a:solidFill>
                <a:latin typeface="Noto Sans JP" pitchFamily="34" charset="0"/>
                <a:ea typeface="Noto Sans JP" pitchFamily="34" charset="-122"/>
                <a:cs typeface="Noto Sans JP" pitchFamily="34" charset="-120"/>
              </a:rPr>
              <a:t>要するに</a:t>
            </a:r>
            <a:endParaRPr lang="en-US" sz="1400" dirty="0"/>
          </a:p>
        </p:txBody>
      </p:sp>
      <p:sp>
        <p:nvSpPr>
          <p:cNvPr id="15" name="Text 13"/>
          <p:cNvSpPr/>
          <p:nvPr/>
        </p:nvSpPr>
        <p:spPr>
          <a:xfrm>
            <a:off x="868680" y="4617720"/>
            <a:ext cx="10424160" cy="128016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200" dirty="0">
                <a:solidFill>
                  <a:srgbClr val="222222"/>
                </a:solidFill>
                <a:latin typeface="Noto Sans JP" pitchFamily="34" charset="0"/>
                <a:ea typeface="Noto Sans JP" pitchFamily="34" charset="-122"/>
                <a:cs typeface="Noto Sans JP" pitchFamily="34" charset="-120"/>
              </a:rPr>
              <a:t>商品・サービス選びの入口が、検索エンジンからAIへ移りつつある</a:t>
            </a:r>
            <a:endParaRPr lang="en-US" sz="1200" dirty="0"/>
          </a:p>
          <a:p>
            <a:pPr marL="152400" indent="-152400">
              <a:lnSpc>
                <a:spcPct val="128000"/>
              </a:lnSpc>
              <a:spcAft>
                <a:spcPts val="700"/>
              </a:spcAft>
              <a:buSzPct val="100000"/>
              <a:buChar char="•"/>
            </a:pPr>
            <a:r>
              <a:rPr lang="en-US" sz="1200" dirty="0">
                <a:solidFill>
                  <a:srgbClr val="222222"/>
                </a:solidFill>
                <a:latin typeface="Noto Sans JP" pitchFamily="34" charset="0"/>
                <a:ea typeface="Noto Sans JP" pitchFamily="34" charset="-122"/>
                <a:cs typeface="Noto Sans JP" pitchFamily="34" charset="-120"/>
              </a:rPr>
              <a:t>検索順位ではなく“AI上での選定率”が、問い合わせ・売上を左右する</a:t>
            </a:r>
            <a:endParaRPr lang="en-US" sz="1200" dirty="0"/>
          </a:p>
          <a:p>
            <a:pPr marL="152400" indent="-152400">
              <a:lnSpc>
                <a:spcPct val="128000"/>
              </a:lnSpc>
              <a:spcAft>
                <a:spcPts val="700"/>
              </a:spcAft>
              <a:buSzPct val="100000"/>
              <a:buChar char="•"/>
            </a:pPr>
            <a:r>
              <a:rPr lang="en-US" sz="1200" dirty="0">
                <a:solidFill>
                  <a:srgbClr val="222222"/>
                </a:solidFill>
                <a:latin typeface="Noto Sans JP" pitchFamily="34" charset="0"/>
                <a:ea typeface="Noto Sans JP" pitchFamily="34" charset="-122"/>
                <a:cs typeface="Noto Sans JP" pitchFamily="34" charset="-120"/>
              </a:rPr>
              <a:t>AIに出てこない＝比較の土俵に乗っていない、という状態になりうる</a:t>
            </a:r>
            <a:endParaRPr lang="en-US" sz="1200" dirty="0"/>
          </a:p>
        </p:txBody>
      </p:sp>
      <p:sp>
        <p:nvSpPr>
          <p:cNvPr id="16" name="Text 14"/>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7" name="Text 15"/>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SALES IMPACT — 売上への直撃</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AIは、すでに“候補選び”を変えている</a:t>
            </a:r>
            <a:endParaRPr lang="en-US" sz="2500" dirty="0"/>
          </a:p>
        </p:txBody>
      </p:sp>
      <p:sp>
        <p:nvSpPr>
          <p:cNvPr id="4" name="Text 2"/>
          <p:cNvSpPr/>
          <p:nvPr/>
        </p:nvSpPr>
        <p:spPr>
          <a:xfrm>
            <a:off x="640080" y="1874520"/>
            <a:ext cx="3566160" cy="868680"/>
          </a:xfrm>
          <a:prstGeom prst="rect">
            <a:avLst/>
          </a:prstGeom>
          <a:noFill/>
          <a:ln/>
        </p:spPr>
        <p:txBody>
          <a:bodyPr wrap="square" lIns="0" tIns="0" rIns="0" bIns="0" rtlCol="0" anchor="ctr"/>
          <a:lstStyle/>
          <a:p>
            <a:pPr marL="0" indent="0" algn="l">
              <a:buNone/>
            </a:pPr>
            <a:r>
              <a:rPr lang="en-US" sz="4400" b="1" dirty="0">
                <a:solidFill>
                  <a:srgbClr val="8541DC"/>
                </a:solidFill>
                <a:latin typeface="Noto Sans JP" pitchFamily="34" charset="0"/>
                <a:ea typeface="Noto Sans JP" pitchFamily="34" charset="-122"/>
                <a:cs typeface="Noto Sans JP" pitchFamily="34" charset="-120"/>
              </a:rPr>
              <a:t>89%</a:t>
            </a:r>
            <a:endParaRPr lang="en-US" sz="4400" dirty="0"/>
          </a:p>
        </p:txBody>
      </p:sp>
      <p:sp>
        <p:nvSpPr>
          <p:cNvPr id="5" name="Text 3"/>
          <p:cNvSpPr/>
          <p:nvPr/>
        </p:nvSpPr>
        <p:spPr>
          <a:xfrm>
            <a:off x="640080" y="2770632"/>
            <a:ext cx="3566160" cy="59436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BtoB買い手が購買で生成AIを利用（95%が今後も継続）</a:t>
            </a:r>
            <a:endParaRPr lang="en-US" sz="1250" dirty="0"/>
          </a:p>
        </p:txBody>
      </p:sp>
      <p:sp>
        <p:nvSpPr>
          <p:cNvPr id="6" name="Text 4"/>
          <p:cNvSpPr/>
          <p:nvPr/>
        </p:nvSpPr>
        <p:spPr>
          <a:xfrm>
            <a:off x="640080" y="3355848"/>
            <a:ext cx="3566160" cy="457200"/>
          </a:xfrm>
          <a:prstGeom prst="rect">
            <a:avLst/>
          </a:prstGeom>
          <a:noFill/>
          <a:ln/>
        </p:spPr>
        <p:txBody>
          <a:bodyPr wrap="square" lIns="0" tIns="0" rIns="0" bIns="0" rtlCol="0" anchor="ctr"/>
          <a:lstStyle/>
          <a:p>
            <a:pPr marL="0" indent="0">
              <a:lnSpc>
                <a:spcPct val="115000"/>
              </a:lnSpc>
              <a:buNone/>
            </a:pPr>
            <a:r>
              <a:rPr lang="en-US" sz="850" dirty="0">
                <a:solidFill>
                  <a:srgbClr val="8A8F98"/>
                </a:solidFill>
                <a:latin typeface="Noto Sans JP" pitchFamily="34" charset="0"/>
                <a:ea typeface="Noto Sans JP" pitchFamily="34" charset="-122"/>
                <a:cs typeface="Noto Sans JP" pitchFamily="34" charset="-120"/>
              </a:rPr>
              <a:t>Forrester</a:t>
            </a:r>
            <a:endParaRPr lang="en-US" sz="850" dirty="0"/>
          </a:p>
        </p:txBody>
      </p:sp>
      <p:sp>
        <p:nvSpPr>
          <p:cNvPr id="7" name="Text 5"/>
          <p:cNvSpPr/>
          <p:nvPr/>
        </p:nvSpPr>
        <p:spPr>
          <a:xfrm>
            <a:off x="4434840" y="1874520"/>
            <a:ext cx="3566160" cy="868680"/>
          </a:xfrm>
          <a:prstGeom prst="rect">
            <a:avLst/>
          </a:prstGeom>
          <a:noFill/>
          <a:ln/>
        </p:spPr>
        <p:txBody>
          <a:bodyPr wrap="square" lIns="0" tIns="0" rIns="0" bIns="0" rtlCol="0" anchor="ctr"/>
          <a:lstStyle/>
          <a:p>
            <a:pPr marL="0" indent="0" algn="l">
              <a:buNone/>
            </a:pPr>
            <a:r>
              <a:rPr lang="en-US" sz="4400" b="1" dirty="0">
                <a:solidFill>
                  <a:srgbClr val="8541DC"/>
                </a:solidFill>
                <a:latin typeface="Noto Sans JP" pitchFamily="34" charset="0"/>
                <a:ea typeface="Noto Sans JP" pitchFamily="34" charset="-122"/>
                <a:cs typeface="Noto Sans JP" pitchFamily="34" charset="-120"/>
              </a:rPr>
              <a:t>50%+</a:t>
            </a:r>
            <a:endParaRPr lang="en-US" sz="4400" dirty="0"/>
          </a:p>
        </p:txBody>
      </p:sp>
      <p:sp>
        <p:nvSpPr>
          <p:cNvPr id="8" name="Text 6"/>
          <p:cNvSpPr/>
          <p:nvPr/>
        </p:nvSpPr>
        <p:spPr>
          <a:xfrm>
            <a:off x="4434840" y="2770632"/>
            <a:ext cx="3566160" cy="59436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AIによって“従来より多く/異なる候補”を検討に入れた</a:t>
            </a:r>
            <a:endParaRPr lang="en-US" sz="1250" dirty="0"/>
          </a:p>
        </p:txBody>
      </p:sp>
      <p:sp>
        <p:nvSpPr>
          <p:cNvPr id="9" name="Text 7"/>
          <p:cNvSpPr/>
          <p:nvPr/>
        </p:nvSpPr>
        <p:spPr>
          <a:xfrm>
            <a:off x="4434840" y="3355848"/>
            <a:ext cx="3566160" cy="457200"/>
          </a:xfrm>
          <a:prstGeom prst="rect">
            <a:avLst/>
          </a:prstGeom>
          <a:noFill/>
          <a:ln/>
        </p:spPr>
        <p:txBody>
          <a:bodyPr wrap="square" lIns="0" tIns="0" rIns="0" bIns="0" rtlCol="0" anchor="ctr"/>
          <a:lstStyle/>
          <a:p>
            <a:pPr marL="0" indent="0">
              <a:lnSpc>
                <a:spcPct val="115000"/>
              </a:lnSpc>
              <a:buNone/>
            </a:pPr>
            <a:r>
              <a:rPr lang="en-US" sz="850" dirty="0">
                <a:solidFill>
                  <a:srgbClr val="8A8F98"/>
                </a:solidFill>
                <a:latin typeface="Noto Sans JP" pitchFamily="34" charset="0"/>
                <a:ea typeface="Noto Sans JP" pitchFamily="34" charset="-122"/>
                <a:cs typeface="Noto Sans JP" pitchFamily="34" charset="-120"/>
              </a:rPr>
              <a:t>Forrester</a:t>
            </a:r>
            <a:endParaRPr lang="en-US" sz="850" dirty="0"/>
          </a:p>
        </p:txBody>
      </p:sp>
      <p:sp>
        <p:nvSpPr>
          <p:cNvPr id="10" name="Text 8"/>
          <p:cNvSpPr/>
          <p:nvPr/>
        </p:nvSpPr>
        <p:spPr>
          <a:xfrm>
            <a:off x="8229600" y="1874520"/>
            <a:ext cx="3474720" cy="868680"/>
          </a:xfrm>
          <a:prstGeom prst="rect">
            <a:avLst/>
          </a:prstGeom>
          <a:noFill/>
          <a:ln/>
        </p:spPr>
        <p:txBody>
          <a:bodyPr wrap="square" lIns="0" tIns="0" rIns="0" bIns="0" rtlCol="0" anchor="ctr"/>
          <a:lstStyle/>
          <a:p>
            <a:pPr marL="0" indent="0" algn="l">
              <a:buNone/>
            </a:pPr>
            <a:r>
              <a:rPr lang="en-US" sz="4400" b="1" dirty="0">
                <a:solidFill>
                  <a:srgbClr val="F57527"/>
                </a:solidFill>
                <a:latin typeface="Noto Sans JP" pitchFamily="34" charset="0"/>
                <a:ea typeface="Noto Sans JP" pitchFamily="34" charset="-122"/>
                <a:cs typeface="Noto Sans JP" pitchFamily="34" charset="-120"/>
              </a:rPr>
              <a:t>90〜95%</a:t>
            </a:r>
            <a:endParaRPr lang="en-US" sz="4400" dirty="0"/>
          </a:p>
        </p:txBody>
      </p:sp>
      <p:sp>
        <p:nvSpPr>
          <p:cNvPr id="11" name="Text 9"/>
          <p:cNvSpPr/>
          <p:nvPr/>
        </p:nvSpPr>
        <p:spPr>
          <a:xfrm>
            <a:off x="8229600" y="2770632"/>
            <a:ext cx="3474720" cy="59436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AIが評価で参照する“外部情報源”の比率（自社サイトは5〜10%）</a:t>
            </a:r>
            <a:endParaRPr lang="en-US" sz="1250" dirty="0"/>
          </a:p>
        </p:txBody>
      </p:sp>
      <p:sp>
        <p:nvSpPr>
          <p:cNvPr id="12" name="Text 10"/>
          <p:cNvSpPr/>
          <p:nvPr/>
        </p:nvSpPr>
        <p:spPr>
          <a:xfrm>
            <a:off x="8229600" y="3355848"/>
            <a:ext cx="3474720" cy="457200"/>
          </a:xfrm>
          <a:prstGeom prst="rect">
            <a:avLst/>
          </a:prstGeom>
          <a:noFill/>
          <a:ln/>
        </p:spPr>
        <p:txBody>
          <a:bodyPr wrap="square" lIns="0" tIns="0" rIns="0" bIns="0" rtlCol="0" anchor="ctr"/>
          <a:lstStyle/>
          <a:p>
            <a:pPr marL="0" indent="0">
              <a:lnSpc>
                <a:spcPct val="115000"/>
              </a:lnSpc>
              <a:buNone/>
            </a:pPr>
            <a:r>
              <a:rPr lang="en-US" sz="850" dirty="0">
                <a:solidFill>
                  <a:srgbClr val="8A8F98"/>
                </a:solidFill>
                <a:latin typeface="Noto Sans JP" pitchFamily="34" charset="0"/>
                <a:ea typeface="Noto Sans JP" pitchFamily="34" charset="-122"/>
                <a:cs typeface="Noto Sans JP" pitchFamily="34" charset="-120"/>
              </a:rPr>
              <a:t>McKinsey</a:t>
            </a:r>
            <a:endParaRPr lang="en-US" sz="850" dirty="0"/>
          </a:p>
        </p:txBody>
      </p:sp>
      <p:sp>
        <p:nvSpPr>
          <p:cNvPr id="13" name="Shape 11"/>
          <p:cNvSpPr/>
          <p:nvPr/>
        </p:nvSpPr>
        <p:spPr>
          <a:xfrm>
            <a:off x="502920" y="3977640"/>
            <a:ext cx="11183112" cy="2057400"/>
          </a:xfrm>
          <a:prstGeom prst="roundRect">
            <a:avLst>
              <a:gd name="adj" fmla="val 4889"/>
            </a:avLst>
          </a:prstGeom>
          <a:solidFill>
            <a:srgbClr val="4A1F87"/>
          </a:solidFill>
          <a:ln/>
        </p:spPr>
        <p:txBody>
          <a:bodyPr/>
          <a:lstStyle/>
          <a:p>
            <a:endParaRPr lang="ja-JP" altLang="en-US"/>
          </a:p>
        </p:txBody>
      </p:sp>
      <p:sp>
        <p:nvSpPr>
          <p:cNvPr id="14" name="Text 12"/>
          <p:cNvSpPr/>
          <p:nvPr/>
        </p:nvSpPr>
        <p:spPr>
          <a:xfrm>
            <a:off x="868680" y="4206240"/>
            <a:ext cx="10424160" cy="365760"/>
          </a:xfrm>
          <a:prstGeom prst="rect">
            <a:avLst/>
          </a:prstGeom>
          <a:noFill/>
          <a:ln/>
        </p:spPr>
        <p:txBody>
          <a:bodyPr wrap="square" lIns="0" tIns="0" rIns="0" bIns="0" rtlCol="0" anchor="ctr"/>
          <a:lstStyle/>
          <a:p>
            <a:pPr marL="0" indent="0">
              <a:buNone/>
            </a:pPr>
            <a:r>
              <a:rPr lang="en-US" sz="1400" b="1" dirty="0">
                <a:solidFill>
                  <a:srgbClr val="D9CBF2"/>
                </a:solidFill>
                <a:latin typeface="Noto Sans JP" pitchFamily="34" charset="0"/>
                <a:ea typeface="Noto Sans JP" pitchFamily="34" charset="-122"/>
                <a:cs typeface="Noto Sans JP" pitchFamily="34" charset="-120"/>
              </a:rPr>
              <a:t>だから“自社サイト改善だけ”では、AI評価は動かない</a:t>
            </a:r>
            <a:endParaRPr lang="en-US" sz="1400" dirty="0"/>
          </a:p>
        </p:txBody>
      </p:sp>
      <p:sp>
        <p:nvSpPr>
          <p:cNvPr id="15" name="Text 13"/>
          <p:cNvSpPr/>
          <p:nvPr/>
        </p:nvSpPr>
        <p:spPr>
          <a:xfrm>
            <a:off x="868680" y="4617720"/>
            <a:ext cx="10424160" cy="1280160"/>
          </a:xfrm>
          <a:prstGeom prst="rect">
            <a:avLst/>
          </a:prstGeom>
          <a:noFill/>
          <a:ln/>
        </p:spPr>
        <p:txBody>
          <a:bodyPr wrap="square" lIns="0" tIns="0" rIns="0" bIns="0" rtlCol="0" anchor="ctr"/>
          <a:lstStyle/>
          <a:p>
            <a:pPr marL="0" indent="0">
              <a:lnSpc>
                <a:spcPct val="140000"/>
              </a:lnSpc>
              <a:buNone/>
            </a:pPr>
            <a:r>
              <a:rPr lang="en-US" sz="1250" dirty="0">
                <a:solidFill>
                  <a:srgbClr val="FFFFFF"/>
                </a:solidFill>
                <a:latin typeface="Noto Sans JP" pitchFamily="34" charset="0"/>
                <a:ea typeface="Noto Sans JP" pitchFamily="34" charset="-122"/>
                <a:cs typeface="Noto Sans JP" pitchFamily="34" charset="-120"/>
              </a:rPr>
              <a:t>AIは「他人がどう言っているか（第三者情報）」を強く参照する。比較検討の段階で、AIの回答の中で候補が絞られている。自社発信に加え、第三者メディア・クチコミでの“言われ方”を設計する必要がある。</a:t>
            </a:r>
            <a:endParaRPr lang="en-US" sz="1250" dirty="0"/>
          </a:p>
        </p:txBody>
      </p:sp>
      <p:sp>
        <p:nvSpPr>
          <p:cNvPr id="16" name="Text 14"/>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7" name="Text 15"/>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REVISIT — AI推奨後の行動</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AIで見た後、顧客は“後から”訪れる</a:t>
            </a:r>
            <a:endParaRPr lang="en-US" sz="2500" dirty="0"/>
          </a:p>
        </p:txBody>
      </p:sp>
      <p:sp>
        <p:nvSpPr>
          <p:cNvPr id="4" name="Shape 2"/>
          <p:cNvSpPr/>
          <p:nvPr/>
        </p:nvSpPr>
        <p:spPr>
          <a:xfrm>
            <a:off x="502920" y="1600200"/>
            <a:ext cx="11183112" cy="1234440"/>
          </a:xfrm>
          <a:prstGeom prst="roundRect">
            <a:avLst>
              <a:gd name="adj" fmla="val 8148"/>
            </a:avLst>
          </a:prstGeom>
          <a:solidFill>
            <a:srgbClr val="F0E6FC"/>
          </a:solidFill>
          <a:ln/>
        </p:spPr>
        <p:txBody>
          <a:bodyPr/>
          <a:lstStyle/>
          <a:p>
            <a:endParaRPr lang="ja-JP" altLang="en-US"/>
          </a:p>
        </p:txBody>
      </p:sp>
      <p:sp>
        <p:nvSpPr>
          <p:cNvPr id="5" name="Text 3"/>
          <p:cNvSpPr/>
          <p:nvPr/>
        </p:nvSpPr>
        <p:spPr>
          <a:xfrm>
            <a:off x="868680" y="1844802"/>
            <a:ext cx="2926080" cy="868680"/>
          </a:xfrm>
          <a:prstGeom prst="rect">
            <a:avLst/>
          </a:prstGeom>
          <a:noFill/>
          <a:ln/>
        </p:spPr>
        <p:txBody>
          <a:bodyPr wrap="square" lIns="0" tIns="0" rIns="0" bIns="0" rtlCol="0" anchor="ctr"/>
          <a:lstStyle/>
          <a:p>
            <a:pPr marL="0" indent="0" algn="l">
              <a:buNone/>
            </a:pPr>
            <a:r>
              <a:rPr lang="en-US" sz="4400" b="1" dirty="0">
                <a:solidFill>
                  <a:srgbClr val="8541DC"/>
                </a:solidFill>
                <a:latin typeface="Noto Sans JP" pitchFamily="34" charset="0"/>
                <a:ea typeface="Noto Sans JP" pitchFamily="34" charset="-122"/>
                <a:cs typeface="Noto Sans JP" pitchFamily="34" charset="-120"/>
              </a:rPr>
              <a:t>2.5倍</a:t>
            </a:r>
            <a:endParaRPr lang="en-US" sz="4400" dirty="0"/>
          </a:p>
        </p:txBody>
      </p:sp>
      <p:sp>
        <p:nvSpPr>
          <p:cNvPr id="6" name="Text 4"/>
          <p:cNvSpPr/>
          <p:nvPr/>
        </p:nvSpPr>
        <p:spPr>
          <a:xfrm>
            <a:off x="868680" y="2468880"/>
            <a:ext cx="2926080" cy="594360"/>
          </a:xfrm>
          <a:prstGeom prst="rect">
            <a:avLst/>
          </a:prstGeom>
          <a:noFill/>
          <a:ln/>
        </p:spPr>
        <p:txBody>
          <a:bodyPr wrap="square" lIns="0" tIns="0" rIns="0" bIns="0" rtlCol="0" anchor="ctr"/>
          <a:lstStyle/>
          <a:p>
            <a:pPr marL="0" indent="0">
              <a:lnSpc>
                <a:spcPct val="120000"/>
              </a:lnSpc>
              <a:buNone/>
            </a:pPr>
            <a:endParaRPr lang="en-US" sz="1250" dirty="0"/>
          </a:p>
        </p:txBody>
      </p:sp>
      <p:sp>
        <p:nvSpPr>
          <p:cNvPr id="7" name="Text 5"/>
          <p:cNvSpPr/>
          <p:nvPr/>
        </p:nvSpPr>
        <p:spPr>
          <a:xfrm>
            <a:off x="4023360" y="1783080"/>
            <a:ext cx="7406640" cy="914400"/>
          </a:xfrm>
          <a:prstGeom prst="rect">
            <a:avLst/>
          </a:prstGeom>
          <a:noFill/>
          <a:ln/>
        </p:spPr>
        <p:txBody>
          <a:bodyPr wrap="square" lIns="0" tIns="0" rIns="0" bIns="0" rtlCol="0" anchor="ctr"/>
          <a:lstStyle/>
          <a:p>
            <a:pPr marL="0" indent="0">
              <a:lnSpc>
                <a:spcPct val="135000"/>
              </a:lnSpc>
              <a:buNone/>
            </a:pPr>
            <a:r>
              <a:rPr lang="en-US" sz="1300" b="1" dirty="0">
                <a:solidFill>
                  <a:srgbClr val="8541DC"/>
                </a:solidFill>
                <a:latin typeface="Noto Sans JP" pitchFamily="34" charset="0"/>
                <a:ea typeface="Noto Sans JP" pitchFamily="34" charset="-122"/>
                <a:cs typeface="Noto Sans JP" pitchFamily="34" charset="-120"/>
              </a:rPr>
              <a:t>7日以内のサイト訪問可能性
</a:t>
            </a:r>
            <a:endParaRPr lang="en-US" sz="1300" dirty="0"/>
          </a:p>
          <a:p>
            <a:pPr marL="0" indent="0">
              <a:lnSpc>
                <a:spcPct val="135000"/>
              </a:lnSpc>
              <a:buNone/>
            </a:pPr>
            <a:r>
              <a:rPr lang="en-US" sz="1150" dirty="0">
                <a:solidFill>
                  <a:srgbClr val="222222"/>
                </a:solidFill>
                <a:latin typeface="Noto Sans JP" pitchFamily="34" charset="0"/>
                <a:ea typeface="Noto Sans JP" pitchFamily="34" charset="-122"/>
                <a:cs typeface="Noto Sans JP" pitchFamily="34" charset="-120"/>
              </a:rPr>
              <a:t>AIで推奨された後、7日以内に公式サイトを訪問する可能性が通常時より2.5倍に高まる。効果は“直接流入”だけでは測れない。</a:t>
            </a:r>
            <a:endParaRPr lang="en-US" sz="1300" dirty="0"/>
          </a:p>
        </p:txBody>
      </p:sp>
      <p:sp>
        <p:nvSpPr>
          <p:cNvPr id="8" name="Shape 6"/>
          <p:cNvSpPr/>
          <p:nvPr/>
        </p:nvSpPr>
        <p:spPr>
          <a:xfrm>
            <a:off x="502920" y="3200400"/>
            <a:ext cx="2670048" cy="1371600"/>
          </a:xfrm>
          <a:prstGeom prst="roundRect">
            <a:avLst>
              <a:gd name="adj" fmla="val 7333"/>
            </a:avLst>
          </a:prstGeom>
          <a:solidFill>
            <a:srgbClr val="FFFFFF"/>
          </a:solidFill>
          <a:ln w="12700">
            <a:solidFill>
              <a:srgbClr val="E5E5EA"/>
            </a:solidFill>
            <a:prstDash val="solid"/>
          </a:ln>
        </p:spPr>
        <p:txBody>
          <a:bodyPr/>
          <a:lstStyle/>
          <a:p>
            <a:endParaRPr lang="ja-JP" altLang="en-US"/>
          </a:p>
        </p:txBody>
      </p:sp>
      <p:sp>
        <p:nvSpPr>
          <p:cNvPr id="9" name="Shape 7"/>
          <p:cNvSpPr/>
          <p:nvPr/>
        </p:nvSpPr>
        <p:spPr>
          <a:xfrm>
            <a:off x="731520" y="3401568"/>
            <a:ext cx="384048" cy="384048"/>
          </a:xfrm>
          <a:prstGeom prst="ellipse">
            <a:avLst/>
          </a:prstGeom>
          <a:solidFill>
            <a:srgbClr val="8541DC"/>
          </a:solidFill>
          <a:ln/>
        </p:spPr>
        <p:txBody>
          <a:bodyPr/>
          <a:lstStyle/>
          <a:p>
            <a:endParaRPr lang="ja-JP" altLang="en-US"/>
          </a:p>
        </p:txBody>
      </p:sp>
      <p:sp>
        <p:nvSpPr>
          <p:cNvPr id="10" name="Text 8"/>
          <p:cNvSpPr/>
          <p:nvPr/>
        </p:nvSpPr>
        <p:spPr>
          <a:xfrm>
            <a:off x="676656" y="3383280"/>
            <a:ext cx="493776"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11" name="Text 9"/>
          <p:cNvSpPr/>
          <p:nvPr/>
        </p:nvSpPr>
        <p:spPr>
          <a:xfrm>
            <a:off x="704088" y="3840480"/>
            <a:ext cx="2331720" cy="640080"/>
          </a:xfrm>
          <a:prstGeom prst="rect">
            <a:avLst/>
          </a:prstGeom>
          <a:noFill/>
          <a:ln/>
        </p:spPr>
        <p:txBody>
          <a:bodyPr wrap="square" lIns="0" tIns="0" rIns="0" bIns="0" rtlCol="0" anchor="ctr"/>
          <a:lstStyle/>
          <a:p>
            <a:pPr marL="0" indent="0">
              <a:lnSpc>
                <a:spcPct val="115000"/>
              </a:lnSpc>
              <a:buNone/>
            </a:pPr>
            <a:r>
              <a:rPr lang="en-US" sz="1150" b="1" dirty="0">
                <a:solidFill>
                  <a:srgbClr val="222222"/>
                </a:solidFill>
                <a:latin typeface="Noto Sans JP" pitchFamily="34" charset="0"/>
                <a:ea typeface="Noto Sans JP" pitchFamily="34" charset="-122"/>
                <a:cs typeface="Noto Sans JP" pitchFamily="34" charset="-120"/>
              </a:rPr>
              <a:t>AIで推奨される</a:t>
            </a:r>
            <a:endParaRPr lang="en-US" sz="1150" dirty="0"/>
          </a:p>
        </p:txBody>
      </p:sp>
      <p:sp>
        <p:nvSpPr>
          <p:cNvPr id="12" name="Text 10"/>
          <p:cNvSpPr/>
          <p:nvPr/>
        </p:nvSpPr>
        <p:spPr>
          <a:xfrm>
            <a:off x="3081528" y="3657600"/>
            <a:ext cx="320040" cy="365760"/>
          </a:xfrm>
          <a:prstGeom prst="rect">
            <a:avLst/>
          </a:prstGeom>
          <a:noFill/>
          <a:ln/>
        </p:spPr>
        <p:txBody>
          <a:bodyPr wrap="square" lIns="0" tIns="0" rIns="0" bIns="0" rtlCol="0" anchor="ctr"/>
          <a:lstStyle/>
          <a:p>
            <a:pPr marL="0" indent="0" algn="ctr">
              <a:buNone/>
            </a:pPr>
            <a:r>
              <a:rPr lang="en-US" sz="1500" dirty="0">
                <a:solidFill>
                  <a:srgbClr val="8541DC"/>
                </a:solidFill>
                <a:latin typeface="Noto Sans JP" pitchFamily="34" charset="0"/>
                <a:ea typeface="Noto Sans JP" pitchFamily="34" charset="-122"/>
                <a:cs typeface="Noto Sans JP" pitchFamily="34" charset="-120"/>
              </a:rPr>
              <a:t>▶</a:t>
            </a:r>
            <a:endParaRPr lang="en-US" sz="1500" dirty="0"/>
          </a:p>
        </p:txBody>
      </p:sp>
      <p:sp>
        <p:nvSpPr>
          <p:cNvPr id="13" name="Shape 11"/>
          <p:cNvSpPr/>
          <p:nvPr/>
        </p:nvSpPr>
        <p:spPr>
          <a:xfrm>
            <a:off x="3355848" y="3200400"/>
            <a:ext cx="2670048" cy="1371600"/>
          </a:xfrm>
          <a:prstGeom prst="roundRect">
            <a:avLst>
              <a:gd name="adj" fmla="val 7333"/>
            </a:avLst>
          </a:prstGeom>
          <a:solidFill>
            <a:srgbClr val="FFFFFF"/>
          </a:solidFill>
          <a:ln w="12700">
            <a:solidFill>
              <a:srgbClr val="E5E5EA"/>
            </a:solidFill>
            <a:prstDash val="solid"/>
          </a:ln>
        </p:spPr>
        <p:txBody>
          <a:bodyPr/>
          <a:lstStyle/>
          <a:p>
            <a:endParaRPr lang="ja-JP" altLang="en-US"/>
          </a:p>
        </p:txBody>
      </p:sp>
      <p:sp>
        <p:nvSpPr>
          <p:cNvPr id="14" name="Shape 12"/>
          <p:cNvSpPr/>
          <p:nvPr/>
        </p:nvSpPr>
        <p:spPr>
          <a:xfrm>
            <a:off x="3584448" y="3401568"/>
            <a:ext cx="384048" cy="384048"/>
          </a:xfrm>
          <a:prstGeom prst="ellipse">
            <a:avLst/>
          </a:prstGeom>
          <a:solidFill>
            <a:srgbClr val="8541DC"/>
          </a:solidFill>
          <a:ln/>
        </p:spPr>
        <p:txBody>
          <a:bodyPr/>
          <a:lstStyle/>
          <a:p>
            <a:endParaRPr lang="ja-JP" altLang="en-US"/>
          </a:p>
        </p:txBody>
      </p:sp>
      <p:sp>
        <p:nvSpPr>
          <p:cNvPr id="15" name="Text 13"/>
          <p:cNvSpPr/>
          <p:nvPr/>
        </p:nvSpPr>
        <p:spPr>
          <a:xfrm>
            <a:off x="3529584" y="3383280"/>
            <a:ext cx="493776"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16" name="Text 14"/>
          <p:cNvSpPr/>
          <p:nvPr/>
        </p:nvSpPr>
        <p:spPr>
          <a:xfrm>
            <a:off x="3557016" y="3840480"/>
            <a:ext cx="2331720" cy="640080"/>
          </a:xfrm>
          <a:prstGeom prst="rect">
            <a:avLst/>
          </a:prstGeom>
          <a:noFill/>
          <a:ln/>
        </p:spPr>
        <p:txBody>
          <a:bodyPr wrap="square" lIns="0" tIns="0" rIns="0" bIns="0" rtlCol="0" anchor="ctr"/>
          <a:lstStyle/>
          <a:p>
            <a:pPr marL="0" indent="0">
              <a:lnSpc>
                <a:spcPct val="115000"/>
              </a:lnSpc>
              <a:buNone/>
            </a:pPr>
            <a:r>
              <a:rPr lang="en-US" sz="1150" b="1" dirty="0">
                <a:solidFill>
                  <a:srgbClr val="222222"/>
                </a:solidFill>
                <a:latin typeface="Noto Sans JP" pitchFamily="34" charset="0"/>
                <a:ea typeface="Noto Sans JP" pitchFamily="34" charset="-122"/>
                <a:cs typeface="Noto Sans JP" pitchFamily="34" charset="-120"/>
              </a:rPr>
              <a:t>その場ではクリックしない</a:t>
            </a:r>
            <a:endParaRPr lang="en-US" sz="1150" dirty="0"/>
          </a:p>
        </p:txBody>
      </p:sp>
      <p:sp>
        <p:nvSpPr>
          <p:cNvPr id="17" name="Text 15"/>
          <p:cNvSpPr/>
          <p:nvPr/>
        </p:nvSpPr>
        <p:spPr>
          <a:xfrm>
            <a:off x="5934456" y="3657600"/>
            <a:ext cx="320040" cy="365760"/>
          </a:xfrm>
          <a:prstGeom prst="rect">
            <a:avLst/>
          </a:prstGeom>
          <a:noFill/>
          <a:ln/>
        </p:spPr>
        <p:txBody>
          <a:bodyPr wrap="square" lIns="0" tIns="0" rIns="0" bIns="0" rtlCol="0" anchor="ctr"/>
          <a:lstStyle/>
          <a:p>
            <a:pPr marL="0" indent="0" algn="ctr">
              <a:buNone/>
            </a:pPr>
            <a:r>
              <a:rPr lang="en-US" sz="1500" dirty="0">
                <a:solidFill>
                  <a:srgbClr val="8541DC"/>
                </a:solidFill>
                <a:latin typeface="Noto Sans JP" pitchFamily="34" charset="0"/>
                <a:ea typeface="Noto Sans JP" pitchFamily="34" charset="-122"/>
                <a:cs typeface="Noto Sans JP" pitchFamily="34" charset="-120"/>
              </a:rPr>
              <a:t>▶</a:t>
            </a:r>
            <a:endParaRPr lang="en-US" sz="1500" dirty="0"/>
          </a:p>
        </p:txBody>
      </p:sp>
      <p:sp>
        <p:nvSpPr>
          <p:cNvPr id="18" name="Shape 16"/>
          <p:cNvSpPr/>
          <p:nvPr/>
        </p:nvSpPr>
        <p:spPr>
          <a:xfrm>
            <a:off x="6208776" y="3200400"/>
            <a:ext cx="2670048" cy="1371600"/>
          </a:xfrm>
          <a:prstGeom prst="roundRect">
            <a:avLst>
              <a:gd name="adj" fmla="val 7333"/>
            </a:avLst>
          </a:prstGeom>
          <a:solidFill>
            <a:srgbClr val="FFFFFF"/>
          </a:solidFill>
          <a:ln w="12700">
            <a:solidFill>
              <a:srgbClr val="E5E5EA"/>
            </a:solidFill>
            <a:prstDash val="solid"/>
          </a:ln>
        </p:spPr>
        <p:txBody>
          <a:bodyPr/>
          <a:lstStyle/>
          <a:p>
            <a:endParaRPr lang="ja-JP" altLang="en-US"/>
          </a:p>
        </p:txBody>
      </p:sp>
      <p:sp>
        <p:nvSpPr>
          <p:cNvPr id="19" name="Shape 17"/>
          <p:cNvSpPr/>
          <p:nvPr/>
        </p:nvSpPr>
        <p:spPr>
          <a:xfrm>
            <a:off x="6437376" y="3401568"/>
            <a:ext cx="384048" cy="384048"/>
          </a:xfrm>
          <a:prstGeom prst="ellipse">
            <a:avLst/>
          </a:prstGeom>
          <a:solidFill>
            <a:srgbClr val="8541DC"/>
          </a:solidFill>
          <a:ln/>
        </p:spPr>
        <p:txBody>
          <a:bodyPr/>
          <a:lstStyle/>
          <a:p>
            <a:endParaRPr lang="ja-JP" altLang="en-US"/>
          </a:p>
        </p:txBody>
      </p:sp>
      <p:sp>
        <p:nvSpPr>
          <p:cNvPr id="20" name="Text 18"/>
          <p:cNvSpPr/>
          <p:nvPr/>
        </p:nvSpPr>
        <p:spPr>
          <a:xfrm>
            <a:off x="6382512" y="3383280"/>
            <a:ext cx="493776"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21" name="Text 19"/>
          <p:cNvSpPr/>
          <p:nvPr/>
        </p:nvSpPr>
        <p:spPr>
          <a:xfrm>
            <a:off x="6409944" y="3840480"/>
            <a:ext cx="2331720" cy="640080"/>
          </a:xfrm>
          <a:prstGeom prst="rect">
            <a:avLst/>
          </a:prstGeom>
          <a:noFill/>
          <a:ln/>
        </p:spPr>
        <p:txBody>
          <a:bodyPr wrap="square" lIns="0" tIns="0" rIns="0" bIns="0" rtlCol="0" anchor="ctr"/>
          <a:lstStyle/>
          <a:p>
            <a:pPr marL="0" indent="0">
              <a:lnSpc>
                <a:spcPct val="115000"/>
              </a:lnSpc>
              <a:buNone/>
            </a:pPr>
            <a:r>
              <a:rPr lang="en-US" sz="1150" b="1" dirty="0">
                <a:solidFill>
                  <a:srgbClr val="222222"/>
                </a:solidFill>
                <a:latin typeface="Noto Sans JP" pitchFamily="34" charset="0"/>
                <a:ea typeface="Noto Sans JP" pitchFamily="34" charset="-122"/>
                <a:cs typeface="Noto Sans JP" pitchFamily="34" charset="-120"/>
              </a:rPr>
              <a:t>後日ブランド名で検索</a:t>
            </a:r>
            <a:endParaRPr lang="en-US" sz="1150" dirty="0"/>
          </a:p>
        </p:txBody>
      </p:sp>
      <p:sp>
        <p:nvSpPr>
          <p:cNvPr id="22" name="Text 20"/>
          <p:cNvSpPr/>
          <p:nvPr/>
        </p:nvSpPr>
        <p:spPr>
          <a:xfrm>
            <a:off x="8787384" y="3657600"/>
            <a:ext cx="320040" cy="365760"/>
          </a:xfrm>
          <a:prstGeom prst="rect">
            <a:avLst/>
          </a:prstGeom>
          <a:noFill/>
          <a:ln/>
        </p:spPr>
        <p:txBody>
          <a:bodyPr wrap="square" lIns="0" tIns="0" rIns="0" bIns="0" rtlCol="0" anchor="ctr"/>
          <a:lstStyle/>
          <a:p>
            <a:pPr marL="0" indent="0" algn="ctr">
              <a:buNone/>
            </a:pPr>
            <a:r>
              <a:rPr lang="en-US" sz="1500" dirty="0">
                <a:solidFill>
                  <a:srgbClr val="8541DC"/>
                </a:solidFill>
                <a:latin typeface="Noto Sans JP" pitchFamily="34" charset="0"/>
                <a:ea typeface="Noto Sans JP" pitchFamily="34" charset="-122"/>
                <a:cs typeface="Noto Sans JP" pitchFamily="34" charset="-120"/>
              </a:rPr>
              <a:t>▶</a:t>
            </a:r>
            <a:endParaRPr lang="en-US" sz="1500" dirty="0"/>
          </a:p>
        </p:txBody>
      </p:sp>
      <p:sp>
        <p:nvSpPr>
          <p:cNvPr id="23" name="Shape 21"/>
          <p:cNvSpPr/>
          <p:nvPr/>
        </p:nvSpPr>
        <p:spPr>
          <a:xfrm>
            <a:off x="9061704" y="3200400"/>
            <a:ext cx="2670048" cy="1371600"/>
          </a:xfrm>
          <a:prstGeom prst="roundRect">
            <a:avLst>
              <a:gd name="adj" fmla="val 7333"/>
            </a:avLst>
          </a:prstGeom>
          <a:solidFill>
            <a:srgbClr val="FFFFFF"/>
          </a:solidFill>
          <a:ln w="12700">
            <a:solidFill>
              <a:srgbClr val="E5E5EA"/>
            </a:solidFill>
            <a:prstDash val="solid"/>
          </a:ln>
        </p:spPr>
        <p:txBody>
          <a:bodyPr/>
          <a:lstStyle/>
          <a:p>
            <a:endParaRPr lang="ja-JP" altLang="en-US"/>
          </a:p>
        </p:txBody>
      </p:sp>
      <p:sp>
        <p:nvSpPr>
          <p:cNvPr id="24" name="Shape 22"/>
          <p:cNvSpPr/>
          <p:nvPr/>
        </p:nvSpPr>
        <p:spPr>
          <a:xfrm>
            <a:off x="9290304" y="3401568"/>
            <a:ext cx="384048" cy="384048"/>
          </a:xfrm>
          <a:prstGeom prst="ellipse">
            <a:avLst/>
          </a:prstGeom>
          <a:solidFill>
            <a:srgbClr val="8541DC"/>
          </a:solidFill>
          <a:ln/>
        </p:spPr>
        <p:txBody>
          <a:bodyPr/>
          <a:lstStyle/>
          <a:p>
            <a:endParaRPr lang="ja-JP" altLang="en-US"/>
          </a:p>
        </p:txBody>
      </p:sp>
      <p:sp>
        <p:nvSpPr>
          <p:cNvPr id="25" name="Text 23"/>
          <p:cNvSpPr/>
          <p:nvPr/>
        </p:nvSpPr>
        <p:spPr>
          <a:xfrm>
            <a:off x="9235440" y="3383280"/>
            <a:ext cx="493776"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4</a:t>
            </a:r>
            <a:endParaRPr lang="en-US" sz="1500" dirty="0"/>
          </a:p>
        </p:txBody>
      </p:sp>
      <p:sp>
        <p:nvSpPr>
          <p:cNvPr id="26" name="Text 24"/>
          <p:cNvSpPr/>
          <p:nvPr/>
        </p:nvSpPr>
        <p:spPr>
          <a:xfrm>
            <a:off x="9262872" y="3840480"/>
            <a:ext cx="2331720" cy="640080"/>
          </a:xfrm>
          <a:prstGeom prst="rect">
            <a:avLst/>
          </a:prstGeom>
          <a:noFill/>
          <a:ln/>
        </p:spPr>
        <p:txBody>
          <a:bodyPr wrap="square" lIns="0" tIns="0" rIns="0" bIns="0" rtlCol="0" anchor="ctr"/>
          <a:lstStyle/>
          <a:p>
            <a:pPr marL="0" indent="0">
              <a:lnSpc>
                <a:spcPct val="115000"/>
              </a:lnSpc>
              <a:buNone/>
            </a:pPr>
            <a:r>
              <a:rPr lang="en-US" sz="1150" b="1" dirty="0">
                <a:solidFill>
                  <a:srgbClr val="222222"/>
                </a:solidFill>
                <a:latin typeface="Noto Sans JP" pitchFamily="34" charset="0"/>
                <a:ea typeface="Noto Sans JP" pitchFamily="34" charset="-122"/>
                <a:cs typeface="Noto Sans JP" pitchFamily="34" charset="-120"/>
              </a:rPr>
              <a:t>公式サイトを訪問</a:t>
            </a:r>
            <a:endParaRPr lang="en-US" sz="1150" dirty="0"/>
          </a:p>
        </p:txBody>
      </p:sp>
      <p:sp>
        <p:nvSpPr>
          <p:cNvPr id="27" name="Shape 25"/>
          <p:cNvSpPr/>
          <p:nvPr/>
        </p:nvSpPr>
        <p:spPr>
          <a:xfrm>
            <a:off x="502920" y="4892040"/>
            <a:ext cx="11183112" cy="1051560"/>
          </a:xfrm>
          <a:prstGeom prst="roundRect">
            <a:avLst>
              <a:gd name="adj" fmla="val 9565"/>
            </a:avLst>
          </a:prstGeom>
          <a:solidFill>
            <a:srgbClr val="4A1F87"/>
          </a:solidFill>
          <a:ln/>
        </p:spPr>
        <p:txBody>
          <a:bodyPr/>
          <a:lstStyle/>
          <a:p>
            <a:endParaRPr lang="ja-JP" altLang="en-US"/>
          </a:p>
        </p:txBody>
      </p:sp>
      <p:sp>
        <p:nvSpPr>
          <p:cNvPr id="28" name="Text 26"/>
          <p:cNvSpPr/>
          <p:nvPr/>
        </p:nvSpPr>
        <p:spPr>
          <a:xfrm>
            <a:off x="868680" y="5138928"/>
            <a:ext cx="10424160" cy="548640"/>
          </a:xfrm>
          <a:prstGeom prst="rect">
            <a:avLst/>
          </a:prstGeom>
          <a:noFill/>
          <a:ln/>
        </p:spPr>
        <p:txBody>
          <a:bodyPr wrap="square" lIns="0" tIns="0" rIns="0" bIns="0" rtlCol="0" anchor="ctr"/>
          <a:lstStyle/>
          <a:p>
            <a:pPr marL="0" indent="0">
              <a:lnSpc>
                <a:spcPct val="130000"/>
              </a:lnSpc>
              <a:buNone/>
            </a:pPr>
            <a:r>
              <a:rPr lang="en-US" sz="1250" b="1" dirty="0">
                <a:solidFill>
                  <a:srgbClr val="FFFFFF"/>
                </a:solidFill>
                <a:latin typeface="Noto Sans JP" pitchFamily="34" charset="0"/>
                <a:ea typeface="Noto Sans JP" pitchFamily="34" charset="-122"/>
                <a:cs typeface="Noto Sans JP" pitchFamily="34" charset="-120"/>
              </a:rPr>
              <a:t>LLMOだけでも、SEOだけでもダメ。AIで“認識・推奨”された後、Webで“適切に流入・獲得”できて初めて売上になる。</a:t>
            </a:r>
            <a:endParaRPr lang="en-US" sz="1250" dirty="0"/>
          </a:p>
        </p:txBody>
      </p:sp>
      <p:sp>
        <p:nvSpPr>
          <p:cNvPr id="29" name="Text 27"/>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0" name="Text 28"/>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OUR APPROACH — 当社のLLMOの考え方</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分析で終わらせない。“背骨”で貫くのが当社の考え方</a:t>
            </a:r>
            <a:endParaRPr lang="en-US" sz="2500" dirty="0"/>
          </a:p>
        </p:txBody>
      </p:sp>
      <p:sp>
        <p:nvSpPr>
          <p:cNvPr id="4" name="Shape 2"/>
          <p:cNvSpPr/>
          <p:nvPr/>
        </p:nvSpPr>
        <p:spPr>
          <a:xfrm>
            <a:off x="502920" y="169164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5" name="Shape 3"/>
          <p:cNvSpPr/>
          <p:nvPr/>
        </p:nvSpPr>
        <p:spPr>
          <a:xfrm>
            <a:off x="502920" y="1947672"/>
            <a:ext cx="82296" cy="1371600"/>
          </a:xfrm>
          <a:prstGeom prst="roundRect">
            <a:avLst>
              <a:gd name="adj" fmla="val 44444"/>
            </a:avLst>
          </a:prstGeom>
          <a:solidFill>
            <a:srgbClr val="8541DC"/>
          </a:solidFill>
          <a:ln/>
        </p:spPr>
        <p:txBody>
          <a:bodyPr/>
          <a:lstStyle/>
          <a:p>
            <a:endParaRPr lang="ja-JP" altLang="en-US"/>
          </a:p>
        </p:txBody>
      </p:sp>
      <p:sp>
        <p:nvSpPr>
          <p:cNvPr id="6" name="Text 4"/>
          <p:cNvSpPr/>
          <p:nvPr/>
        </p:nvSpPr>
        <p:spPr>
          <a:xfrm>
            <a:off x="822960" y="1947672"/>
            <a:ext cx="4846320" cy="548640"/>
          </a:xfrm>
          <a:prstGeom prst="rect">
            <a:avLst/>
          </a:prstGeom>
          <a:noFill/>
          <a:ln/>
        </p:spPr>
        <p:txBody>
          <a:bodyPr wrap="square" lIns="0" tIns="0" rIns="0" bIns="0" rtlCol="0" anchor="ctr"/>
          <a:lstStyle/>
          <a:p>
            <a:pPr marL="0" indent="0">
              <a:lnSpc>
                <a:spcPct val="110000"/>
              </a:lnSpc>
              <a:buNone/>
            </a:pPr>
            <a:r>
              <a:rPr lang="en-US" sz="1400" b="1" dirty="0">
                <a:solidFill>
                  <a:srgbClr val="222222"/>
                </a:solidFill>
                <a:latin typeface="Noto Sans JP" pitchFamily="34" charset="0"/>
                <a:ea typeface="Noto Sans JP" pitchFamily="34" charset="-122"/>
                <a:cs typeface="Noto Sans JP" pitchFamily="34" charset="-120"/>
              </a:rPr>
              <a:t>CEP → KBF → 参照先 → RTB で逆算</a:t>
            </a:r>
            <a:endParaRPr lang="en-US" sz="1400" dirty="0"/>
          </a:p>
        </p:txBody>
      </p:sp>
      <p:sp>
        <p:nvSpPr>
          <p:cNvPr id="7" name="Text 5"/>
          <p:cNvSpPr/>
          <p:nvPr/>
        </p:nvSpPr>
        <p:spPr>
          <a:xfrm>
            <a:off x="822960" y="2560320"/>
            <a:ext cx="4846320" cy="914400"/>
          </a:xfrm>
          <a:prstGeom prst="rect">
            <a:avLst/>
          </a:prstGeom>
          <a:noFill/>
          <a:ln/>
        </p:spPr>
        <p:txBody>
          <a:bodyPr wrap="square" lIns="0" tIns="0" rIns="0" bIns="0" rtlCol="0" anchor="ctr"/>
          <a:lstStyle/>
          <a:p>
            <a:pPr marL="0" indent="0">
              <a:lnSpc>
                <a:spcPct val="130000"/>
              </a:lnSpc>
              <a:buNone/>
            </a:pPr>
            <a:r>
              <a:rPr lang="en-US" sz="1100" dirty="0">
                <a:solidFill>
                  <a:srgbClr val="555A63"/>
                </a:solidFill>
                <a:latin typeface="Noto Sans JP" pitchFamily="34" charset="0"/>
                <a:ea typeface="Noto Sans JP" pitchFamily="34" charset="-122"/>
                <a:cs typeface="Noto Sans JP" pitchFamily="34" charset="-120"/>
              </a:rPr>
              <a:t>AIが「どんな質問で」「何を基準に」「どこを根拠に」語るかを分解し、置くべき証拠まで設計する</a:t>
            </a:r>
            <a:endParaRPr lang="en-US" sz="1100" dirty="0"/>
          </a:p>
        </p:txBody>
      </p:sp>
      <p:sp>
        <p:nvSpPr>
          <p:cNvPr id="8" name="Shape 6"/>
          <p:cNvSpPr/>
          <p:nvPr/>
        </p:nvSpPr>
        <p:spPr>
          <a:xfrm>
            <a:off x="6245352" y="169164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9" name="Shape 7"/>
          <p:cNvSpPr/>
          <p:nvPr/>
        </p:nvSpPr>
        <p:spPr>
          <a:xfrm>
            <a:off x="6245352" y="1947672"/>
            <a:ext cx="82296" cy="1371600"/>
          </a:xfrm>
          <a:prstGeom prst="roundRect">
            <a:avLst>
              <a:gd name="adj" fmla="val 44444"/>
            </a:avLst>
          </a:prstGeom>
          <a:solidFill>
            <a:srgbClr val="6A2FB8"/>
          </a:solidFill>
          <a:ln/>
        </p:spPr>
        <p:txBody>
          <a:bodyPr/>
          <a:lstStyle/>
          <a:p>
            <a:endParaRPr lang="ja-JP" altLang="en-US"/>
          </a:p>
        </p:txBody>
      </p:sp>
      <p:sp>
        <p:nvSpPr>
          <p:cNvPr id="10" name="Text 8"/>
          <p:cNvSpPr/>
          <p:nvPr/>
        </p:nvSpPr>
        <p:spPr>
          <a:xfrm>
            <a:off x="6565392" y="1947672"/>
            <a:ext cx="4846320" cy="548640"/>
          </a:xfrm>
          <a:prstGeom prst="rect">
            <a:avLst/>
          </a:prstGeom>
          <a:noFill/>
          <a:ln/>
        </p:spPr>
        <p:txBody>
          <a:bodyPr wrap="square" lIns="0" tIns="0" rIns="0" bIns="0" rtlCol="0" anchor="ctr"/>
          <a:lstStyle/>
          <a:p>
            <a:pPr marL="0" indent="0">
              <a:lnSpc>
                <a:spcPct val="110000"/>
              </a:lnSpc>
              <a:buNone/>
            </a:pPr>
            <a:r>
              <a:rPr lang="en-US" sz="1400" b="1" dirty="0">
                <a:solidFill>
                  <a:srgbClr val="222222"/>
                </a:solidFill>
                <a:latin typeface="Noto Sans JP" pitchFamily="34" charset="0"/>
                <a:ea typeface="Noto Sans JP" pitchFamily="34" charset="-122"/>
                <a:cs typeface="Noto Sans JP" pitchFamily="34" charset="-120"/>
              </a:rPr>
              <a:t>引用は“数”でなく“役割”</a:t>
            </a:r>
            <a:endParaRPr lang="en-US" sz="1400" dirty="0"/>
          </a:p>
        </p:txBody>
      </p:sp>
      <p:sp>
        <p:nvSpPr>
          <p:cNvPr id="11" name="Text 9"/>
          <p:cNvSpPr/>
          <p:nvPr/>
        </p:nvSpPr>
        <p:spPr>
          <a:xfrm>
            <a:off x="6565392" y="2560320"/>
            <a:ext cx="4846320" cy="914400"/>
          </a:xfrm>
          <a:prstGeom prst="rect">
            <a:avLst/>
          </a:prstGeom>
          <a:noFill/>
          <a:ln/>
        </p:spPr>
        <p:txBody>
          <a:bodyPr wrap="square" lIns="0" tIns="0" rIns="0" bIns="0" rtlCol="0" anchor="ctr"/>
          <a:lstStyle/>
          <a:p>
            <a:pPr marL="0" indent="0">
              <a:lnSpc>
                <a:spcPct val="130000"/>
              </a:lnSpc>
              <a:buNone/>
            </a:pPr>
            <a:r>
              <a:rPr lang="en-US" sz="1100" dirty="0">
                <a:solidFill>
                  <a:srgbClr val="555A63"/>
                </a:solidFill>
                <a:latin typeface="Noto Sans JP" pitchFamily="34" charset="0"/>
                <a:ea typeface="Noto Sans JP" pitchFamily="34" charset="-122"/>
                <a:cs typeface="Noto Sans JP" pitchFamily="34" charset="-120"/>
              </a:rPr>
              <a:t>認知＝メンション／比較＝推奨／意思決定＝整合性。ファネルごとに果たす役割を設計する</a:t>
            </a:r>
            <a:endParaRPr lang="en-US" sz="1100" dirty="0"/>
          </a:p>
        </p:txBody>
      </p:sp>
      <p:sp>
        <p:nvSpPr>
          <p:cNvPr id="12" name="Shape 10"/>
          <p:cNvSpPr/>
          <p:nvPr/>
        </p:nvSpPr>
        <p:spPr>
          <a:xfrm>
            <a:off x="502920" y="384048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3" name="Shape 11"/>
          <p:cNvSpPr/>
          <p:nvPr/>
        </p:nvSpPr>
        <p:spPr>
          <a:xfrm>
            <a:off x="502920" y="4096512"/>
            <a:ext cx="82296" cy="1371600"/>
          </a:xfrm>
          <a:prstGeom prst="roundRect">
            <a:avLst>
              <a:gd name="adj" fmla="val 44444"/>
            </a:avLst>
          </a:prstGeom>
          <a:solidFill>
            <a:srgbClr val="A970E8"/>
          </a:solidFill>
          <a:ln/>
        </p:spPr>
        <p:txBody>
          <a:bodyPr/>
          <a:lstStyle/>
          <a:p>
            <a:endParaRPr lang="ja-JP" altLang="en-US"/>
          </a:p>
        </p:txBody>
      </p:sp>
      <p:sp>
        <p:nvSpPr>
          <p:cNvPr id="14" name="Text 12"/>
          <p:cNvSpPr/>
          <p:nvPr/>
        </p:nvSpPr>
        <p:spPr>
          <a:xfrm>
            <a:off x="822960" y="4096512"/>
            <a:ext cx="4846320" cy="548640"/>
          </a:xfrm>
          <a:prstGeom prst="rect">
            <a:avLst/>
          </a:prstGeom>
          <a:noFill/>
          <a:ln/>
        </p:spPr>
        <p:txBody>
          <a:bodyPr wrap="square" lIns="0" tIns="0" rIns="0" bIns="0" rtlCol="0" anchor="ctr"/>
          <a:lstStyle/>
          <a:p>
            <a:pPr marL="0" indent="0">
              <a:lnSpc>
                <a:spcPct val="110000"/>
              </a:lnSpc>
              <a:buNone/>
            </a:pPr>
            <a:r>
              <a:rPr lang="en-US" sz="1400" b="1" dirty="0">
                <a:solidFill>
                  <a:srgbClr val="222222"/>
                </a:solidFill>
                <a:latin typeface="Noto Sans JP" pitchFamily="34" charset="0"/>
                <a:ea typeface="Noto Sans JP" pitchFamily="34" charset="-122"/>
                <a:cs typeface="Noto Sans JP" pitchFamily="34" charset="-120"/>
              </a:rPr>
              <a:t>3つの声を一致させる</a:t>
            </a:r>
            <a:endParaRPr lang="en-US" sz="1400" dirty="0"/>
          </a:p>
        </p:txBody>
      </p:sp>
      <p:sp>
        <p:nvSpPr>
          <p:cNvPr id="15" name="Text 13"/>
          <p:cNvSpPr/>
          <p:nvPr/>
        </p:nvSpPr>
        <p:spPr>
          <a:xfrm>
            <a:off x="822960" y="4709160"/>
            <a:ext cx="4846320" cy="914400"/>
          </a:xfrm>
          <a:prstGeom prst="rect">
            <a:avLst/>
          </a:prstGeom>
          <a:noFill/>
          <a:ln/>
        </p:spPr>
        <p:txBody>
          <a:bodyPr wrap="square" lIns="0" tIns="0" rIns="0" bIns="0" rtlCol="0" anchor="ctr"/>
          <a:lstStyle/>
          <a:p>
            <a:pPr marL="0" indent="0">
              <a:lnSpc>
                <a:spcPct val="130000"/>
              </a:lnSpc>
              <a:buNone/>
            </a:pPr>
            <a:r>
              <a:rPr lang="en-US" sz="1100" dirty="0">
                <a:solidFill>
                  <a:srgbClr val="555A63"/>
                </a:solidFill>
                <a:latin typeface="Noto Sans JP" pitchFamily="34" charset="0"/>
                <a:ea typeface="Noto Sans JP" pitchFamily="34" charset="-122"/>
                <a:cs typeface="Noto Sans JP" pitchFamily="34" charset="-120"/>
              </a:rPr>
              <a:t>Company（自社発信）× User（本音）× AI（語られ方）のズレを解消し、AIの認識を正す</a:t>
            </a:r>
            <a:endParaRPr lang="en-US" sz="1100" dirty="0"/>
          </a:p>
        </p:txBody>
      </p:sp>
      <p:sp>
        <p:nvSpPr>
          <p:cNvPr id="16" name="Shape 14"/>
          <p:cNvSpPr/>
          <p:nvPr/>
        </p:nvSpPr>
        <p:spPr>
          <a:xfrm>
            <a:off x="6245352" y="384048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7" name="Shape 15"/>
          <p:cNvSpPr/>
          <p:nvPr/>
        </p:nvSpPr>
        <p:spPr>
          <a:xfrm>
            <a:off x="6245352" y="4096512"/>
            <a:ext cx="82296" cy="1371600"/>
          </a:xfrm>
          <a:prstGeom prst="roundRect">
            <a:avLst>
              <a:gd name="adj" fmla="val 44444"/>
            </a:avLst>
          </a:prstGeom>
          <a:solidFill>
            <a:srgbClr val="4A1F87"/>
          </a:solidFill>
          <a:ln/>
        </p:spPr>
        <p:txBody>
          <a:bodyPr/>
          <a:lstStyle/>
          <a:p>
            <a:endParaRPr lang="ja-JP" altLang="en-US"/>
          </a:p>
        </p:txBody>
      </p:sp>
      <p:sp>
        <p:nvSpPr>
          <p:cNvPr id="18" name="Text 16"/>
          <p:cNvSpPr/>
          <p:nvPr/>
        </p:nvSpPr>
        <p:spPr>
          <a:xfrm>
            <a:off x="6565392" y="4096512"/>
            <a:ext cx="4846320" cy="548640"/>
          </a:xfrm>
          <a:prstGeom prst="rect">
            <a:avLst/>
          </a:prstGeom>
          <a:noFill/>
          <a:ln/>
        </p:spPr>
        <p:txBody>
          <a:bodyPr wrap="square" lIns="0" tIns="0" rIns="0" bIns="0" rtlCol="0" anchor="ctr"/>
          <a:lstStyle/>
          <a:p>
            <a:pPr marL="0" indent="0">
              <a:lnSpc>
                <a:spcPct val="110000"/>
              </a:lnSpc>
              <a:buNone/>
            </a:pPr>
            <a:r>
              <a:rPr lang="en-US" sz="1400" b="1" dirty="0">
                <a:solidFill>
                  <a:srgbClr val="222222"/>
                </a:solidFill>
                <a:latin typeface="Noto Sans JP" pitchFamily="34" charset="0"/>
                <a:ea typeface="Noto Sans JP" pitchFamily="34" charset="-122"/>
                <a:cs typeface="Noto Sans JP" pitchFamily="34" charset="-120"/>
              </a:rPr>
              <a:t>着手は必ず診断から</a:t>
            </a:r>
            <a:endParaRPr lang="en-US" sz="1400" dirty="0"/>
          </a:p>
        </p:txBody>
      </p:sp>
      <p:sp>
        <p:nvSpPr>
          <p:cNvPr id="19" name="Text 17"/>
          <p:cNvSpPr/>
          <p:nvPr/>
        </p:nvSpPr>
        <p:spPr>
          <a:xfrm>
            <a:off x="6565392" y="4709160"/>
            <a:ext cx="4846320" cy="914400"/>
          </a:xfrm>
          <a:prstGeom prst="rect">
            <a:avLst/>
          </a:prstGeom>
          <a:noFill/>
          <a:ln/>
        </p:spPr>
        <p:txBody>
          <a:bodyPr wrap="square" lIns="0" tIns="0" rIns="0" bIns="0" rtlCol="0" anchor="ctr"/>
          <a:lstStyle/>
          <a:p>
            <a:pPr marL="0" indent="0">
              <a:lnSpc>
                <a:spcPct val="130000"/>
              </a:lnSpc>
              <a:buNone/>
            </a:pPr>
            <a:r>
              <a:rPr lang="en-US" sz="1100" dirty="0">
                <a:solidFill>
                  <a:srgbClr val="555A63"/>
                </a:solidFill>
                <a:latin typeface="Noto Sans JP" pitchFamily="34" charset="0"/>
                <a:ea typeface="Noto Sans JP" pitchFamily="34" charset="-122"/>
                <a:cs typeface="Noto Sans JP" pitchFamily="34" charset="-120"/>
              </a:rPr>
              <a:t>現状を可視化してから投資判断。分析だけで終わらせず、実行して勝たせるところまで伴走する</a:t>
            </a:r>
            <a:endParaRPr lang="en-US" sz="1100" dirty="0"/>
          </a:p>
        </p:txBody>
      </p:sp>
      <p:sp>
        <p:nvSpPr>
          <p:cNvPr id="20" name="Text 18"/>
          <p:cNvSpPr/>
          <p:nvPr/>
        </p:nvSpPr>
        <p:spPr>
          <a:xfrm>
            <a:off x="502920" y="5943600"/>
            <a:ext cx="11183112" cy="384048"/>
          </a:xfrm>
          <a:prstGeom prst="rect">
            <a:avLst/>
          </a:prstGeom>
          <a:noFill/>
          <a:ln/>
        </p:spPr>
        <p:txBody>
          <a:bodyPr wrap="square" lIns="0" tIns="0" rIns="0" bIns="0" rtlCol="0" anchor="ctr"/>
          <a:lstStyle/>
          <a:p>
            <a:pPr marL="0" indent="0">
              <a:lnSpc>
                <a:spcPct val="115000"/>
              </a:lnSpc>
              <a:buNone/>
            </a:pPr>
            <a:r>
              <a:rPr lang="en-US" sz="950" b="1" dirty="0">
                <a:solidFill>
                  <a:srgbClr val="8541DC"/>
                </a:solidFill>
                <a:latin typeface="Noto Sans JP" pitchFamily="34" charset="0"/>
                <a:ea typeface="Noto Sans JP" pitchFamily="34" charset="-122"/>
                <a:cs typeface="Noto Sans JP" pitchFamily="34" charset="-120"/>
              </a:rPr>
              <a:t>用語　</a:t>
            </a:r>
            <a:r>
              <a:rPr lang="en-US" sz="950" dirty="0">
                <a:solidFill>
                  <a:srgbClr val="8A8F98"/>
                </a:solidFill>
                <a:latin typeface="Noto Sans JP" pitchFamily="34" charset="0"/>
                <a:ea typeface="Noto Sans JP" pitchFamily="34" charset="-122"/>
                <a:cs typeface="Noto Sans JP" pitchFamily="34" charset="-120"/>
              </a:rPr>
              <a:t>CEP＝AIに想起されたい“質問の文脈”／KBF（Key Buying Factor）＝顧客が選ぶ際に重視する判断軸＝AIが“選ばれる理由”として語る軸／RTB＝それを裏づける証拠。</a:t>
            </a:r>
            <a:endParaRPr lang="en-US" sz="950" dirty="0"/>
          </a:p>
        </p:txBody>
      </p:sp>
      <p:sp>
        <p:nvSpPr>
          <p:cNvPr id="21" name="Text 19"/>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2" name="Text 20"/>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THE FULL PICTURE</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LLMO対策の全体像 — AIに選ばれるために必要なこと</a:t>
            </a:r>
            <a:endParaRPr lang="en-US" sz="2500" dirty="0"/>
          </a:p>
        </p:txBody>
      </p:sp>
      <p:sp>
        <p:nvSpPr>
          <p:cNvPr id="4" name="Shape 2"/>
          <p:cNvSpPr/>
          <p:nvPr/>
        </p:nvSpPr>
        <p:spPr>
          <a:xfrm>
            <a:off x="502920" y="1444752"/>
            <a:ext cx="11183112" cy="475488"/>
          </a:xfrm>
          <a:prstGeom prst="roundRect">
            <a:avLst>
              <a:gd name="adj" fmla="val 21154"/>
            </a:avLst>
          </a:prstGeom>
          <a:solidFill>
            <a:srgbClr val="4A1F87"/>
          </a:solidFill>
          <a:ln/>
        </p:spPr>
        <p:txBody>
          <a:bodyPr/>
          <a:lstStyle/>
          <a:p>
            <a:endParaRPr lang="ja-JP" altLang="en-US"/>
          </a:p>
        </p:txBody>
      </p:sp>
      <p:sp>
        <p:nvSpPr>
          <p:cNvPr id="5" name="Text 3"/>
          <p:cNvSpPr/>
          <p:nvPr/>
        </p:nvSpPr>
        <p:spPr>
          <a:xfrm>
            <a:off x="731520" y="1490472"/>
            <a:ext cx="10698480" cy="384048"/>
          </a:xfrm>
          <a:prstGeom prst="rect">
            <a:avLst/>
          </a:prstGeom>
          <a:noFill/>
          <a:ln/>
        </p:spPr>
        <p:txBody>
          <a:bodyPr wrap="square" lIns="0" tIns="0" rIns="0" bIns="0" rtlCol="0" anchor="ctr"/>
          <a:lstStyle/>
          <a:p>
            <a:pPr marL="0" indent="0">
              <a:buNone/>
            </a:pPr>
            <a:r>
              <a:rPr lang="en-US" sz="1300" b="1" dirty="0">
                <a:solidFill>
                  <a:srgbClr val="FFFFFF"/>
                </a:solidFill>
                <a:latin typeface="Noto Sans JP" pitchFamily="34" charset="0"/>
                <a:ea typeface="Noto Sans JP" pitchFamily="34" charset="-122"/>
                <a:cs typeface="Noto Sans JP" pitchFamily="34" charset="-120"/>
              </a:rPr>
              <a:t>ゴール：AIの回答に、正しい文脈で引用・推薦される（＝LLMOの成果）</a:t>
            </a:r>
            <a:endParaRPr lang="en-US" sz="1300" dirty="0"/>
          </a:p>
        </p:txBody>
      </p:sp>
      <p:sp>
        <p:nvSpPr>
          <p:cNvPr id="6" name="Shape 4"/>
          <p:cNvSpPr/>
          <p:nvPr/>
        </p:nvSpPr>
        <p:spPr>
          <a:xfrm>
            <a:off x="502920" y="2048256"/>
            <a:ext cx="3538728" cy="1810512"/>
          </a:xfrm>
          <a:prstGeom prst="roundRect">
            <a:avLst>
              <a:gd name="adj" fmla="val 5556"/>
            </a:avLst>
          </a:prstGeom>
          <a:solidFill>
            <a:srgbClr val="F0E6FC"/>
          </a:solidFill>
          <a:ln/>
        </p:spPr>
        <p:txBody>
          <a:bodyPr/>
          <a:lstStyle/>
          <a:p>
            <a:endParaRPr lang="ja-JP" altLang="en-US"/>
          </a:p>
        </p:txBody>
      </p:sp>
      <p:sp>
        <p:nvSpPr>
          <p:cNvPr id="7" name="Text 5"/>
          <p:cNvSpPr/>
          <p:nvPr/>
        </p:nvSpPr>
        <p:spPr>
          <a:xfrm>
            <a:off x="722376" y="2194560"/>
            <a:ext cx="3108960" cy="566928"/>
          </a:xfrm>
          <a:prstGeom prst="rect">
            <a:avLst/>
          </a:prstGeom>
          <a:noFill/>
          <a:ln/>
        </p:spPr>
        <p:txBody>
          <a:bodyPr wrap="square" lIns="0" tIns="0" rIns="0" bIns="0" rtlCol="0" anchor="ctr"/>
          <a:lstStyle/>
          <a:p>
            <a:pPr marL="0" indent="0">
              <a:lnSpc>
                <a:spcPct val="115000"/>
              </a:lnSpc>
              <a:buNone/>
            </a:pPr>
            <a:r>
              <a:rPr lang="en-US" sz="1250" b="1" dirty="0">
                <a:solidFill>
                  <a:srgbClr val="8541DC"/>
                </a:solidFill>
                <a:latin typeface="Noto Sans JP" pitchFamily="34" charset="0"/>
                <a:ea typeface="Noto Sans JP" pitchFamily="34" charset="-122"/>
                <a:cs typeface="Noto Sans JP" pitchFamily="34" charset="-120"/>
              </a:rPr>
              <a:t>Company Voice｜自社発信</a:t>
            </a:r>
            <a:endParaRPr lang="en-US" sz="1250" dirty="0"/>
          </a:p>
        </p:txBody>
      </p:sp>
      <p:sp>
        <p:nvSpPr>
          <p:cNvPr id="8" name="Text 6"/>
          <p:cNvSpPr/>
          <p:nvPr/>
        </p:nvSpPr>
        <p:spPr>
          <a:xfrm>
            <a:off x="722376" y="2761488"/>
            <a:ext cx="3108960" cy="960120"/>
          </a:xfrm>
          <a:prstGeom prst="rect">
            <a:avLst/>
          </a:prstGeom>
          <a:noFill/>
          <a:ln/>
        </p:spPr>
        <p:txBody>
          <a:bodyPr wrap="square" lIns="0" tIns="0" rIns="0" bIns="0" rtlCol="0" anchor="ctr"/>
          <a:lstStyle/>
          <a:p>
            <a:pPr marL="0" indent="0">
              <a:lnSpc>
                <a:spcPct val="128000"/>
              </a:lnSpc>
              <a:buNone/>
            </a:pPr>
            <a:r>
              <a:rPr lang="en-US" sz="1000" dirty="0">
                <a:solidFill>
                  <a:srgbClr val="222222"/>
                </a:solidFill>
                <a:latin typeface="Noto Sans JP" pitchFamily="34" charset="0"/>
                <a:ea typeface="Noto Sans JP" pitchFamily="34" charset="-122"/>
                <a:cs typeface="Noto Sans JP" pitchFamily="34" charset="-120"/>
              </a:rPr>
              <a:t>正しい文脈のコンテンツと、AIが認識できるエンティティを自社側で形成する</a:t>
            </a:r>
            <a:endParaRPr lang="en-US" sz="1000" dirty="0"/>
          </a:p>
        </p:txBody>
      </p:sp>
      <p:sp>
        <p:nvSpPr>
          <p:cNvPr id="9" name="Shape 7"/>
          <p:cNvSpPr/>
          <p:nvPr/>
        </p:nvSpPr>
        <p:spPr>
          <a:xfrm>
            <a:off x="4325112" y="2048256"/>
            <a:ext cx="3538728" cy="1810512"/>
          </a:xfrm>
          <a:prstGeom prst="roundRect">
            <a:avLst>
              <a:gd name="adj" fmla="val 5556"/>
            </a:avLst>
          </a:prstGeom>
          <a:solidFill>
            <a:srgbClr val="F5EFFD"/>
          </a:solidFill>
          <a:ln/>
        </p:spPr>
        <p:txBody>
          <a:bodyPr/>
          <a:lstStyle/>
          <a:p>
            <a:endParaRPr lang="ja-JP" altLang="en-US"/>
          </a:p>
        </p:txBody>
      </p:sp>
      <p:sp>
        <p:nvSpPr>
          <p:cNvPr id="10" name="Text 8"/>
          <p:cNvSpPr/>
          <p:nvPr/>
        </p:nvSpPr>
        <p:spPr>
          <a:xfrm>
            <a:off x="4544568" y="2194560"/>
            <a:ext cx="3108960" cy="566928"/>
          </a:xfrm>
          <a:prstGeom prst="rect">
            <a:avLst/>
          </a:prstGeom>
          <a:noFill/>
          <a:ln/>
        </p:spPr>
        <p:txBody>
          <a:bodyPr wrap="square" lIns="0" tIns="0" rIns="0" bIns="0" rtlCol="0" anchor="ctr"/>
          <a:lstStyle/>
          <a:p>
            <a:pPr marL="0" indent="0">
              <a:lnSpc>
                <a:spcPct val="115000"/>
              </a:lnSpc>
              <a:buNone/>
            </a:pPr>
            <a:r>
              <a:rPr lang="en-US" sz="1250" b="1" dirty="0">
                <a:solidFill>
                  <a:srgbClr val="A970E8"/>
                </a:solidFill>
                <a:latin typeface="Noto Sans JP" pitchFamily="34" charset="0"/>
                <a:ea typeface="Noto Sans JP" pitchFamily="34" charset="-122"/>
                <a:cs typeface="Noto Sans JP" pitchFamily="34" charset="-120"/>
              </a:rPr>
              <a:t>User Voice｜実際の声</a:t>
            </a:r>
            <a:endParaRPr lang="en-US" sz="1250" dirty="0"/>
          </a:p>
        </p:txBody>
      </p:sp>
      <p:sp>
        <p:nvSpPr>
          <p:cNvPr id="11" name="Text 9"/>
          <p:cNvSpPr/>
          <p:nvPr/>
        </p:nvSpPr>
        <p:spPr>
          <a:xfrm>
            <a:off x="4544568" y="2761488"/>
            <a:ext cx="3108960" cy="960120"/>
          </a:xfrm>
          <a:prstGeom prst="rect">
            <a:avLst/>
          </a:prstGeom>
          <a:noFill/>
          <a:ln/>
        </p:spPr>
        <p:txBody>
          <a:bodyPr wrap="square" lIns="0" tIns="0" rIns="0" bIns="0" rtlCol="0" anchor="ctr"/>
          <a:lstStyle/>
          <a:p>
            <a:pPr marL="0" indent="0">
              <a:lnSpc>
                <a:spcPct val="128000"/>
              </a:lnSpc>
              <a:buNone/>
            </a:pPr>
            <a:r>
              <a:rPr lang="en-US" sz="1000" dirty="0">
                <a:solidFill>
                  <a:srgbClr val="222222"/>
                </a:solidFill>
                <a:latin typeface="Noto Sans JP" pitchFamily="34" charset="0"/>
                <a:ea typeface="Noto Sans JP" pitchFamily="34" charset="-122"/>
                <a:cs typeface="Noto Sans JP" pitchFamily="34" charset="-120"/>
              </a:rPr>
              <a:t>ユーザーの本音（選ぶ理由・不満）を把握し、デジタル上に流通させる</a:t>
            </a:r>
            <a:endParaRPr lang="en-US" sz="1000" dirty="0"/>
          </a:p>
        </p:txBody>
      </p:sp>
      <p:sp>
        <p:nvSpPr>
          <p:cNvPr id="12" name="Shape 10"/>
          <p:cNvSpPr/>
          <p:nvPr/>
        </p:nvSpPr>
        <p:spPr>
          <a:xfrm>
            <a:off x="8147304" y="2048256"/>
            <a:ext cx="3538728" cy="1810512"/>
          </a:xfrm>
          <a:prstGeom prst="roundRect">
            <a:avLst>
              <a:gd name="adj" fmla="val 5556"/>
            </a:avLst>
          </a:prstGeom>
          <a:solidFill>
            <a:srgbClr val="E9DEF9"/>
          </a:solidFill>
          <a:ln/>
        </p:spPr>
        <p:txBody>
          <a:bodyPr/>
          <a:lstStyle/>
          <a:p>
            <a:endParaRPr lang="ja-JP" altLang="en-US"/>
          </a:p>
        </p:txBody>
      </p:sp>
      <p:sp>
        <p:nvSpPr>
          <p:cNvPr id="13" name="Text 11"/>
          <p:cNvSpPr/>
          <p:nvPr/>
        </p:nvSpPr>
        <p:spPr>
          <a:xfrm>
            <a:off x="8366760" y="2194560"/>
            <a:ext cx="3108960" cy="566928"/>
          </a:xfrm>
          <a:prstGeom prst="rect">
            <a:avLst/>
          </a:prstGeom>
          <a:noFill/>
          <a:ln/>
        </p:spPr>
        <p:txBody>
          <a:bodyPr wrap="square" lIns="0" tIns="0" rIns="0" bIns="0" rtlCol="0" anchor="ctr"/>
          <a:lstStyle/>
          <a:p>
            <a:pPr marL="0" indent="0">
              <a:lnSpc>
                <a:spcPct val="115000"/>
              </a:lnSpc>
              <a:buNone/>
            </a:pPr>
            <a:r>
              <a:rPr lang="en-US" sz="1250" b="1" dirty="0">
                <a:solidFill>
                  <a:srgbClr val="6A2FB8"/>
                </a:solidFill>
                <a:latin typeface="Noto Sans JP" pitchFamily="34" charset="0"/>
                <a:ea typeface="Noto Sans JP" pitchFamily="34" charset="-122"/>
                <a:cs typeface="Noto Sans JP" pitchFamily="34" charset="-120"/>
              </a:rPr>
              <a:t>Digital Voice｜外部引用</a:t>
            </a:r>
            <a:endParaRPr lang="en-US" sz="1250" dirty="0"/>
          </a:p>
        </p:txBody>
      </p:sp>
      <p:sp>
        <p:nvSpPr>
          <p:cNvPr id="14" name="Text 12"/>
          <p:cNvSpPr/>
          <p:nvPr/>
        </p:nvSpPr>
        <p:spPr>
          <a:xfrm>
            <a:off x="8366760" y="2761488"/>
            <a:ext cx="3108960" cy="960120"/>
          </a:xfrm>
          <a:prstGeom prst="rect">
            <a:avLst/>
          </a:prstGeom>
          <a:noFill/>
          <a:ln/>
        </p:spPr>
        <p:txBody>
          <a:bodyPr wrap="square" lIns="0" tIns="0" rIns="0" bIns="0" rtlCol="0" anchor="ctr"/>
          <a:lstStyle/>
          <a:p>
            <a:pPr marL="0" indent="0">
              <a:lnSpc>
                <a:spcPct val="128000"/>
              </a:lnSpc>
              <a:buNone/>
            </a:pPr>
            <a:r>
              <a:rPr lang="en-US" sz="1000" dirty="0">
                <a:solidFill>
                  <a:srgbClr val="222222"/>
                </a:solidFill>
                <a:latin typeface="Noto Sans JP" pitchFamily="34" charset="0"/>
                <a:ea typeface="Noto Sans JP" pitchFamily="34" charset="-122"/>
                <a:cs typeface="Noto Sans JP" pitchFamily="34" charset="-120"/>
              </a:rPr>
              <a:t>第三者メディア・動画・UGCで、狙った文脈での言及・引用を獲得する</a:t>
            </a:r>
            <a:endParaRPr lang="en-US" sz="1000" dirty="0"/>
          </a:p>
        </p:txBody>
      </p:sp>
      <p:sp>
        <p:nvSpPr>
          <p:cNvPr id="15" name="Shape 13"/>
          <p:cNvSpPr/>
          <p:nvPr/>
        </p:nvSpPr>
        <p:spPr>
          <a:xfrm>
            <a:off x="502920" y="4005072"/>
            <a:ext cx="11183112" cy="841248"/>
          </a:xfrm>
          <a:prstGeom prst="roundRect">
            <a:avLst>
              <a:gd name="adj" fmla="val 11957"/>
            </a:avLst>
          </a:prstGeom>
          <a:solidFill>
            <a:srgbClr val="F5F5F7"/>
          </a:solidFill>
          <a:ln w="12700">
            <a:solidFill>
              <a:srgbClr val="E5E5EA"/>
            </a:solidFill>
            <a:prstDash val="solid"/>
          </a:ln>
        </p:spPr>
        <p:txBody>
          <a:bodyPr/>
          <a:lstStyle/>
          <a:p>
            <a:endParaRPr lang="ja-JP" altLang="en-US"/>
          </a:p>
        </p:txBody>
      </p:sp>
      <p:sp>
        <p:nvSpPr>
          <p:cNvPr id="16" name="Shape 14"/>
          <p:cNvSpPr/>
          <p:nvPr/>
        </p:nvSpPr>
        <p:spPr>
          <a:xfrm>
            <a:off x="731520" y="4242816"/>
            <a:ext cx="2514600" cy="365760"/>
          </a:xfrm>
          <a:prstGeom prst="roundRect">
            <a:avLst>
              <a:gd name="adj" fmla="val 50000"/>
            </a:avLst>
          </a:prstGeom>
          <a:solidFill>
            <a:srgbClr val="4A1F87"/>
          </a:solidFill>
          <a:ln/>
        </p:spPr>
        <p:txBody>
          <a:bodyPr/>
          <a:lstStyle/>
          <a:p>
            <a:endParaRPr lang="ja-JP" altLang="en-US"/>
          </a:p>
        </p:txBody>
      </p:sp>
      <p:sp>
        <p:nvSpPr>
          <p:cNvPr id="17" name="Text 15"/>
          <p:cNvSpPr/>
          <p:nvPr/>
        </p:nvSpPr>
        <p:spPr>
          <a:xfrm>
            <a:off x="685800" y="4233672"/>
            <a:ext cx="26060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Noto Sans JP" pitchFamily="34" charset="0"/>
                <a:ea typeface="Noto Sans JP" pitchFamily="34" charset="-122"/>
                <a:cs typeface="Noto Sans JP" pitchFamily="34" charset="-120"/>
              </a:rPr>
              <a:t>基盤</a:t>
            </a:r>
            <a:endParaRPr lang="en-US" sz="1100" dirty="0"/>
          </a:p>
        </p:txBody>
      </p:sp>
      <p:sp>
        <p:nvSpPr>
          <p:cNvPr id="18" name="Text 16"/>
          <p:cNvSpPr/>
          <p:nvPr/>
        </p:nvSpPr>
        <p:spPr>
          <a:xfrm>
            <a:off x="3429000" y="4123944"/>
            <a:ext cx="7955280" cy="621792"/>
          </a:xfrm>
          <a:prstGeom prst="rect">
            <a:avLst/>
          </a:prstGeom>
          <a:noFill/>
          <a:ln/>
        </p:spPr>
        <p:txBody>
          <a:bodyPr wrap="square" lIns="0" tIns="0" rIns="0" bIns="0" rtlCol="0" anchor="ctr"/>
          <a:lstStyle/>
          <a:p>
            <a:pPr marL="0" indent="0">
              <a:lnSpc>
                <a:spcPct val="125000"/>
              </a:lnSpc>
              <a:buNone/>
            </a:pPr>
            <a:r>
              <a:rPr lang="en-US" sz="1050" dirty="0">
                <a:solidFill>
                  <a:srgbClr val="222222"/>
                </a:solidFill>
                <a:latin typeface="Noto Sans JP" pitchFamily="34" charset="0"/>
                <a:ea typeface="Noto Sans JP" pitchFamily="34" charset="-122"/>
                <a:cs typeface="Noto Sans JP" pitchFamily="34" charset="-120"/>
              </a:rPr>
              <a:t>内部要因（構造化データ・E‑E‑A‑T・サイト/情報設計）が、SEOとLLMOの両方に耐える土台になっていること</a:t>
            </a:r>
            <a:endParaRPr lang="en-US" sz="1050" dirty="0"/>
          </a:p>
        </p:txBody>
      </p:sp>
      <p:sp>
        <p:nvSpPr>
          <p:cNvPr id="19" name="Shape 17"/>
          <p:cNvSpPr/>
          <p:nvPr/>
        </p:nvSpPr>
        <p:spPr>
          <a:xfrm>
            <a:off x="502920" y="4956048"/>
            <a:ext cx="11183112" cy="841248"/>
          </a:xfrm>
          <a:prstGeom prst="roundRect">
            <a:avLst>
              <a:gd name="adj" fmla="val 11957"/>
            </a:avLst>
          </a:prstGeom>
          <a:solidFill>
            <a:srgbClr val="F5F5F7"/>
          </a:solidFill>
          <a:ln w="12700">
            <a:solidFill>
              <a:srgbClr val="E5E5EA"/>
            </a:solidFill>
            <a:prstDash val="solid"/>
          </a:ln>
        </p:spPr>
        <p:txBody>
          <a:bodyPr/>
          <a:lstStyle/>
          <a:p>
            <a:endParaRPr lang="ja-JP" altLang="en-US"/>
          </a:p>
        </p:txBody>
      </p:sp>
      <p:sp>
        <p:nvSpPr>
          <p:cNvPr id="20" name="Shape 18"/>
          <p:cNvSpPr/>
          <p:nvPr/>
        </p:nvSpPr>
        <p:spPr>
          <a:xfrm>
            <a:off x="731520" y="5193792"/>
            <a:ext cx="2514600" cy="365760"/>
          </a:xfrm>
          <a:prstGeom prst="roundRect">
            <a:avLst>
              <a:gd name="adj" fmla="val 50000"/>
            </a:avLst>
          </a:prstGeom>
          <a:solidFill>
            <a:srgbClr val="6A2FB8"/>
          </a:solidFill>
          <a:ln/>
        </p:spPr>
        <p:txBody>
          <a:bodyPr/>
          <a:lstStyle/>
          <a:p>
            <a:endParaRPr lang="ja-JP" altLang="en-US"/>
          </a:p>
        </p:txBody>
      </p:sp>
      <p:sp>
        <p:nvSpPr>
          <p:cNvPr id="21" name="Text 19"/>
          <p:cNvSpPr/>
          <p:nvPr/>
        </p:nvSpPr>
        <p:spPr>
          <a:xfrm>
            <a:off x="685800" y="5184648"/>
            <a:ext cx="26060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Noto Sans JP" pitchFamily="34" charset="0"/>
                <a:ea typeface="Noto Sans JP" pitchFamily="34" charset="-122"/>
                <a:cs typeface="Noto Sans JP" pitchFamily="34" charset="-120"/>
              </a:rPr>
              <a:t>計測・文脈管理</a:t>
            </a:r>
            <a:endParaRPr lang="en-US" sz="1100" dirty="0"/>
          </a:p>
        </p:txBody>
      </p:sp>
      <p:sp>
        <p:nvSpPr>
          <p:cNvPr id="22" name="Text 20"/>
          <p:cNvSpPr/>
          <p:nvPr/>
        </p:nvSpPr>
        <p:spPr>
          <a:xfrm>
            <a:off x="3429000" y="5074920"/>
            <a:ext cx="7955280" cy="621792"/>
          </a:xfrm>
          <a:prstGeom prst="rect">
            <a:avLst/>
          </a:prstGeom>
          <a:noFill/>
          <a:ln/>
        </p:spPr>
        <p:txBody>
          <a:bodyPr wrap="square" lIns="0" tIns="0" rIns="0" bIns="0" rtlCol="0" anchor="ctr"/>
          <a:lstStyle/>
          <a:p>
            <a:pPr marL="0" indent="0">
              <a:lnSpc>
                <a:spcPct val="125000"/>
              </a:lnSpc>
              <a:buNone/>
            </a:pPr>
            <a:r>
              <a:rPr lang="en-US" sz="1050" dirty="0">
                <a:solidFill>
                  <a:srgbClr val="222222"/>
                </a:solidFill>
                <a:latin typeface="Noto Sans JP" pitchFamily="34" charset="0"/>
                <a:ea typeface="Noto Sans JP" pitchFamily="34" charset="-122"/>
                <a:cs typeface="Noto Sans JP" pitchFamily="34" charset="-120"/>
              </a:rPr>
              <a:t>AIでの「言われ方」を継続的に測り、3つの声の文脈を一貫させ続けること</a:t>
            </a:r>
            <a:endParaRPr lang="en-US" sz="1050" dirty="0"/>
          </a:p>
        </p:txBody>
      </p:sp>
      <p:sp>
        <p:nvSpPr>
          <p:cNvPr id="23" name="Text 21"/>
          <p:cNvSpPr/>
          <p:nvPr/>
        </p:nvSpPr>
        <p:spPr>
          <a:xfrm>
            <a:off x="502920" y="5989320"/>
            <a:ext cx="11183112" cy="365760"/>
          </a:xfrm>
          <a:prstGeom prst="rect">
            <a:avLst/>
          </a:prstGeom>
          <a:noFill/>
          <a:ln/>
        </p:spPr>
        <p:txBody>
          <a:bodyPr wrap="square" lIns="0" tIns="0" rIns="0" bIns="0" rtlCol="0" anchor="ctr"/>
          <a:lstStyle/>
          <a:p>
            <a:pPr marL="0" indent="0" algn="ctr">
              <a:buNone/>
            </a:pPr>
            <a:r>
              <a:rPr lang="en-US" sz="1250" b="1" dirty="0">
                <a:solidFill>
                  <a:srgbClr val="F57527"/>
                </a:solidFill>
                <a:latin typeface="Noto Sans JP" pitchFamily="34" charset="0"/>
                <a:ea typeface="Noto Sans JP" pitchFamily="34" charset="-122"/>
                <a:cs typeface="Noto Sans JP" pitchFamily="34" charset="-120"/>
              </a:rPr>
              <a:t>どれか1つでは効かない — 全レイヤーの“一貫性”が、LLMOの成否を分ける。</a:t>
            </a:r>
            <a:endParaRPr lang="en-US" sz="1250" dirty="0"/>
          </a:p>
        </p:txBody>
      </p:sp>
      <p:sp>
        <p:nvSpPr>
          <p:cNvPr id="24" name="Text 22"/>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5" name="Text 23"/>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OUR METHODOLOGY — 支援の全体像</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診断から改善まで — 3フェーズ・9工程で一気通貫</a:t>
            </a:r>
            <a:endParaRPr lang="en-US" sz="2500" dirty="0"/>
          </a:p>
        </p:txBody>
      </p:sp>
      <p:sp>
        <p:nvSpPr>
          <p:cNvPr id="4" name="Shape 2"/>
          <p:cNvSpPr/>
          <p:nvPr/>
        </p:nvSpPr>
        <p:spPr>
          <a:xfrm>
            <a:off x="502920" y="1691640"/>
            <a:ext cx="3538728" cy="3977640"/>
          </a:xfrm>
          <a:prstGeom prst="roundRect">
            <a:avLst>
              <a:gd name="adj" fmla="val 2842"/>
            </a:avLst>
          </a:prstGeom>
          <a:solidFill>
            <a:srgbClr val="FFFFFF"/>
          </a:solidFill>
          <a:ln w="12700">
            <a:solidFill>
              <a:srgbClr val="E5E5EA"/>
            </a:solidFill>
            <a:prstDash val="solid"/>
          </a:ln>
        </p:spPr>
        <p:txBody>
          <a:bodyPr/>
          <a:lstStyle/>
          <a:p>
            <a:endParaRPr lang="ja-JP" altLang="en-US"/>
          </a:p>
        </p:txBody>
      </p:sp>
      <p:sp>
        <p:nvSpPr>
          <p:cNvPr id="5" name="Shape 3"/>
          <p:cNvSpPr/>
          <p:nvPr/>
        </p:nvSpPr>
        <p:spPr>
          <a:xfrm>
            <a:off x="502920" y="1691640"/>
            <a:ext cx="3538728" cy="82296"/>
          </a:xfrm>
          <a:prstGeom prst="roundRect">
            <a:avLst>
              <a:gd name="adj" fmla="val 44444"/>
            </a:avLst>
          </a:prstGeom>
          <a:solidFill>
            <a:srgbClr val="A970E8"/>
          </a:solidFill>
          <a:ln/>
        </p:spPr>
        <p:txBody>
          <a:bodyPr/>
          <a:lstStyle/>
          <a:p>
            <a:endParaRPr lang="ja-JP" altLang="en-US"/>
          </a:p>
        </p:txBody>
      </p:sp>
      <p:sp>
        <p:nvSpPr>
          <p:cNvPr id="6" name="Text 4"/>
          <p:cNvSpPr/>
          <p:nvPr/>
        </p:nvSpPr>
        <p:spPr>
          <a:xfrm>
            <a:off x="731520" y="1920240"/>
            <a:ext cx="3108960" cy="411480"/>
          </a:xfrm>
          <a:prstGeom prst="rect">
            <a:avLst/>
          </a:prstGeom>
          <a:noFill/>
          <a:ln/>
        </p:spPr>
        <p:txBody>
          <a:bodyPr wrap="square" lIns="0" tIns="0" rIns="0" bIns="0" rtlCol="0" anchor="ctr"/>
          <a:lstStyle/>
          <a:p>
            <a:pPr marL="0" indent="0">
              <a:buNone/>
            </a:pPr>
            <a:r>
              <a:rPr lang="en-US" sz="1350" b="1" dirty="0">
                <a:solidFill>
                  <a:srgbClr val="A970E8"/>
                </a:solidFill>
                <a:latin typeface="Noto Sans JP" pitchFamily="34" charset="0"/>
                <a:ea typeface="Noto Sans JP" pitchFamily="34" charset="-122"/>
                <a:cs typeface="Noto Sans JP" pitchFamily="34" charset="-120"/>
              </a:rPr>
              <a:t>PHASE 1｜診断</a:t>
            </a:r>
            <a:endParaRPr lang="en-US" sz="1350" dirty="0"/>
          </a:p>
        </p:txBody>
      </p:sp>
      <p:sp>
        <p:nvSpPr>
          <p:cNvPr id="7" name="Text 5"/>
          <p:cNvSpPr/>
          <p:nvPr/>
        </p:nvSpPr>
        <p:spPr>
          <a:xfrm>
            <a:off x="731520" y="2468880"/>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① 現在地の診断（AIでの言われ方）</a:t>
            </a:r>
            <a:endParaRPr lang="en-US" sz="1080" dirty="0"/>
          </a:p>
        </p:txBody>
      </p:sp>
      <p:sp>
        <p:nvSpPr>
          <p:cNvPr id="8" name="Text 6"/>
          <p:cNvSpPr/>
          <p:nvPr/>
        </p:nvSpPr>
        <p:spPr>
          <a:xfrm>
            <a:off x="731520" y="3127248"/>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② AIカスタマージャーニー設計</a:t>
            </a:r>
            <a:endParaRPr lang="en-US" sz="1080" dirty="0"/>
          </a:p>
        </p:txBody>
      </p:sp>
      <p:sp>
        <p:nvSpPr>
          <p:cNvPr id="9" name="Text 7"/>
          <p:cNvSpPr/>
          <p:nvPr/>
        </p:nvSpPr>
        <p:spPr>
          <a:xfrm>
            <a:off x="731520" y="3785616"/>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③ エンティティ・参照先の特定</a:t>
            </a:r>
            <a:endParaRPr lang="en-US" sz="1080" dirty="0"/>
          </a:p>
        </p:txBody>
      </p:sp>
      <p:sp>
        <p:nvSpPr>
          <p:cNvPr id="10" name="Shape 8"/>
          <p:cNvSpPr/>
          <p:nvPr/>
        </p:nvSpPr>
        <p:spPr>
          <a:xfrm>
            <a:off x="4325112" y="1691640"/>
            <a:ext cx="3538728" cy="3977640"/>
          </a:xfrm>
          <a:prstGeom prst="roundRect">
            <a:avLst>
              <a:gd name="adj" fmla="val 2842"/>
            </a:avLst>
          </a:prstGeom>
          <a:solidFill>
            <a:srgbClr val="FFFFFF"/>
          </a:solidFill>
          <a:ln w="12700">
            <a:solidFill>
              <a:srgbClr val="E5E5EA"/>
            </a:solidFill>
            <a:prstDash val="solid"/>
          </a:ln>
        </p:spPr>
        <p:txBody>
          <a:bodyPr/>
          <a:lstStyle/>
          <a:p>
            <a:endParaRPr lang="ja-JP" altLang="en-US"/>
          </a:p>
        </p:txBody>
      </p:sp>
      <p:sp>
        <p:nvSpPr>
          <p:cNvPr id="11" name="Shape 9"/>
          <p:cNvSpPr/>
          <p:nvPr/>
        </p:nvSpPr>
        <p:spPr>
          <a:xfrm>
            <a:off x="4325112" y="1691640"/>
            <a:ext cx="3538728" cy="82296"/>
          </a:xfrm>
          <a:prstGeom prst="roundRect">
            <a:avLst>
              <a:gd name="adj" fmla="val 44444"/>
            </a:avLst>
          </a:prstGeom>
          <a:solidFill>
            <a:srgbClr val="8541DC"/>
          </a:solidFill>
          <a:ln/>
        </p:spPr>
        <p:txBody>
          <a:bodyPr/>
          <a:lstStyle/>
          <a:p>
            <a:endParaRPr lang="ja-JP" altLang="en-US"/>
          </a:p>
        </p:txBody>
      </p:sp>
      <p:sp>
        <p:nvSpPr>
          <p:cNvPr id="12" name="Text 10"/>
          <p:cNvSpPr/>
          <p:nvPr/>
        </p:nvSpPr>
        <p:spPr>
          <a:xfrm>
            <a:off x="4553712" y="1920240"/>
            <a:ext cx="3108960" cy="411480"/>
          </a:xfrm>
          <a:prstGeom prst="rect">
            <a:avLst/>
          </a:prstGeom>
          <a:noFill/>
          <a:ln/>
        </p:spPr>
        <p:txBody>
          <a:bodyPr wrap="square" lIns="0" tIns="0" rIns="0" bIns="0" rtlCol="0" anchor="ctr"/>
          <a:lstStyle/>
          <a:p>
            <a:pPr marL="0" indent="0">
              <a:buNone/>
            </a:pPr>
            <a:r>
              <a:rPr lang="en-US" sz="1350" b="1" dirty="0">
                <a:solidFill>
                  <a:srgbClr val="8541DC"/>
                </a:solidFill>
                <a:latin typeface="Noto Sans JP" pitchFamily="34" charset="0"/>
                <a:ea typeface="Noto Sans JP" pitchFamily="34" charset="-122"/>
                <a:cs typeface="Noto Sans JP" pitchFamily="34" charset="-120"/>
              </a:rPr>
              <a:t>PHASE 2｜実装</a:t>
            </a:r>
            <a:endParaRPr lang="en-US" sz="1350" dirty="0"/>
          </a:p>
        </p:txBody>
      </p:sp>
      <p:sp>
        <p:nvSpPr>
          <p:cNvPr id="13" name="Text 11"/>
          <p:cNvSpPr/>
          <p:nvPr/>
        </p:nvSpPr>
        <p:spPr>
          <a:xfrm>
            <a:off x="4553712" y="2468880"/>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④ サイト・技術基盤の整備</a:t>
            </a:r>
            <a:endParaRPr lang="en-US" sz="1080" dirty="0"/>
          </a:p>
        </p:txBody>
      </p:sp>
      <p:sp>
        <p:nvSpPr>
          <p:cNvPr id="14" name="Text 12"/>
          <p:cNvSpPr/>
          <p:nvPr/>
        </p:nvSpPr>
        <p:spPr>
          <a:xfrm>
            <a:off x="4553712" y="3127248"/>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⑤ ブランドナレッジベース構築</a:t>
            </a:r>
            <a:endParaRPr lang="en-US" sz="1080" dirty="0"/>
          </a:p>
        </p:txBody>
      </p:sp>
      <p:sp>
        <p:nvSpPr>
          <p:cNvPr id="15" name="Text 13"/>
          <p:cNvSpPr/>
          <p:nvPr/>
        </p:nvSpPr>
        <p:spPr>
          <a:xfrm>
            <a:off x="4553712" y="3785616"/>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⑥ ウェブ全体のプレゼンス形成</a:t>
            </a:r>
            <a:endParaRPr lang="en-US" sz="1080" dirty="0"/>
          </a:p>
        </p:txBody>
      </p:sp>
      <p:sp>
        <p:nvSpPr>
          <p:cNvPr id="16" name="Text 14"/>
          <p:cNvSpPr/>
          <p:nvPr/>
        </p:nvSpPr>
        <p:spPr>
          <a:xfrm>
            <a:off x="4553712" y="4443984"/>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⑦ コンバージョン出口の整備</a:t>
            </a:r>
            <a:endParaRPr lang="en-US" sz="1080" dirty="0"/>
          </a:p>
        </p:txBody>
      </p:sp>
      <p:sp>
        <p:nvSpPr>
          <p:cNvPr id="17" name="Shape 15"/>
          <p:cNvSpPr/>
          <p:nvPr/>
        </p:nvSpPr>
        <p:spPr>
          <a:xfrm>
            <a:off x="8147304" y="1691640"/>
            <a:ext cx="3538728" cy="3977640"/>
          </a:xfrm>
          <a:prstGeom prst="roundRect">
            <a:avLst>
              <a:gd name="adj" fmla="val 2842"/>
            </a:avLst>
          </a:prstGeom>
          <a:solidFill>
            <a:srgbClr val="FFFFFF"/>
          </a:solidFill>
          <a:ln w="12700">
            <a:solidFill>
              <a:srgbClr val="E5E5EA"/>
            </a:solidFill>
            <a:prstDash val="solid"/>
          </a:ln>
        </p:spPr>
        <p:txBody>
          <a:bodyPr/>
          <a:lstStyle/>
          <a:p>
            <a:endParaRPr lang="ja-JP" altLang="en-US"/>
          </a:p>
        </p:txBody>
      </p:sp>
      <p:sp>
        <p:nvSpPr>
          <p:cNvPr id="18" name="Shape 16"/>
          <p:cNvSpPr/>
          <p:nvPr/>
        </p:nvSpPr>
        <p:spPr>
          <a:xfrm>
            <a:off x="8147304" y="1691640"/>
            <a:ext cx="3538728" cy="82296"/>
          </a:xfrm>
          <a:prstGeom prst="roundRect">
            <a:avLst>
              <a:gd name="adj" fmla="val 44444"/>
            </a:avLst>
          </a:prstGeom>
          <a:solidFill>
            <a:srgbClr val="6A2FB8"/>
          </a:solidFill>
          <a:ln/>
        </p:spPr>
        <p:txBody>
          <a:bodyPr/>
          <a:lstStyle/>
          <a:p>
            <a:endParaRPr lang="ja-JP" altLang="en-US"/>
          </a:p>
        </p:txBody>
      </p:sp>
      <p:sp>
        <p:nvSpPr>
          <p:cNvPr id="19" name="Text 17"/>
          <p:cNvSpPr/>
          <p:nvPr/>
        </p:nvSpPr>
        <p:spPr>
          <a:xfrm>
            <a:off x="8375904" y="1920240"/>
            <a:ext cx="3108960" cy="411480"/>
          </a:xfrm>
          <a:prstGeom prst="rect">
            <a:avLst/>
          </a:prstGeom>
          <a:noFill/>
          <a:ln/>
        </p:spPr>
        <p:txBody>
          <a:bodyPr wrap="square" lIns="0" tIns="0" rIns="0" bIns="0" rtlCol="0" anchor="ctr"/>
          <a:lstStyle/>
          <a:p>
            <a:pPr marL="0" indent="0">
              <a:buNone/>
            </a:pPr>
            <a:r>
              <a:rPr lang="en-US" sz="1350" b="1" dirty="0">
                <a:solidFill>
                  <a:srgbClr val="6A2FB8"/>
                </a:solidFill>
                <a:latin typeface="Noto Sans JP" pitchFamily="34" charset="0"/>
                <a:ea typeface="Noto Sans JP" pitchFamily="34" charset="-122"/>
                <a:cs typeface="Noto Sans JP" pitchFamily="34" charset="-120"/>
              </a:rPr>
              <a:t>PHASE 3｜計測・改善</a:t>
            </a:r>
            <a:endParaRPr lang="en-US" sz="1350" dirty="0"/>
          </a:p>
        </p:txBody>
      </p:sp>
      <p:sp>
        <p:nvSpPr>
          <p:cNvPr id="20" name="Text 18"/>
          <p:cNvSpPr/>
          <p:nvPr/>
        </p:nvSpPr>
        <p:spPr>
          <a:xfrm>
            <a:off x="8375904" y="2468880"/>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⑧ AIモニタリングと継続改善</a:t>
            </a:r>
            <a:endParaRPr lang="en-US" sz="1080" dirty="0"/>
          </a:p>
        </p:txBody>
      </p:sp>
      <p:sp>
        <p:nvSpPr>
          <p:cNvPr id="21" name="Text 19"/>
          <p:cNvSpPr/>
          <p:nvPr/>
        </p:nvSpPr>
        <p:spPr>
          <a:xfrm>
            <a:off x="8375904" y="3127248"/>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⑨ AI経由売上の計測</a:t>
            </a:r>
            <a:endParaRPr lang="en-US" sz="1080" dirty="0"/>
          </a:p>
        </p:txBody>
      </p:sp>
      <p:sp>
        <p:nvSpPr>
          <p:cNvPr id="22" name="Text 20"/>
          <p:cNvSpPr/>
          <p:nvPr/>
        </p:nvSpPr>
        <p:spPr>
          <a:xfrm>
            <a:off x="502920" y="5852160"/>
            <a:ext cx="11183112" cy="365760"/>
          </a:xfrm>
          <a:prstGeom prst="rect">
            <a:avLst/>
          </a:prstGeom>
          <a:noFill/>
          <a:ln/>
        </p:spPr>
        <p:txBody>
          <a:bodyPr wrap="square" lIns="0" tIns="0" rIns="0" bIns="0" rtlCol="0" anchor="ctr"/>
          <a:lstStyle/>
          <a:p>
            <a:pPr marL="0" indent="0" algn="ctr">
              <a:buNone/>
            </a:pPr>
            <a:r>
              <a:rPr lang="en-US" sz="1200" b="1" dirty="0">
                <a:solidFill>
                  <a:srgbClr val="F57527"/>
                </a:solidFill>
                <a:latin typeface="Noto Sans JP" pitchFamily="34" charset="0"/>
                <a:ea typeface="Noto Sans JP" pitchFamily="34" charset="-122"/>
                <a:cs typeface="Noto Sans JP" pitchFamily="34" charset="-120"/>
              </a:rPr>
              <a:t>本無料分析は PHASE 1（診断）に相当します。ここで現状と機会を可視化し、次の一手を設計します。</a:t>
            </a:r>
            <a:endParaRPr lang="en-US" sz="1200" dirty="0"/>
          </a:p>
        </p:txBody>
      </p:sp>
      <p:sp>
        <p:nvSpPr>
          <p:cNvPr id="23" name="Text 21"/>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4" name="Text 22"/>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FUNNEL &amp; KPI — ファネルとKPI</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ファネルで捉え、KPIは“3層”で立てる</a:t>
            </a:r>
            <a:endParaRPr lang="en-US" sz="2500" dirty="0"/>
          </a:p>
        </p:txBody>
      </p:sp>
      <p:sp>
        <p:nvSpPr>
          <p:cNvPr id="4" name="Shape 2"/>
          <p:cNvSpPr/>
          <p:nvPr/>
        </p:nvSpPr>
        <p:spPr>
          <a:xfrm>
            <a:off x="502920" y="1645920"/>
            <a:ext cx="11183112" cy="694944"/>
          </a:xfrm>
          <a:prstGeom prst="roundRect">
            <a:avLst>
              <a:gd name="adj" fmla="val 14474"/>
            </a:avLst>
          </a:prstGeom>
          <a:solidFill>
            <a:srgbClr val="F5F5F7"/>
          </a:solidFill>
          <a:ln/>
        </p:spPr>
        <p:txBody>
          <a:bodyPr/>
          <a:lstStyle/>
          <a:p>
            <a:endParaRPr lang="ja-JP" altLang="en-US"/>
          </a:p>
        </p:txBody>
      </p:sp>
      <p:sp>
        <p:nvSpPr>
          <p:cNvPr id="5" name="Shape 3"/>
          <p:cNvSpPr/>
          <p:nvPr/>
        </p:nvSpPr>
        <p:spPr>
          <a:xfrm>
            <a:off x="685800" y="1810512"/>
            <a:ext cx="365760" cy="365760"/>
          </a:xfrm>
          <a:prstGeom prst="ellipse">
            <a:avLst/>
          </a:prstGeom>
          <a:solidFill>
            <a:srgbClr val="A970E8"/>
          </a:solidFill>
          <a:ln/>
        </p:spPr>
        <p:txBody>
          <a:bodyPr/>
          <a:lstStyle/>
          <a:p>
            <a:endParaRPr lang="ja-JP" altLang="en-US"/>
          </a:p>
        </p:txBody>
      </p:sp>
      <p:sp>
        <p:nvSpPr>
          <p:cNvPr id="6" name="Text 4"/>
          <p:cNvSpPr/>
          <p:nvPr/>
        </p:nvSpPr>
        <p:spPr>
          <a:xfrm>
            <a:off x="630936" y="1792224"/>
            <a:ext cx="47548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7" name="Text 5"/>
          <p:cNvSpPr/>
          <p:nvPr/>
        </p:nvSpPr>
        <p:spPr>
          <a:xfrm>
            <a:off x="1188720" y="1709928"/>
            <a:ext cx="2011680" cy="548640"/>
          </a:xfrm>
          <a:prstGeom prst="rect">
            <a:avLst/>
          </a:prstGeom>
          <a:noFill/>
          <a:ln/>
        </p:spPr>
        <p:txBody>
          <a:bodyPr wrap="square" lIns="0" tIns="0" rIns="0" bIns="0" rtlCol="0" anchor="ctr"/>
          <a:lstStyle/>
          <a:p>
            <a:pPr marL="0" indent="0">
              <a:buNone/>
            </a:pPr>
            <a:r>
              <a:rPr lang="en-US" sz="1300" b="1" dirty="0">
                <a:solidFill>
                  <a:srgbClr val="222222"/>
                </a:solidFill>
                <a:latin typeface="Noto Sans JP" pitchFamily="34" charset="0"/>
                <a:ea typeface="Noto Sans JP" pitchFamily="34" charset="-122"/>
                <a:cs typeface="Noto Sans JP" pitchFamily="34" charset="-120"/>
              </a:rPr>
              <a:t>認知</a:t>
            </a:r>
            <a:endParaRPr lang="en-US" sz="1300" dirty="0"/>
          </a:p>
        </p:txBody>
      </p:sp>
      <p:sp>
        <p:nvSpPr>
          <p:cNvPr id="8" name="Text 6"/>
          <p:cNvSpPr/>
          <p:nvPr/>
        </p:nvSpPr>
        <p:spPr>
          <a:xfrm>
            <a:off x="3108960" y="1691640"/>
            <a:ext cx="4754880" cy="585216"/>
          </a:xfrm>
          <a:prstGeom prst="rect">
            <a:avLst/>
          </a:prstGeom>
          <a:noFill/>
          <a:ln/>
        </p:spPr>
        <p:txBody>
          <a:bodyPr wrap="square" lIns="0" tIns="0" rIns="0" bIns="0" rtlCol="0" anchor="ctr"/>
          <a:lstStyle/>
          <a:p>
            <a:pPr marL="0" indent="0">
              <a:lnSpc>
                <a:spcPct val="120000"/>
              </a:lnSpc>
              <a:buNone/>
            </a:pPr>
            <a:r>
              <a:rPr lang="en-US" sz="1000" dirty="0">
                <a:solidFill>
                  <a:srgbClr val="555A63"/>
                </a:solidFill>
                <a:latin typeface="Noto Sans JP" pitchFamily="34" charset="0"/>
                <a:ea typeface="Noto Sans JP" pitchFamily="34" charset="-122"/>
                <a:cs typeface="Noto Sans JP" pitchFamily="34" charset="-120"/>
              </a:rPr>
              <a:t>AIでカテゴリを調べている → 名前が挙がる</a:t>
            </a:r>
            <a:endParaRPr lang="en-US" sz="1000" dirty="0"/>
          </a:p>
        </p:txBody>
      </p:sp>
      <p:sp>
        <p:nvSpPr>
          <p:cNvPr id="9" name="Text 7"/>
          <p:cNvSpPr/>
          <p:nvPr/>
        </p:nvSpPr>
        <p:spPr>
          <a:xfrm>
            <a:off x="8046720" y="1691640"/>
            <a:ext cx="3474720" cy="585216"/>
          </a:xfrm>
          <a:prstGeom prst="rect">
            <a:avLst/>
          </a:prstGeom>
          <a:noFill/>
          <a:ln/>
        </p:spPr>
        <p:txBody>
          <a:bodyPr wrap="square" lIns="0" tIns="0" rIns="0" bIns="0" rtlCol="0" anchor="ctr"/>
          <a:lstStyle/>
          <a:p>
            <a:pPr marL="0" indent="0">
              <a:buNone/>
            </a:pPr>
            <a:r>
              <a:rPr lang="en-US" sz="1050" b="1" dirty="0">
                <a:solidFill>
                  <a:srgbClr val="A970E8"/>
                </a:solidFill>
                <a:latin typeface="Noto Sans JP" pitchFamily="34" charset="0"/>
                <a:ea typeface="Noto Sans JP" pitchFamily="34" charset="-122"/>
                <a:cs typeface="Noto Sans JP" pitchFamily="34" charset="-120"/>
              </a:rPr>
              <a:t>KPI：メンション率 / AI上シェア</a:t>
            </a:r>
            <a:endParaRPr lang="en-US" sz="1050" dirty="0"/>
          </a:p>
        </p:txBody>
      </p:sp>
      <p:sp>
        <p:nvSpPr>
          <p:cNvPr id="10" name="Shape 8"/>
          <p:cNvSpPr/>
          <p:nvPr/>
        </p:nvSpPr>
        <p:spPr>
          <a:xfrm>
            <a:off x="960120" y="2432304"/>
            <a:ext cx="10725912" cy="694944"/>
          </a:xfrm>
          <a:prstGeom prst="roundRect">
            <a:avLst>
              <a:gd name="adj" fmla="val 14474"/>
            </a:avLst>
          </a:prstGeom>
          <a:solidFill>
            <a:srgbClr val="F5F5F7"/>
          </a:solidFill>
          <a:ln/>
        </p:spPr>
        <p:txBody>
          <a:bodyPr/>
          <a:lstStyle/>
          <a:p>
            <a:endParaRPr lang="ja-JP" altLang="en-US"/>
          </a:p>
        </p:txBody>
      </p:sp>
      <p:sp>
        <p:nvSpPr>
          <p:cNvPr id="11" name="Shape 9"/>
          <p:cNvSpPr/>
          <p:nvPr/>
        </p:nvSpPr>
        <p:spPr>
          <a:xfrm>
            <a:off x="1143000" y="2596896"/>
            <a:ext cx="365760" cy="365760"/>
          </a:xfrm>
          <a:prstGeom prst="ellipse">
            <a:avLst/>
          </a:prstGeom>
          <a:solidFill>
            <a:srgbClr val="8541DC"/>
          </a:solidFill>
          <a:ln/>
        </p:spPr>
        <p:txBody>
          <a:bodyPr/>
          <a:lstStyle/>
          <a:p>
            <a:endParaRPr lang="ja-JP" altLang="en-US"/>
          </a:p>
        </p:txBody>
      </p:sp>
      <p:sp>
        <p:nvSpPr>
          <p:cNvPr id="12" name="Text 10"/>
          <p:cNvSpPr/>
          <p:nvPr/>
        </p:nvSpPr>
        <p:spPr>
          <a:xfrm>
            <a:off x="1088136" y="2578608"/>
            <a:ext cx="47548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13" name="Text 11"/>
          <p:cNvSpPr/>
          <p:nvPr/>
        </p:nvSpPr>
        <p:spPr>
          <a:xfrm>
            <a:off x="1645920" y="2496312"/>
            <a:ext cx="2011680" cy="548640"/>
          </a:xfrm>
          <a:prstGeom prst="rect">
            <a:avLst/>
          </a:prstGeom>
          <a:noFill/>
          <a:ln/>
        </p:spPr>
        <p:txBody>
          <a:bodyPr wrap="square" lIns="0" tIns="0" rIns="0" bIns="0" rtlCol="0" anchor="ctr"/>
          <a:lstStyle/>
          <a:p>
            <a:pPr marL="0" indent="0">
              <a:buNone/>
            </a:pPr>
            <a:r>
              <a:rPr lang="en-US" sz="1300" b="1" dirty="0">
                <a:solidFill>
                  <a:srgbClr val="222222"/>
                </a:solidFill>
                <a:latin typeface="Noto Sans JP" pitchFamily="34" charset="0"/>
                <a:ea typeface="Noto Sans JP" pitchFamily="34" charset="-122"/>
                <a:cs typeface="Noto Sans JP" pitchFamily="34" charset="-120"/>
              </a:rPr>
              <a:t>比較・検討</a:t>
            </a:r>
            <a:endParaRPr lang="en-US" sz="1300" dirty="0"/>
          </a:p>
        </p:txBody>
      </p:sp>
      <p:sp>
        <p:nvSpPr>
          <p:cNvPr id="14" name="Text 12"/>
          <p:cNvSpPr/>
          <p:nvPr/>
        </p:nvSpPr>
        <p:spPr>
          <a:xfrm>
            <a:off x="3566160" y="2478024"/>
            <a:ext cx="4754880" cy="585216"/>
          </a:xfrm>
          <a:prstGeom prst="rect">
            <a:avLst/>
          </a:prstGeom>
          <a:noFill/>
          <a:ln/>
        </p:spPr>
        <p:txBody>
          <a:bodyPr wrap="square" lIns="0" tIns="0" rIns="0" bIns="0" rtlCol="0" anchor="ctr"/>
          <a:lstStyle/>
          <a:p>
            <a:pPr marL="0" indent="0">
              <a:lnSpc>
                <a:spcPct val="120000"/>
              </a:lnSpc>
              <a:buNone/>
            </a:pPr>
            <a:r>
              <a:rPr lang="en-US" sz="1000" dirty="0">
                <a:solidFill>
                  <a:srgbClr val="555A63"/>
                </a:solidFill>
                <a:latin typeface="Noto Sans JP" pitchFamily="34" charset="0"/>
                <a:ea typeface="Noto Sans JP" pitchFamily="34" charset="-122"/>
                <a:cs typeface="Noto Sans JP" pitchFamily="34" charset="-120"/>
              </a:rPr>
              <a:t>複数ブランドを比較 → 推奨され“選ばれる理由”が示される</a:t>
            </a:r>
            <a:endParaRPr lang="en-US" sz="1000" dirty="0"/>
          </a:p>
        </p:txBody>
      </p:sp>
      <p:sp>
        <p:nvSpPr>
          <p:cNvPr id="15" name="Text 13"/>
          <p:cNvSpPr/>
          <p:nvPr/>
        </p:nvSpPr>
        <p:spPr>
          <a:xfrm>
            <a:off x="8046720" y="2478024"/>
            <a:ext cx="3474720" cy="585216"/>
          </a:xfrm>
          <a:prstGeom prst="rect">
            <a:avLst/>
          </a:prstGeom>
          <a:noFill/>
          <a:ln/>
        </p:spPr>
        <p:txBody>
          <a:bodyPr wrap="square" lIns="0" tIns="0" rIns="0" bIns="0" rtlCol="0" anchor="ctr"/>
          <a:lstStyle/>
          <a:p>
            <a:pPr marL="0" indent="0">
              <a:buNone/>
            </a:pPr>
            <a:r>
              <a:rPr lang="en-US" sz="1050" b="1" dirty="0">
                <a:solidFill>
                  <a:srgbClr val="8541DC"/>
                </a:solidFill>
                <a:latin typeface="Noto Sans JP" pitchFamily="34" charset="0"/>
                <a:ea typeface="Noto Sans JP" pitchFamily="34" charset="-122"/>
                <a:cs typeface="Noto Sans JP" pitchFamily="34" charset="-120"/>
              </a:rPr>
              <a:t>KPI：推奨率 / 比較勝率 / 推奨理由</a:t>
            </a:r>
            <a:endParaRPr lang="en-US" sz="1050" dirty="0"/>
          </a:p>
        </p:txBody>
      </p:sp>
      <p:sp>
        <p:nvSpPr>
          <p:cNvPr id="16" name="Shape 14"/>
          <p:cNvSpPr/>
          <p:nvPr/>
        </p:nvSpPr>
        <p:spPr>
          <a:xfrm>
            <a:off x="1417320" y="3218688"/>
            <a:ext cx="10268712" cy="694944"/>
          </a:xfrm>
          <a:prstGeom prst="roundRect">
            <a:avLst>
              <a:gd name="adj" fmla="val 14474"/>
            </a:avLst>
          </a:prstGeom>
          <a:solidFill>
            <a:srgbClr val="F5F5F7"/>
          </a:solidFill>
          <a:ln/>
        </p:spPr>
        <p:txBody>
          <a:bodyPr/>
          <a:lstStyle/>
          <a:p>
            <a:endParaRPr lang="ja-JP" altLang="en-US"/>
          </a:p>
        </p:txBody>
      </p:sp>
      <p:sp>
        <p:nvSpPr>
          <p:cNvPr id="17" name="Shape 15"/>
          <p:cNvSpPr/>
          <p:nvPr/>
        </p:nvSpPr>
        <p:spPr>
          <a:xfrm>
            <a:off x="1600200" y="3383280"/>
            <a:ext cx="365760" cy="365760"/>
          </a:xfrm>
          <a:prstGeom prst="ellipse">
            <a:avLst/>
          </a:prstGeom>
          <a:solidFill>
            <a:srgbClr val="6A2FB8"/>
          </a:solidFill>
          <a:ln/>
        </p:spPr>
        <p:txBody>
          <a:bodyPr/>
          <a:lstStyle/>
          <a:p>
            <a:endParaRPr lang="ja-JP" altLang="en-US"/>
          </a:p>
        </p:txBody>
      </p:sp>
      <p:sp>
        <p:nvSpPr>
          <p:cNvPr id="18" name="Text 16"/>
          <p:cNvSpPr/>
          <p:nvPr/>
        </p:nvSpPr>
        <p:spPr>
          <a:xfrm>
            <a:off x="1545336" y="3364992"/>
            <a:ext cx="47548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19" name="Text 17"/>
          <p:cNvSpPr/>
          <p:nvPr/>
        </p:nvSpPr>
        <p:spPr>
          <a:xfrm>
            <a:off x="2103120" y="3282696"/>
            <a:ext cx="2011680" cy="548640"/>
          </a:xfrm>
          <a:prstGeom prst="rect">
            <a:avLst/>
          </a:prstGeom>
          <a:noFill/>
          <a:ln/>
        </p:spPr>
        <p:txBody>
          <a:bodyPr wrap="square" lIns="0" tIns="0" rIns="0" bIns="0" rtlCol="0" anchor="ctr"/>
          <a:lstStyle/>
          <a:p>
            <a:pPr marL="0" indent="0">
              <a:buNone/>
            </a:pPr>
            <a:r>
              <a:rPr lang="en-US" sz="1300" b="1" dirty="0">
                <a:solidFill>
                  <a:srgbClr val="222222"/>
                </a:solidFill>
                <a:latin typeface="Noto Sans JP" pitchFamily="34" charset="0"/>
                <a:ea typeface="Noto Sans JP" pitchFamily="34" charset="-122"/>
                <a:cs typeface="Noto Sans JP" pitchFamily="34" charset="-120"/>
              </a:rPr>
              <a:t>意思決定</a:t>
            </a:r>
            <a:endParaRPr lang="en-US" sz="1300" dirty="0"/>
          </a:p>
        </p:txBody>
      </p:sp>
      <p:sp>
        <p:nvSpPr>
          <p:cNvPr id="20" name="Text 18"/>
          <p:cNvSpPr/>
          <p:nvPr/>
        </p:nvSpPr>
        <p:spPr>
          <a:xfrm>
            <a:off x="4023360" y="3264408"/>
            <a:ext cx="4754880" cy="585216"/>
          </a:xfrm>
          <a:prstGeom prst="rect">
            <a:avLst/>
          </a:prstGeom>
          <a:noFill/>
          <a:ln/>
        </p:spPr>
        <p:txBody>
          <a:bodyPr wrap="square" lIns="0" tIns="0" rIns="0" bIns="0" rtlCol="0" anchor="ctr"/>
          <a:lstStyle/>
          <a:p>
            <a:pPr marL="0" indent="0">
              <a:lnSpc>
                <a:spcPct val="120000"/>
              </a:lnSpc>
              <a:buNone/>
            </a:pPr>
            <a:r>
              <a:rPr lang="en-US" sz="1000" dirty="0">
                <a:solidFill>
                  <a:srgbClr val="555A63"/>
                </a:solidFill>
                <a:latin typeface="Noto Sans JP" pitchFamily="34" charset="0"/>
                <a:ea typeface="Noto Sans JP" pitchFamily="34" charset="-122"/>
                <a:cs typeface="Noto Sans JP" pitchFamily="34" charset="-120"/>
              </a:rPr>
              <a:t>問い合わせ・予約前の確認 → 信頼を獲得しCV</a:t>
            </a:r>
            <a:endParaRPr lang="en-US" sz="1000" dirty="0"/>
          </a:p>
        </p:txBody>
      </p:sp>
      <p:sp>
        <p:nvSpPr>
          <p:cNvPr id="21" name="Text 19"/>
          <p:cNvSpPr/>
          <p:nvPr/>
        </p:nvSpPr>
        <p:spPr>
          <a:xfrm>
            <a:off x="8046720" y="3264408"/>
            <a:ext cx="3474720" cy="585216"/>
          </a:xfrm>
          <a:prstGeom prst="rect">
            <a:avLst/>
          </a:prstGeom>
          <a:noFill/>
          <a:ln/>
        </p:spPr>
        <p:txBody>
          <a:bodyPr wrap="square" lIns="0" tIns="0" rIns="0" bIns="0" rtlCol="0" anchor="ctr"/>
          <a:lstStyle/>
          <a:p>
            <a:pPr marL="0" indent="0">
              <a:buNone/>
            </a:pPr>
            <a:r>
              <a:rPr lang="en-US" sz="1050" b="1" dirty="0">
                <a:solidFill>
                  <a:srgbClr val="6A2FB8"/>
                </a:solidFill>
                <a:latin typeface="Noto Sans JP" pitchFamily="34" charset="0"/>
                <a:ea typeface="Noto Sans JP" pitchFamily="34" charset="-122"/>
                <a:cs typeface="Noto Sans JP" pitchFamily="34" charset="-120"/>
              </a:rPr>
              <a:t>KPI：信頼情報の充足 / 否定要因</a:t>
            </a:r>
            <a:endParaRPr lang="en-US" sz="1050" dirty="0"/>
          </a:p>
        </p:txBody>
      </p:sp>
      <p:sp>
        <p:nvSpPr>
          <p:cNvPr id="22" name="Shape 20"/>
          <p:cNvSpPr/>
          <p:nvPr/>
        </p:nvSpPr>
        <p:spPr>
          <a:xfrm>
            <a:off x="502920" y="4114800"/>
            <a:ext cx="11183112" cy="438912"/>
          </a:xfrm>
          <a:prstGeom prst="roundRect">
            <a:avLst>
              <a:gd name="adj" fmla="val 22917"/>
            </a:avLst>
          </a:prstGeom>
          <a:solidFill>
            <a:srgbClr val="4A1F87"/>
          </a:solidFill>
          <a:ln/>
        </p:spPr>
        <p:txBody>
          <a:bodyPr/>
          <a:lstStyle/>
          <a:p>
            <a:endParaRPr lang="ja-JP" altLang="en-US"/>
          </a:p>
        </p:txBody>
      </p:sp>
      <p:sp>
        <p:nvSpPr>
          <p:cNvPr id="23" name="Text 21"/>
          <p:cNvSpPr/>
          <p:nvPr/>
        </p:nvSpPr>
        <p:spPr>
          <a:xfrm>
            <a:off x="777240" y="4133088"/>
            <a:ext cx="10607040" cy="402336"/>
          </a:xfrm>
          <a:prstGeom prst="rect">
            <a:avLst/>
          </a:prstGeom>
          <a:noFill/>
          <a:ln/>
        </p:spPr>
        <p:txBody>
          <a:bodyPr wrap="square" lIns="0" tIns="0" rIns="0" bIns="0" rtlCol="0" anchor="ctr"/>
          <a:lstStyle/>
          <a:p>
            <a:pPr marL="0" indent="0">
              <a:buNone/>
            </a:pPr>
            <a:r>
              <a:rPr lang="en-US" sz="1100" b="1" dirty="0">
                <a:solidFill>
                  <a:srgbClr val="FFFFFF"/>
                </a:solidFill>
                <a:latin typeface="Noto Sans JP" pitchFamily="34" charset="0"/>
                <a:ea typeface="Noto Sans JP" pitchFamily="34" charset="-122"/>
                <a:cs typeface="Noto Sans JP" pitchFamily="34" charset="-120"/>
              </a:rPr>
              <a:t>最上位：事業成果（AI認知・AI検討関与・AI経由の問い合わせ/予約）</a:t>
            </a:r>
            <a:endParaRPr lang="en-US" sz="1100" dirty="0"/>
          </a:p>
        </p:txBody>
      </p:sp>
      <p:sp>
        <p:nvSpPr>
          <p:cNvPr id="24" name="Shape 22"/>
          <p:cNvSpPr/>
          <p:nvPr/>
        </p:nvSpPr>
        <p:spPr>
          <a:xfrm>
            <a:off x="502920" y="4617720"/>
            <a:ext cx="11183112" cy="438912"/>
          </a:xfrm>
          <a:prstGeom prst="roundRect">
            <a:avLst>
              <a:gd name="adj" fmla="val 22917"/>
            </a:avLst>
          </a:prstGeom>
          <a:solidFill>
            <a:srgbClr val="F0E6FC"/>
          </a:solidFill>
          <a:ln/>
        </p:spPr>
        <p:txBody>
          <a:bodyPr/>
          <a:lstStyle/>
          <a:p>
            <a:endParaRPr lang="ja-JP" altLang="en-US"/>
          </a:p>
        </p:txBody>
      </p:sp>
      <p:sp>
        <p:nvSpPr>
          <p:cNvPr id="25" name="Text 23"/>
          <p:cNvSpPr/>
          <p:nvPr/>
        </p:nvSpPr>
        <p:spPr>
          <a:xfrm>
            <a:off x="777240" y="4636008"/>
            <a:ext cx="10607040" cy="402336"/>
          </a:xfrm>
          <a:prstGeom prst="rect">
            <a:avLst/>
          </a:prstGeom>
          <a:noFill/>
          <a:ln/>
        </p:spPr>
        <p:txBody>
          <a:bodyPr wrap="square" lIns="0" tIns="0" rIns="0" bIns="0" rtlCol="0" anchor="ctr"/>
          <a:lstStyle/>
          <a:p>
            <a:pPr marL="0" indent="0">
              <a:buNone/>
            </a:pPr>
            <a:r>
              <a:rPr lang="en-US" sz="1100" b="1" dirty="0">
                <a:solidFill>
                  <a:srgbClr val="8541DC"/>
                </a:solidFill>
                <a:latin typeface="Noto Sans JP" pitchFamily="34" charset="0"/>
                <a:ea typeface="Noto Sans JP" pitchFamily="34" charset="-122"/>
                <a:cs typeface="Noto Sans JP" pitchFamily="34" charset="-120"/>
              </a:rPr>
              <a:t>中間：AI上の成果（メンション率 / 推奨率 / 比較勝率 / AI上シェア）</a:t>
            </a:r>
            <a:endParaRPr lang="en-US" sz="1100" dirty="0"/>
          </a:p>
        </p:txBody>
      </p:sp>
      <p:sp>
        <p:nvSpPr>
          <p:cNvPr id="26" name="Shape 24"/>
          <p:cNvSpPr/>
          <p:nvPr/>
        </p:nvSpPr>
        <p:spPr>
          <a:xfrm>
            <a:off x="502920" y="5120640"/>
            <a:ext cx="11183112" cy="438912"/>
          </a:xfrm>
          <a:prstGeom prst="roundRect">
            <a:avLst>
              <a:gd name="adj" fmla="val 22917"/>
            </a:avLst>
          </a:prstGeom>
          <a:solidFill>
            <a:srgbClr val="F5F5F7"/>
          </a:solidFill>
          <a:ln/>
        </p:spPr>
        <p:txBody>
          <a:bodyPr/>
          <a:lstStyle/>
          <a:p>
            <a:endParaRPr lang="ja-JP" altLang="en-US"/>
          </a:p>
        </p:txBody>
      </p:sp>
      <p:sp>
        <p:nvSpPr>
          <p:cNvPr id="27" name="Text 25"/>
          <p:cNvSpPr/>
          <p:nvPr/>
        </p:nvSpPr>
        <p:spPr>
          <a:xfrm>
            <a:off x="777240" y="5138928"/>
            <a:ext cx="10607040" cy="402336"/>
          </a:xfrm>
          <a:prstGeom prst="rect">
            <a:avLst/>
          </a:prstGeom>
          <a:noFill/>
          <a:ln/>
        </p:spPr>
        <p:txBody>
          <a:bodyPr wrap="square" lIns="0" tIns="0" rIns="0" bIns="0" rtlCol="0" anchor="ctr"/>
          <a:lstStyle/>
          <a:p>
            <a:pPr marL="0" indent="0">
              <a:buNone/>
            </a:pPr>
            <a:r>
              <a:rPr lang="en-US" sz="1100" b="1" dirty="0">
                <a:solidFill>
                  <a:srgbClr val="222222"/>
                </a:solidFill>
                <a:latin typeface="Noto Sans JP" pitchFamily="34" charset="0"/>
                <a:ea typeface="Noto Sans JP" pitchFamily="34" charset="-122"/>
                <a:cs typeface="Noto Sans JP" pitchFamily="34" charset="-120"/>
              </a:rPr>
              <a:t>基盤：Webプレゼンス（第三者言及 / 比較掲載 / レビュー / 参照ドメイン）</a:t>
            </a:r>
            <a:endParaRPr lang="en-US" sz="1100" dirty="0"/>
          </a:p>
        </p:txBody>
      </p:sp>
      <p:sp>
        <p:nvSpPr>
          <p:cNvPr id="28" name="Text 26"/>
          <p:cNvSpPr/>
          <p:nvPr/>
        </p:nvSpPr>
        <p:spPr>
          <a:xfrm>
            <a:off x="502920" y="5806440"/>
            <a:ext cx="11183112" cy="365760"/>
          </a:xfrm>
          <a:prstGeom prst="rect">
            <a:avLst/>
          </a:prstGeom>
          <a:noFill/>
          <a:ln/>
        </p:spPr>
        <p:txBody>
          <a:bodyPr wrap="square" lIns="0" tIns="0" rIns="0" bIns="0" rtlCol="0" anchor="ctr"/>
          <a:lstStyle/>
          <a:p>
            <a:pPr marL="0" indent="0" algn="ctr">
              <a:buNone/>
            </a:pPr>
            <a:r>
              <a:rPr lang="en-US" sz="1200" b="1" dirty="0">
                <a:solidFill>
                  <a:srgbClr val="F57527"/>
                </a:solidFill>
                <a:latin typeface="Noto Sans JP" pitchFamily="34" charset="0"/>
                <a:ea typeface="Noto Sans JP" pitchFamily="34" charset="-122"/>
                <a:cs typeface="Noto Sans JP" pitchFamily="34" charset="-120"/>
              </a:rPr>
              <a:t>“順位・クリック”から“AI上の言及・推薦”へ。測る指標を変える。</a:t>
            </a:r>
            <a:endParaRPr lang="en-US" sz="1200" dirty="0"/>
          </a:p>
        </p:txBody>
      </p:sp>
      <p:sp>
        <p:nvSpPr>
          <p:cNvPr id="29" name="Text 27"/>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0" name="Text 28"/>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txBody>
          <a:bodyPr/>
          <a:lstStyle/>
          <a:p>
            <a:endParaRPr lang="ja-JP" altLang="en-US"/>
          </a:p>
        </p:txBody>
      </p:sp>
      <p:sp>
        <p:nvSpPr>
          <p:cNvPr id="3" name="Shape 1"/>
          <p:cNvSpPr/>
          <p:nvPr/>
        </p:nvSpPr>
        <p:spPr>
          <a:xfrm>
            <a:off x="9680753" y="5368388"/>
            <a:ext cx="1133856" cy="1133856"/>
          </a:xfrm>
          <a:prstGeom prst="ellipse">
            <a:avLst/>
          </a:prstGeom>
          <a:solidFill>
            <a:srgbClr val="D9CBF2">
              <a:alpha val="32000"/>
            </a:srgbClr>
          </a:solidFill>
          <a:ln/>
        </p:spPr>
        <p:txBody>
          <a:bodyPr/>
          <a:lstStyle/>
          <a:p>
            <a:endParaRPr lang="ja-JP" altLang="en-US"/>
          </a:p>
        </p:txBody>
      </p:sp>
      <p:sp>
        <p:nvSpPr>
          <p:cNvPr id="4" name="Shape 2"/>
          <p:cNvSpPr/>
          <p:nvPr/>
        </p:nvSpPr>
        <p:spPr>
          <a:xfrm>
            <a:off x="10332720" y="5368388"/>
            <a:ext cx="1133856" cy="1133856"/>
          </a:xfrm>
          <a:prstGeom prst="ellipse">
            <a:avLst/>
          </a:prstGeom>
          <a:solidFill>
            <a:srgbClr val="B49AE6">
              <a:alpha val="32000"/>
            </a:srgbClr>
          </a:solidFill>
          <a:ln/>
        </p:spPr>
        <p:txBody>
          <a:bodyPr/>
          <a:lstStyle/>
          <a:p>
            <a:endParaRPr lang="ja-JP" altLang="en-US"/>
          </a:p>
        </p:txBody>
      </p:sp>
      <p:sp>
        <p:nvSpPr>
          <p:cNvPr id="5" name="Text 3"/>
          <p:cNvSpPr/>
          <p:nvPr/>
        </p:nvSpPr>
        <p:spPr>
          <a:xfrm>
            <a:off x="822960" y="1920240"/>
            <a:ext cx="4572000" cy="822960"/>
          </a:xfrm>
          <a:prstGeom prst="rect">
            <a:avLst/>
          </a:prstGeom>
          <a:noFill/>
          <a:ln/>
        </p:spPr>
        <p:txBody>
          <a:bodyPr wrap="square" lIns="0" tIns="0" rIns="0" bIns="0" rtlCol="0" anchor="ctr"/>
          <a:lstStyle/>
          <a:p>
            <a:pPr marL="0" indent="0">
              <a:buNone/>
            </a:pPr>
            <a:r>
              <a:rPr lang="en-US" sz="4000" b="1" dirty="0">
                <a:solidFill>
                  <a:srgbClr val="8E76C8"/>
                </a:solidFill>
                <a:latin typeface="Noto Sans JP" pitchFamily="34" charset="0"/>
                <a:ea typeface="Noto Sans JP" pitchFamily="34" charset="-122"/>
                <a:cs typeface="Noto Sans JP" pitchFamily="34" charset="-120"/>
              </a:rPr>
              <a:t>02</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marL="0" indent="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調査の前提</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marL="0" indent="0">
              <a:lnSpc>
                <a:spcPct val="135000"/>
              </a:lnSpc>
              <a:buNone/>
            </a:pPr>
            <a:r>
              <a:rPr lang="en-US" sz="1400" dirty="0">
                <a:solidFill>
                  <a:srgbClr val="D9CBF2"/>
                </a:solidFill>
                <a:latin typeface="Noto Sans JP" pitchFamily="34" charset="0"/>
                <a:ea typeface="Noto Sans JP" pitchFamily="34" charset="-122"/>
                <a:cs typeface="Noto Sans JP" pitchFamily="34" charset="-120"/>
              </a:rPr>
              <a:t>どのプロンプトで・どう読むか。</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B9A7E0"/>
                </a:solidFill>
                <a:latin typeface="Noto Sans JP" pitchFamily="34" charset="0"/>
                <a:ea typeface="Noto Sans JP" pitchFamily="34" charset="-122"/>
                <a:cs typeface="Noto Sans JP"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SCOPE — 計測対象</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カスタマージャーニー4段階・50プロンプトで計測（無料版は代表例を掲載）</a:t>
            </a:r>
            <a:endParaRPr lang="en-US" sz="2500" dirty="0"/>
          </a:p>
        </p:txBody>
      </p:sp>
      <p:sp>
        <p:nvSpPr>
          <p:cNvPr id="4" name="Text 2"/>
          <p:cNvSpPr/>
          <p:nvPr/>
        </p:nvSpPr>
        <p:spPr>
          <a:xfrm>
            <a:off x="502920" y="1417320"/>
            <a:ext cx="11155680" cy="365760"/>
          </a:xfrm>
          <a:prstGeom prst="rect">
            <a:avLst/>
          </a:prstGeom>
          <a:noFill/>
          <a:ln/>
        </p:spPr>
        <p:txBody>
          <a:bodyPr wrap="square" lIns="0" tIns="0" rIns="0" bIns="0" rtlCol="0" anchor="ctr"/>
          <a:lstStyle/>
          <a:p>
            <a:pPr marL="0" indent="0">
              <a:buNone/>
            </a:pPr>
            <a:r>
              <a:rPr lang="en-US" sz="1100" dirty="0">
                <a:solidFill>
                  <a:srgbClr val="555A63"/>
                </a:solidFill>
                <a:latin typeface="Noto Sans JP" pitchFamily="34" charset="0"/>
                <a:ea typeface="Noto Sans JP" pitchFamily="34" charset="-122"/>
                <a:cs typeface="Noto Sans JP" pitchFamily="34" charset="-120"/>
              </a:rPr>
              <a:t>実際にユーザーがAIに聞く言い方で質問し、ChatGPT・Gemini・AI Overviews の回答を定点観測。★＝カーセブン様の強みが直接問われる質問。</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3112" cy="2834640"/>
        </p:xfrm>
        <a:graphic>
          <a:graphicData uri="http://schemas.openxmlformats.org/drawingml/2006/table">
            <a:tbl>
              <a:tblPr/>
              <a:tblGrid>
                <a:gridCol w="2011680">
                  <a:extLst>
                    <a:ext uri="{9D8B030D-6E8A-4147-A177-3AD203B41FA5}">
                      <a16:colId xmlns:a16="http://schemas.microsoft.com/office/drawing/2014/main" val="20000"/>
                    </a:ext>
                  </a:extLst>
                </a:gridCol>
                <a:gridCol w="9171432">
                  <a:extLst>
                    <a:ext uri="{9D8B030D-6E8A-4147-A177-3AD203B41FA5}">
                      <a16:colId xmlns:a16="http://schemas.microsoft.com/office/drawing/2014/main" val="20001"/>
                    </a:ext>
                  </a:extLst>
                </a:gridCol>
              </a:tblGrid>
              <a:tr h="566928">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ジャーニー</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計測プロンプトの例</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extLst>
                  <a:ext uri="{0D108BD9-81ED-4DB2-BD59-A6C34878D82A}">
                    <a16:rowId xmlns:a16="http://schemas.microsoft.com/office/drawing/2014/main" val="10000"/>
                  </a:ext>
                </a:extLst>
              </a:tr>
              <a:tr h="56692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情報収集（12本）</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車を売るときの流れを教えて。必要書類や入金までの期間は？／車の買取相場はどうやって調べる？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1"/>
                  </a:ext>
                </a:extLst>
              </a:tr>
              <a:tr h="56692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ブランド想起（14本）</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車を高く売りたいんだけどどこがおすすめ？／★契約後に査定額を減額しないと明言している車買取業者はある？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比較検討（12本）</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カーセブンとガリバー、車を売るならどっちがいい？／ディーラー下取りとカーセブンの買取、結局どっちが得？</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3"/>
                  </a:ext>
                </a:extLst>
              </a:tr>
              <a:tr h="56692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意思決定（12本）</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★カーセブンの「安心宣言」ってどんな内容？／カーセブンに査定を申し込んだら、電話はしつこく来る？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502920" y="5943600"/>
            <a:ext cx="11155680" cy="365760"/>
          </a:xfrm>
          <a:prstGeom prst="rect">
            <a:avLst/>
          </a:prstGeom>
          <a:noFill/>
          <a:ln/>
        </p:spPr>
        <p:txBody>
          <a:bodyPr wrap="square" lIns="0" tIns="0" rIns="0" bIns="0" rtlCol="0" anchor="ctr"/>
          <a:lstStyle/>
          <a:p>
            <a:pPr marL="0" indent="0">
              <a:buNone/>
            </a:pPr>
            <a:r>
              <a:rPr lang="en-US" sz="950" dirty="0">
                <a:solidFill>
                  <a:srgbClr val="8A8F98"/>
                </a:solidFill>
                <a:latin typeface="Noto Sans JP" pitchFamily="34" charset="0"/>
                <a:ea typeface="Noto Sans JP" pitchFamily="34" charset="-122"/>
                <a:cs typeface="Noto Sans JP" pitchFamily="34" charset="-120"/>
              </a:rPr>
              <a:t>競合セット：ガリバー／アップル／ビッグモーター／オートバックスカーズ／MOTA／カーセンサー ほか｜※無料版は計測プロンプト本数を50本に限定しています。</a:t>
            </a:r>
            <a:endParaRPr lang="en-US" sz="950" dirty="0"/>
          </a:p>
        </p:txBody>
      </p:sp>
      <p:sp>
        <p:nvSpPr>
          <p:cNvPr id="7" name="Text 4"/>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8" name="Text 5"/>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txBody>
          <a:bodyPr/>
          <a:lstStyle/>
          <a:p>
            <a:endParaRPr lang="ja-JP" altLang="en-US"/>
          </a:p>
        </p:txBody>
      </p:sp>
      <p:sp>
        <p:nvSpPr>
          <p:cNvPr id="3" name="Shape 1"/>
          <p:cNvSpPr/>
          <p:nvPr/>
        </p:nvSpPr>
        <p:spPr>
          <a:xfrm>
            <a:off x="9680753" y="5368388"/>
            <a:ext cx="1133856" cy="1133856"/>
          </a:xfrm>
          <a:prstGeom prst="ellipse">
            <a:avLst/>
          </a:prstGeom>
          <a:solidFill>
            <a:srgbClr val="D9CBF2">
              <a:alpha val="32000"/>
            </a:srgbClr>
          </a:solidFill>
          <a:ln/>
        </p:spPr>
        <p:txBody>
          <a:bodyPr/>
          <a:lstStyle/>
          <a:p>
            <a:endParaRPr lang="ja-JP" altLang="en-US"/>
          </a:p>
        </p:txBody>
      </p:sp>
      <p:sp>
        <p:nvSpPr>
          <p:cNvPr id="4" name="Shape 2"/>
          <p:cNvSpPr/>
          <p:nvPr/>
        </p:nvSpPr>
        <p:spPr>
          <a:xfrm>
            <a:off x="10332720" y="5368388"/>
            <a:ext cx="1133856" cy="1133856"/>
          </a:xfrm>
          <a:prstGeom prst="ellipse">
            <a:avLst/>
          </a:prstGeom>
          <a:solidFill>
            <a:srgbClr val="B49AE6">
              <a:alpha val="32000"/>
            </a:srgbClr>
          </a:solidFill>
          <a:ln/>
        </p:spPr>
        <p:txBody>
          <a:bodyPr/>
          <a:lstStyle/>
          <a:p>
            <a:endParaRPr lang="ja-JP" altLang="en-US"/>
          </a:p>
        </p:txBody>
      </p:sp>
      <p:sp>
        <p:nvSpPr>
          <p:cNvPr id="5" name="Text 3"/>
          <p:cNvSpPr/>
          <p:nvPr/>
        </p:nvSpPr>
        <p:spPr>
          <a:xfrm>
            <a:off x="822960" y="1920240"/>
            <a:ext cx="4572000" cy="822960"/>
          </a:xfrm>
          <a:prstGeom prst="rect">
            <a:avLst/>
          </a:prstGeom>
          <a:noFill/>
          <a:ln/>
        </p:spPr>
        <p:txBody>
          <a:bodyPr wrap="square" lIns="0" tIns="0" rIns="0" bIns="0" rtlCol="0" anchor="ctr"/>
          <a:lstStyle/>
          <a:p>
            <a:pPr marL="0" indent="0">
              <a:buNone/>
            </a:pPr>
            <a:r>
              <a:rPr lang="en-US" sz="4000" b="1" dirty="0">
                <a:solidFill>
                  <a:srgbClr val="8E76C8"/>
                </a:solidFill>
                <a:latin typeface="Noto Sans JP" pitchFamily="34" charset="0"/>
                <a:ea typeface="Noto Sans JP" pitchFamily="34" charset="-122"/>
                <a:cs typeface="Noto Sans JP" pitchFamily="34" charset="-120"/>
              </a:rPr>
              <a:t>03</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marL="0" indent="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現状分析</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marL="0" indent="0">
              <a:lnSpc>
                <a:spcPct val="135000"/>
              </a:lnSpc>
              <a:buNone/>
            </a:pPr>
            <a:r>
              <a:rPr lang="en-US" sz="1400" dirty="0">
                <a:solidFill>
                  <a:srgbClr val="D9CBF2"/>
                </a:solidFill>
                <a:latin typeface="Noto Sans JP" pitchFamily="34" charset="0"/>
                <a:ea typeface="Noto Sans JP" pitchFamily="34" charset="-122"/>
                <a:cs typeface="Noto Sans JP" pitchFamily="34" charset="-120"/>
              </a:rPr>
              <a:t>AI検索上のKPI・ブランド認識・引用元・サイト要因。</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B9A7E0"/>
                </a:solidFill>
                <a:latin typeface="Noto Sans JP" pitchFamily="34" charset="0"/>
                <a:ea typeface="Noto Sans JP" pitchFamily="34" charset="-122"/>
                <a:cs typeface="Noto Sans JP"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KEY FINDINGS — わかった事実</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本分析で判明した3つの事実</a:t>
            </a:r>
            <a:endParaRPr lang="en-US" sz="2500" dirty="0"/>
          </a:p>
        </p:txBody>
      </p:sp>
      <p:sp>
        <p:nvSpPr>
          <p:cNvPr id="4" name="Shape 2"/>
          <p:cNvSpPr/>
          <p:nvPr/>
        </p:nvSpPr>
        <p:spPr>
          <a:xfrm>
            <a:off x="502920" y="1691640"/>
            <a:ext cx="3547872" cy="4160520"/>
          </a:xfrm>
          <a:prstGeom prst="roundRect">
            <a:avLst>
              <a:gd name="adj" fmla="val 2835"/>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5" name="Shape 3"/>
          <p:cNvSpPr/>
          <p:nvPr/>
        </p:nvSpPr>
        <p:spPr>
          <a:xfrm>
            <a:off x="502920" y="1691640"/>
            <a:ext cx="3547872" cy="82296"/>
          </a:xfrm>
          <a:prstGeom prst="roundRect">
            <a:avLst>
              <a:gd name="adj" fmla="val 44444"/>
            </a:avLst>
          </a:prstGeom>
          <a:solidFill>
            <a:srgbClr val="8541DC"/>
          </a:solidFill>
          <a:ln/>
        </p:spPr>
        <p:txBody>
          <a:bodyPr/>
          <a:lstStyle/>
          <a:p>
            <a:endParaRPr lang="ja-JP" altLang="en-US"/>
          </a:p>
        </p:txBody>
      </p:sp>
      <p:sp>
        <p:nvSpPr>
          <p:cNvPr id="6" name="Text 4"/>
          <p:cNvSpPr/>
          <p:nvPr/>
        </p:nvSpPr>
        <p:spPr>
          <a:xfrm>
            <a:off x="758952" y="1874520"/>
            <a:ext cx="3017520" cy="292608"/>
          </a:xfrm>
          <a:prstGeom prst="rect">
            <a:avLst/>
          </a:prstGeom>
          <a:noFill/>
          <a:ln/>
        </p:spPr>
        <p:txBody>
          <a:bodyPr wrap="square" lIns="0" tIns="0" rIns="0" bIns="0" rtlCol="0" anchor="ctr"/>
          <a:lstStyle/>
          <a:p>
            <a:pPr marL="0" indent="0">
              <a:buNone/>
            </a:pPr>
            <a:r>
              <a:rPr lang="en-US" sz="1000" b="1" kern="0" spc="100" dirty="0">
                <a:solidFill>
                  <a:srgbClr val="8541DC"/>
                </a:solidFill>
                <a:latin typeface="Noto Sans JP" pitchFamily="34" charset="0"/>
                <a:ea typeface="Noto Sans JP" pitchFamily="34" charset="-122"/>
                <a:cs typeface="Noto Sans JP" pitchFamily="34" charset="-120"/>
              </a:rPr>
              <a:t>FACT 01</a:t>
            </a:r>
            <a:endParaRPr lang="en-US" sz="1000" dirty="0"/>
          </a:p>
        </p:txBody>
      </p:sp>
      <p:sp>
        <p:nvSpPr>
          <p:cNvPr id="7" name="Text 5"/>
          <p:cNvSpPr/>
          <p:nvPr/>
        </p:nvSpPr>
        <p:spPr>
          <a:xfrm>
            <a:off x="758952" y="2148840"/>
            <a:ext cx="3063240" cy="731520"/>
          </a:xfrm>
          <a:prstGeom prst="rect">
            <a:avLst/>
          </a:prstGeom>
          <a:noFill/>
          <a:ln/>
        </p:spPr>
        <p:txBody>
          <a:bodyPr wrap="square" lIns="0" tIns="0" rIns="0" bIns="0" rtlCol="0" anchor="ctr"/>
          <a:lstStyle/>
          <a:p>
            <a:pPr marL="0" indent="0">
              <a:buNone/>
            </a:pPr>
            <a:r>
              <a:rPr lang="en-US" sz="4000" b="1" dirty="0">
                <a:solidFill>
                  <a:srgbClr val="8541DC"/>
                </a:solidFill>
                <a:latin typeface="Noto Sans JP" pitchFamily="34" charset="0"/>
                <a:ea typeface="Noto Sans JP" pitchFamily="34" charset="-122"/>
                <a:cs typeface="Noto Sans JP" pitchFamily="34" charset="-120"/>
              </a:rPr>
              <a:t>1位</a:t>
            </a:r>
            <a:endParaRPr lang="en-US" sz="4000" dirty="0"/>
          </a:p>
        </p:txBody>
      </p:sp>
      <p:sp>
        <p:nvSpPr>
          <p:cNvPr id="8" name="Text 6"/>
          <p:cNvSpPr/>
          <p:nvPr/>
        </p:nvSpPr>
        <p:spPr>
          <a:xfrm>
            <a:off x="758952" y="2971800"/>
            <a:ext cx="3063240" cy="86868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「安心宣言」が問われる質問では、すでに第一想起</a:t>
            </a:r>
            <a:endParaRPr lang="en-US" sz="1250" dirty="0"/>
          </a:p>
        </p:txBody>
      </p:sp>
      <p:sp>
        <p:nvSpPr>
          <p:cNvPr id="9" name="Text 7"/>
          <p:cNvSpPr/>
          <p:nvPr/>
        </p:nvSpPr>
        <p:spPr>
          <a:xfrm>
            <a:off x="758952" y="3886200"/>
            <a:ext cx="3063240" cy="1828800"/>
          </a:xfrm>
          <a:prstGeom prst="rect">
            <a:avLst/>
          </a:prstGeom>
          <a:noFill/>
          <a:ln/>
        </p:spPr>
        <p:txBody>
          <a:bodyPr wrap="square" lIns="0" tIns="0" rIns="0" bIns="0" rtlCol="0" anchor="ctr"/>
          <a:lstStyle/>
          <a:p>
            <a:pPr marL="0" indent="0">
              <a:lnSpc>
                <a:spcPct val="130000"/>
              </a:lnSpc>
              <a:buNone/>
            </a:pPr>
            <a:r>
              <a:rPr lang="en-US" sz="980" dirty="0">
                <a:solidFill>
                  <a:srgbClr val="555A63"/>
                </a:solidFill>
                <a:latin typeface="Noto Sans JP" pitchFamily="34" charset="0"/>
                <a:ea typeface="Noto Sans JP" pitchFamily="34" charset="-122"/>
                <a:cs typeface="Noto Sans JP" pitchFamily="34" charset="-120"/>
              </a:rPr>
              <a:t>「契約後に減額しない業者は？」「キャンセルできる業者は？」「当日入金してくれる業者は？」でChatGPT・AI Overviewsが1位に指名。ブランド認識でも安心感・契約条件・前払い制度・営業電話の各軸で勝率100%。</a:t>
            </a:r>
            <a:endParaRPr lang="en-US" sz="980" dirty="0"/>
          </a:p>
        </p:txBody>
      </p:sp>
      <p:sp>
        <p:nvSpPr>
          <p:cNvPr id="10" name="Shape 8"/>
          <p:cNvSpPr/>
          <p:nvPr/>
        </p:nvSpPr>
        <p:spPr>
          <a:xfrm>
            <a:off x="4270248" y="1691640"/>
            <a:ext cx="3547872" cy="4160520"/>
          </a:xfrm>
          <a:prstGeom prst="roundRect">
            <a:avLst>
              <a:gd name="adj" fmla="val 2835"/>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1" name="Shape 9"/>
          <p:cNvSpPr/>
          <p:nvPr/>
        </p:nvSpPr>
        <p:spPr>
          <a:xfrm>
            <a:off x="4270248" y="1691640"/>
            <a:ext cx="3547872" cy="82296"/>
          </a:xfrm>
          <a:prstGeom prst="roundRect">
            <a:avLst>
              <a:gd name="adj" fmla="val 44444"/>
            </a:avLst>
          </a:prstGeom>
          <a:solidFill>
            <a:srgbClr val="F57527"/>
          </a:solidFill>
          <a:ln/>
        </p:spPr>
        <p:txBody>
          <a:bodyPr/>
          <a:lstStyle/>
          <a:p>
            <a:endParaRPr lang="ja-JP" altLang="en-US"/>
          </a:p>
        </p:txBody>
      </p:sp>
      <p:sp>
        <p:nvSpPr>
          <p:cNvPr id="12" name="Text 10"/>
          <p:cNvSpPr/>
          <p:nvPr/>
        </p:nvSpPr>
        <p:spPr>
          <a:xfrm>
            <a:off x="4526280" y="1874520"/>
            <a:ext cx="3017520" cy="292608"/>
          </a:xfrm>
          <a:prstGeom prst="rect">
            <a:avLst/>
          </a:prstGeom>
          <a:noFill/>
          <a:ln/>
        </p:spPr>
        <p:txBody>
          <a:bodyPr wrap="square" lIns="0" tIns="0" rIns="0" bIns="0" rtlCol="0" anchor="ctr"/>
          <a:lstStyle/>
          <a:p>
            <a:pPr marL="0" indent="0">
              <a:buNone/>
            </a:pPr>
            <a:r>
              <a:rPr lang="en-US" sz="1000" b="1" kern="0" spc="100" dirty="0">
                <a:solidFill>
                  <a:srgbClr val="F57527"/>
                </a:solidFill>
                <a:latin typeface="Noto Sans JP" pitchFamily="34" charset="0"/>
                <a:ea typeface="Noto Sans JP" pitchFamily="34" charset="-122"/>
                <a:cs typeface="Noto Sans JP" pitchFamily="34" charset="-120"/>
              </a:rPr>
              <a:t>FACT 02</a:t>
            </a:r>
            <a:endParaRPr lang="en-US" sz="1000" dirty="0"/>
          </a:p>
        </p:txBody>
      </p:sp>
      <p:sp>
        <p:nvSpPr>
          <p:cNvPr id="13" name="Text 11"/>
          <p:cNvSpPr/>
          <p:nvPr/>
        </p:nvSpPr>
        <p:spPr>
          <a:xfrm>
            <a:off x="4526280" y="2148840"/>
            <a:ext cx="3063240" cy="731520"/>
          </a:xfrm>
          <a:prstGeom prst="rect">
            <a:avLst/>
          </a:prstGeom>
          <a:noFill/>
          <a:ln/>
        </p:spPr>
        <p:txBody>
          <a:bodyPr wrap="square" lIns="0" tIns="0" rIns="0" bIns="0" rtlCol="0" anchor="ctr"/>
          <a:lstStyle/>
          <a:p>
            <a:pPr marL="0" indent="0">
              <a:buNone/>
            </a:pPr>
            <a:r>
              <a:rPr lang="en-US" sz="4000" b="1" dirty="0">
                <a:solidFill>
                  <a:srgbClr val="F57527"/>
                </a:solidFill>
                <a:latin typeface="Noto Sans JP" pitchFamily="34" charset="0"/>
                <a:ea typeface="Noto Sans JP" pitchFamily="34" charset="-122"/>
                <a:cs typeface="Noto Sans JP" pitchFamily="34" charset="-120"/>
              </a:rPr>
              <a:t>17%</a:t>
            </a:r>
            <a:endParaRPr lang="en-US" sz="4000" dirty="0"/>
          </a:p>
        </p:txBody>
      </p:sp>
      <p:sp>
        <p:nvSpPr>
          <p:cNvPr id="14" name="Text 12"/>
          <p:cNvSpPr/>
          <p:nvPr/>
        </p:nvSpPr>
        <p:spPr>
          <a:xfrm>
            <a:off x="4526280" y="2971800"/>
            <a:ext cx="3063240" cy="86868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最も語られる「価格」軸では勝てていない</a:t>
            </a:r>
            <a:endParaRPr lang="en-US" sz="1250" dirty="0"/>
          </a:p>
        </p:txBody>
      </p:sp>
      <p:sp>
        <p:nvSpPr>
          <p:cNvPr id="15" name="Text 13"/>
          <p:cNvSpPr/>
          <p:nvPr/>
        </p:nvSpPr>
        <p:spPr>
          <a:xfrm>
            <a:off x="4526280" y="3886200"/>
            <a:ext cx="3063240" cy="1828800"/>
          </a:xfrm>
          <a:prstGeom prst="rect">
            <a:avLst/>
          </a:prstGeom>
          <a:noFill/>
          <a:ln/>
        </p:spPr>
        <p:txBody>
          <a:bodyPr wrap="square" lIns="0" tIns="0" rIns="0" bIns="0" rtlCol="0" anchor="ctr"/>
          <a:lstStyle/>
          <a:p>
            <a:pPr marL="0" indent="0">
              <a:lnSpc>
                <a:spcPct val="130000"/>
              </a:lnSpc>
              <a:buNone/>
            </a:pPr>
            <a:r>
              <a:rPr lang="en-US" sz="980" dirty="0">
                <a:solidFill>
                  <a:srgbClr val="555A63"/>
                </a:solidFill>
                <a:latin typeface="Noto Sans JP" pitchFamily="34" charset="0"/>
                <a:ea typeface="Noto Sans JP" pitchFamily="34" charset="-122"/>
                <a:cs typeface="Noto Sans JP" pitchFamily="34" charset="-120"/>
              </a:rPr>
              <a:t>AIの比較で最も登場する認識軸「価格」（6回）の自社勝率は17%。「買取額」軸は0%でカーネクストに敗北。最も伝えたい“最高値買取”が、AIの中ではまだ証明されていない。</a:t>
            </a:r>
            <a:endParaRPr lang="en-US" sz="980" dirty="0"/>
          </a:p>
        </p:txBody>
      </p:sp>
      <p:sp>
        <p:nvSpPr>
          <p:cNvPr id="16" name="Shape 14"/>
          <p:cNvSpPr/>
          <p:nvPr/>
        </p:nvSpPr>
        <p:spPr>
          <a:xfrm>
            <a:off x="8037576" y="1691640"/>
            <a:ext cx="3547872" cy="4160520"/>
          </a:xfrm>
          <a:prstGeom prst="roundRect">
            <a:avLst>
              <a:gd name="adj" fmla="val 2835"/>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7" name="Shape 15"/>
          <p:cNvSpPr/>
          <p:nvPr/>
        </p:nvSpPr>
        <p:spPr>
          <a:xfrm>
            <a:off x="8037576" y="1691640"/>
            <a:ext cx="3547872" cy="82296"/>
          </a:xfrm>
          <a:prstGeom prst="roundRect">
            <a:avLst>
              <a:gd name="adj" fmla="val 44444"/>
            </a:avLst>
          </a:prstGeom>
          <a:solidFill>
            <a:srgbClr val="4A1F87"/>
          </a:solidFill>
          <a:ln/>
        </p:spPr>
        <p:txBody>
          <a:bodyPr/>
          <a:lstStyle/>
          <a:p>
            <a:endParaRPr lang="ja-JP" altLang="en-US"/>
          </a:p>
        </p:txBody>
      </p:sp>
      <p:sp>
        <p:nvSpPr>
          <p:cNvPr id="18" name="Text 16"/>
          <p:cNvSpPr/>
          <p:nvPr/>
        </p:nvSpPr>
        <p:spPr>
          <a:xfrm>
            <a:off x="8293608" y="1874520"/>
            <a:ext cx="3017520" cy="292608"/>
          </a:xfrm>
          <a:prstGeom prst="rect">
            <a:avLst/>
          </a:prstGeom>
          <a:noFill/>
          <a:ln/>
        </p:spPr>
        <p:txBody>
          <a:bodyPr wrap="square" lIns="0" tIns="0" rIns="0" bIns="0" rtlCol="0" anchor="ctr"/>
          <a:lstStyle/>
          <a:p>
            <a:pPr marL="0" indent="0">
              <a:buNone/>
            </a:pPr>
            <a:r>
              <a:rPr lang="en-US" sz="1000" b="1" kern="0" spc="100" dirty="0">
                <a:solidFill>
                  <a:srgbClr val="4A1F87"/>
                </a:solidFill>
                <a:latin typeface="Noto Sans JP" pitchFamily="34" charset="0"/>
                <a:ea typeface="Noto Sans JP" pitchFamily="34" charset="-122"/>
                <a:cs typeface="Noto Sans JP" pitchFamily="34" charset="-120"/>
              </a:rPr>
              <a:t>FACT 03</a:t>
            </a:r>
            <a:endParaRPr lang="en-US" sz="1000" dirty="0"/>
          </a:p>
        </p:txBody>
      </p:sp>
      <p:sp>
        <p:nvSpPr>
          <p:cNvPr id="19" name="Text 17"/>
          <p:cNvSpPr/>
          <p:nvPr/>
        </p:nvSpPr>
        <p:spPr>
          <a:xfrm>
            <a:off x="8293608" y="2148840"/>
            <a:ext cx="3063240" cy="731520"/>
          </a:xfrm>
          <a:prstGeom prst="rect">
            <a:avLst/>
          </a:prstGeom>
          <a:noFill/>
          <a:ln/>
        </p:spPr>
        <p:txBody>
          <a:bodyPr wrap="square" lIns="0" tIns="0" rIns="0" bIns="0" rtlCol="0" anchor="ctr"/>
          <a:lstStyle/>
          <a:p>
            <a:pPr marL="0" indent="0">
              <a:buNone/>
            </a:pPr>
            <a:r>
              <a:rPr lang="en-US" sz="4000" b="1" dirty="0">
                <a:solidFill>
                  <a:srgbClr val="4A1F87"/>
                </a:solidFill>
                <a:latin typeface="Noto Sans JP" pitchFamily="34" charset="0"/>
                <a:ea typeface="Noto Sans JP" pitchFamily="34" charset="-122"/>
                <a:cs typeface="Noto Sans JP" pitchFamily="34" charset="-120"/>
              </a:rPr>
              <a:t>11%</a:t>
            </a:r>
            <a:endParaRPr lang="en-US" sz="4000" dirty="0"/>
          </a:p>
        </p:txBody>
      </p:sp>
      <p:sp>
        <p:nvSpPr>
          <p:cNvPr id="20" name="Text 18"/>
          <p:cNvSpPr/>
          <p:nvPr/>
        </p:nvSpPr>
        <p:spPr>
          <a:xfrm>
            <a:off x="8293608" y="2971800"/>
            <a:ext cx="3063240" cy="86868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最上流「選び方・相場」でAIに参照されていない</a:t>
            </a:r>
            <a:endParaRPr lang="en-US" sz="1250" dirty="0"/>
          </a:p>
        </p:txBody>
      </p:sp>
      <p:sp>
        <p:nvSpPr>
          <p:cNvPr id="21" name="Text 19"/>
          <p:cNvSpPr/>
          <p:nvPr/>
        </p:nvSpPr>
        <p:spPr>
          <a:xfrm>
            <a:off x="8293608" y="3886200"/>
            <a:ext cx="3063240" cy="1828800"/>
          </a:xfrm>
          <a:prstGeom prst="rect">
            <a:avLst/>
          </a:prstGeom>
          <a:noFill/>
          <a:ln/>
        </p:spPr>
        <p:txBody>
          <a:bodyPr wrap="square" lIns="0" tIns="0" rIns="0" bIns="0" rtlCol="0" anchor="ctr"/>
          <a:lstStyle/>
          <a:p>
            <a:pPr marL="0" indent="0">
              <a:lnSpc>
                <a:spcPct val="130000"/>
              </a:lnSpc>
              <a:buNone/>
            </a:pPr>
            <a:r>
              <a:rPr lang="en-US" sz="980" dirty="0">
                <a:solidFill>
                  <a:srgbClr val="555A63"/>
                </a:solidFill>
                <a:latin typeface="Noto Sans JP" pitchFamily="34" charset="0"/>
                <a:ea typeface="Noto Sans JP" pitchFamily="34" charset="-122"/>
                <a:cs typeface="Noto Sans JP" pitchFamily="34" charset="-120"/>
              </a:rPr>
              <a:t>情報収集の引用率は11%（4/36）。12本中9本は全AIで引用ゼロ。相場・安心宣言のページは実際に引用されており、形式は効くことが確認できている。</a:t>
            </a:r>
            <a:endParaRPr lang="en-US" sz="980" dirty="0"/>
          </a:p>
        </p:txBody>
      </p:sp>
      <p:sp>
        <p:nvSpPr>
          <p:cNvPr id="22" name="Text 20"/>
          <p:cNvSpPr/>
          <p:nvPr/>
        </p:nvSpPr>
        <p:spPr>
          <a:xfrm>
            <a:off x="502920" y="5989320"/>
            <a:ext cx="1115568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 観測（EmmaTools LLMO・2026-08-31計測／直近30日）｜メディアの掲載有無は2026-08-31に当社がページを確認</a:t>
            </a:r>
            <a:endParaRPr lang="en-US" sz="900" dirty="0"/>
          </a:p>
        </p:txBody>
      </p:sp>
      <p:sp>
        <p:nvSpPr>
          <p:cNvPr id="23" name="Text 21"/>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4" name="Text 22"/>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現状分析① — ファネル別KPI</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AI検索のカスタマージャーニー4段階での現在地（50プロンプト／3AI）</a:t>
            </a:r>
            <a:endParaRPr lang="en-US" sz="2500" dirty="0"/>
          </a:p>
        </p:txBody>
      </p:sp>
      <p:sp>
        <p:nvSpPr>
          <p:cNvPr id="4" name="Shape 2"/>
          <p:cNvSpPr/>
          <p:nvPr/>
        </p:nvSpPr>
        <p:spPr>
          <a:xfrm>
            <a:off x="502920" y="1600200"/>
            <a:ext cx="2670048" cy="2514600"/>
          </a:xfrm>
          <a:prstGeom prst="roundRect">
            <a:avLst>
              <a:gd name="adj" fmla="val 4000"/>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5" name="Shape 3"/>
          <p:cNvSpPr/>
          <p:nvPr/>
        </p:nvSpPr>
        <p:spPr>
          <a:xfrm>
            <a:off x="502920" y="1600200"/>
            <a:ext cx="2670048" cy="82296"/>
          </a:xfrm>
          <a:prstGeom prst="roundRect">
            <a:avLst>
              <a:gd name="adj" fmla="val 44444"/>
            </a:avLst>
          </a:prstGeom>
          <a:solidFill>
            <a:srgbClr val="A970E8"/>
          </a:solidFill>
          <a:ln/>
        </p:spPr>
        <p:txBody>
          <a:bodyPr/>
          <a:lstStyle/>
          <a:p>
            <a:endParaRPr lang="ja-JP" altLang="en-US"/>
          </a:p>
        </p:txBody>
      </p:sp>
      <p:sp>
        <p:nvSpPr>
          <p:cNvPr id="6" name="Shape 4"/>
          <p:cNvSpPr/>
          <p:nvPr/>
        </p:nvSpPr>
        <p:spPr>
          <a:xfrm>
            <a:off x="722376" y="1810512"/>
            <a:ext cx="347472" cy="347472"/>
          </a:xfrm>
          <a:prstGeom prst="ellipse">
            <a:avLst/>
          </a:prstGeom>
          <a:solidFill>
            <a:srgbClr val="A970E8"/>
          </a:solidFill>
          <a:ln/>
        </p:spPr>
        <p:txBody>
          <a:bodyPr/>
          <a:lstStyle/>
          <a:p>
            <a:endParaRPr lang="ja-JP" altLang="en-US"/>
          </a:p>
        </p:txBody>
      </p:sp>
      <p:sp>
        <p:nvSpPr>
          <p:cNvPr id="7" name="Text 5"/>
          <p:cNvSpPr/>
          <p:nvPr/>
        </p:nvSpPr>
        <p:spPr>
          <a:xfrm>
            <a:off x="667512" y="1792224"/>
            <a:ext cx="4572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Noto Sans JP" pitchFamily="34" charset="0"/>
                <a:ea typeface="Noto Sans JP" pitchFamily="34" charset="-122"/>
                <a:cs typeface="Noto Sans JP" pitchFamily="34" charset="-120"/>
              </a:rPr>
              <a:t>1</a:t>
            </a:r>
            <a:endParaRPr lang="en-US" sz="1200" dirty="0"/>
          </a:p>
        </p:txBody>
      </p:sp>
      <p:sp>
        <p:nvSpPr>
          <p:cNvPr id="8" name="Text 6"/>
          <p:cNvSpPr/>
          <p:nvPr/>
        </p:nvSpPr>
        <p:spPr>
          <a:xfrm>
            <a:off x="1161288" y="1792224"/>
            <a:ext cx="1920240" cy="384048"/>
          </a:xfrm>
          <a:prstGeom prst="rect">
            <a:avLst/>
          </a:prstGeom>
          <a:noFill/>
          <a:ln/>
        </p:spPr>
        <p:txBody>
          <a:bodyPr wrap="square" lIns="0" tIns="0" rIns="0" bIns="0" rtlCol="0" anchor="ctr"/>
          <a:lstStyle/>
          <a:p>
            <a:pPr marL="0" indent="0">
              <a:buNone/>
            </a:pPr>
            <a:r>
              <a:rPr lang="en-US" sz="1250" b="1" dirty="0">
                <a:solidFill>
                  <a:srgbClr val="222222"/>
                </a:solidFill>
                <a:latin typeface="Noto Sans JP" pitchFamily="34" charset="0"/>
                <a:ea typeface="Noto Sans JP" pitchFamily="34" charset="-122"/>
                <a:cs typeface="Noto Sans JP" pitchFamily="34" charset="-120"/>
              </a:rPr>
              <a:t>情報収集</a:t>
            </a:r>
            <a:endParaRPr lang="en-US" sz="1250" dirty="0"/>
          </a:p>
        </p:txBody>
      </p:sp>
      <p:sp>
        <p:nvSpPr>
          <p:cNvPr id="9" name="Text 7"/>
          <p:cNvSpPr/>
          <p:nvPr/>
        </p:nvSpPr>
        <p:spPr>
          <a:xfrm>
            <a:off x="740664" y="2286000"/>
            <a:ext cx="2240280" cy="292608"/>
          </a:xfrm>
          <a:prstGeom prst="rect">
            <a:avLst/>
          </a:prstGeom>
          <a:noFill/>
          <a:ln/>
        </p:spPr>
        <p:txBody>
          <a:bodyPr wrap="square" lIns="0" tIns="0" rIns="0" bIns="0" rtlCol="0" anchor="ctr"/>
          <a:lstStyle/>
          <a:p>
            <a:pPr marL="0" indent="0">
              <a:buNone/>
            </a:pPr>
            <a:r>
              <a:rPr lang="en-US" sz="1000" b="1" dirty="0">
                <a:solidFill>
                  <a:srgbClr val="8A8F98"/>
                </a:solidFill>
                <a:latin typeface="Noto Sans JP" pitchFamily="34" charset="0"/>
                <a:ea typeface="Noto Sans JP" pitchFamily="34" charset="-122"/>
                <a:cs typeface="Noto Sans JP" pitchFamily="34" charset="-120"/>
              </a:rPr>
              <a:t>引用率（自社コンテンツがAIの参照元になる率）</a:t>
            </a:r>
            <a:endParaRPr lang="en-US" sz="1000" dirty="0"/>
          </a:p>
        </p:txBody>
      </p:sp>
      <p:sp>
        <p:nvSpPr>
          <p:cNvPr id="10" name="Text 8"/>
          <p:cNvSpPr/>
          <p:nvPr/>
        </p:nvSpPr>
        <p:spPr>
          <a:xfrm>
            <a:off x="740664" y="2560320"/>
            <a:ext cx="2240280" cy="685800"/>
          </a:xfrm>
          <a:prstGeom prst="rect">
            <a:avLst/>
          </a:prstGeom>
          <a:noFill/>
          <a:ln/>
        </p:spPr>
        <p:txBody>
          <a:bodyPr wrap="square" lIns="0" tIns="0" rIns="0" bIns="0" rtlCol="0" anchor="ctr"/>
          <a:lstStyle/>
          <a:p>
            <a:pPr marL="0" indent="0">
              <a:buNone/>
            </a:pPr>
            <a:r>
              <a:rPr lang="en-US" sz="3200" b="1" dirty="0">
                <a:solidFill>
                  <a:srgbClr val="A970E8"/>
                </a:solidFill>
                <a:latin typeface="Noto Sans JP" pitchFamily="34" charset="0"/>
                <a:ea typeface="Noto Sans JP" pitchFamily="34" charset="-122"/>
                <a:cs typeface="Noto Sans JP" pitchFamily="34" charset="-120"/>
              </a:rPr>
              <a:t>11%</a:t>
            </a:r>
            <a:endParaRPr lang="en-US" sz="3200" dirty="0"/>
          </a:p>
        </p:txBody>
      </p:sp>
      <p:sp>
        <p:nvSpPr>
          <p:cNvPr id="11" name="Text 9"/>
          <p:cNvSpPr/>
          <p:nvPr/>
        </p:nvSpPr>
        <p:spPr>
          <a:xfrm>
            <a:off x="740664" y="3310128"/>
            <a:ext cx="2240280" cy="685800"/>
          </a:xfrm>
          <a:prstGeom prst="rect">
            <a:avLst/>
          </a:prstGeom>
          <a:noFill/>
          <a:ln/>
        </p:spPr>
        <p:txBody>
          <a:bodyPr wrap="square" lIns="0" tIns="0" rIns="0" bIns="0" rtlCol="0" anchor="ctr"/>
          <a:lstStyle/>
          <a:p>
            <a:pPr marL="0" indent="0">
              <a:lnSpc>
                <a:spcPct val="125000"/>
              </a:lnSpc>
              <a:buNone/>
            </a:pPr>
            <a:r>
              <a:rPr lang="en-US" sz="950" dirty="0">
                <a:solidFill>
                  <a:srgbClr val="555A63"/>
                </a:solidFill>
                <a:latin typeface="Noto Sans JP" pitchFamily="34" charset="0"/>
                <a:ea typeface="Noto Sans JP" pitchFamily="34" charset="-122"/>
                <a:cs typeface="Noto Sans JP" pitchFamily="34" charset="-120"/>
              </a:rPr>
              <a:t>引用 4/36。引用が取れたのは相場・売却の流れ・車検切れの3本のみ</a:t>
            </a:r>
            <a:endParaRPr lang="en-US" sz="950" dirty="0"/>
          </a:p>
        </p:txBody>
      </p:sp>
      <p:sp>
        <p:nvSpPr>
          <p:cNvPr id="12" name="Text 10"/>
          <p:cNvSpPr/>
          <p:nvPr/>
        </p:nvSpPr>
        <p:spPr>
          <a:xfrm>
            <a:off x="3154680" y="2606040"/>
            <a:ext cx="256032" cy="365760"/>
          </a:xfrm>
          <a:prstGeom prst="rect">
            <a:avLst/>
          </a:prstGeom>
          <a:noFill/>
          <a:ln/>
        </p:spPr>
        <p:txBody>
          <a:bodyPr wrap="square" lIns="0" tIns="0" rIns="0" bIns="0" rtlCol="0" anchor="ctr"/>
          <a:lstStyle/>
          <a:p>
            <a:pPr marL="0" indent="0" algn="ctr">
              <a:buNone/>
            </a:pPr>
            <a:r>
              <a:rPr lang="en-US" sz="1300" dirty="0">
                <a:solidFill>
                  <a:srgbClr val="A970E8"/>
                </a:solidFill>
                <a:latin typeface="Noto Sans JP" pitchFamily="34" charset="0"/>
                <a:ea typeface="Noto Sans JP" pitchFamily="34" charset="-122"/>
                <a:cs typeface="Noto Sans JP" pitchFamily="34" charset="-120"/>
              </a:rPr>
              <a:t>▶</a:t>
            </a:r>
            <a:endParaRPr lang="en-US" sz="1300" dirty="0"/>
          </a:p>
        </p:txBody>
      </p:sp>
      <p:sp>
        <p:nvSpPr>
          <p:cNvPr id="13" name="Shape 11"/>
          <p:cNvSpPr/>
          <p:nvPr/>
        </p:nvSpPr>
        <p:spPr>
          <a:xfrm>
            <a:off x="3355848" y="1600200"/>
            <a:ext cx="2670048" cy="2514600"/>
          </a:xfrm>
          <a:prstGeom prst="roundRect">
            <a:avLst>
              <a:gd name="adj" fmla="val 4000"/>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4" name="Shape 12"/>
          <p:cNvSpPr/>
          <p:nvPr/>
        </p:nvSpPr>
        <p:spPr>
          <a:xfrm>
            <a:off x="3355848" y="1600200"/>
            <a:ext cx="2670048" cy="82296"/>
          </a:xfrm>
          <a:prstGeom prst="roundRect">
            <a:avLst>
              <a:gd name="adj" fmla="val 44444"/>
            </a:avLst>
          </a:prstGeom>
          <a:solidFill>
            <a:srgbClr val="8541DC"/>
          </a:solidFill>
          <a:ln/>
        </p:spPr>
        <p:txBody>
          <a:bodyPr/>
          <a:lstStyle/>
          <a:p>
            <a:endParaRPr lang="ja-JP" altLang="en-US"/>
          </a:p>
        </p:txBody>
      </p:sp>
      <p:sp>
        <p:nvSpPr>
          <p:cNvPr id="15" name="Shape 13"/>
          <p:cNvSpPr/>
          <p:nvPr/>
        </p:nvSpPr>
        <p:spPr>
          <a:xfrm>
            <a:off x="3575304" y="1810512"/>
            <a:ext cx="347472" cy="347472"/>
          </a:xfrm>
          <a:prstGeom prst="ellipse">
            <a:avLst/>
          </a:prstGeom>
          <a:solidFill>
            <a:srgbClr val="8541DC"/>
          </a:solidFill>
          <a:ln/>
        </p:spPr>
        <p:txBody>
          <a:bodyPr/>
          <a:lstStyle/>
          <a:p>
            <a:endParaRPr lang="ja-JP" altLang="en-US"/>
          </a:p>
        </p:txBody>
      </p:sp>
      <p:sp>
        <p:nvSpPr>
          <p:cNvPr id="16" name="Text 14"/>
          <p:cNvSpPr/>
          <p:nvPr/>
        </p:nvSpPr>
        <p:spPr>
          <a:xfrm>
            <a:off x="3520440" y="1792224"/>
            <a:ext cx="4572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Noto Sans JP" pitchFamily="34" charset="0"/>
                <a:ea typeface="Noto Sans JP" pitchFamily="34" charset="-122"/>
                <a:cs typeface="Noto Sans JP" pitchFamily="34" charset="-120"/>
              </a:rPr>
              <a:t>2</a:t>
            </a:r>
            <a:endParaRPr lang="en-US" sz="1200" dirty="0"/>
          </a:p>
        </p:txBody>
      </p:sp>
      <p:sp>
        <p:nvSpPr>
          <p:cNvPr id="17" name="Text 15"/>
          <p:cNvSpPr/>
          <p:nvPr/>
        </p:nvSpPr>
        <p:spPr>
          <a:xfrm>
            <a:off x="4014216" y="1792224"/>
            <a:ext cx="1920240" cy="384048"/>
          </a:xfrm>
          <a:prstGeom prst="rect">
            <a:avLst/>
          </a:prstGeom>
          <a:noFill/>
          <a:ln/>
        </p:spPr>
        <p:txBody>
          <a:bodyPr wrap="square" lIns="0" tIns="0" rIns="0" bIns="0" rtlCol="0" anchor="ctr"/>
          <a:lstStyle/>
          <a:p>
            <a:pPr marL="0" indent="0">
              <a:buNone/>
            </a:pPr>
            <a:r>
              <a:rPr lang="en-US" sz="1250" b="1" dirty="0">
                <a:solidFill>
                  <a:srgbClr val="222222"/>
                </a:solidFill>
                <a:latin typeface="Noto Sans JP" pitchFamily="34" charset="0"/>
                <a:ea typeface="Noto Sans JP" pitchFamily="34" charset="-122"/>
                <a:cs typeface="Noto Sans JP" pitchFamily="34" charset="-120"/>
              </a:rPr>
              <a:t>ブランド想起</a:t>
            </a:r>
            <a:endParaRPr lang="en-US" sz="1250" dirty="0"/>
          </a:p>
        </p:txBody>
      </p:sp>
      <p:sp>
        <p:nvSpPr>
          <p:cNvPr id="18" name="Text 16"/>
          <p:cNvSpPr/>
          <p:nvPr/>
        </p:nvSpPr>
        <p:spPr>
          <a:xfrm>
            <a:off x="3593592" y="2286000"/>
            <a:ext cx="2240280" cy="292608"/>
          </a:xfrm>
          <a:prstGeom prst="rect">
            <a:avLst/>
          </a:prstGeom>
          <a:noFill/>
          <a:ln/>
        </p:spPr>
        <p:txBody>
          <a:bodyPr wrap="square" lIns="0" tIns="0" rIns="0" bIns="0" rtlCol="0" anchor="ctr"/>
          <a:lstStyle/>
          <a:p>
            <a:pPr marL="0" indent="0">
              <a:buNone/>
            </a:pPr>
            <a:r>
              <a:rPr lang="en-US" sz="1000" b="1" dirty="0">
                <a:solidFill>
                  <a:srgbClr val="8A8F98"/>
                </a:solidFill>
                <a:latin typeface="Noto Sans JP" pitchFamily="34" charset="0"/>
                <a:ea typeface="Noto Sans JP" pitchFamily="34" charset="-122"/>
                <a:cs typeface="Noto Sans JP" pitchFamily="34" charset="-120"/>
              </a:rPr>
              <a:t>言及率・平均順位</a:t>
            </a:r>
            <a:endParaRPr lang="en-US" sz="1000" dirty="0"/>
          </a:p>
        </p:txBody>
      </p:sp>
      <p:sp>
        <p:nvSpPr>
          <p:cNvPr id="19" name="Text 17"/>
          <p:cNvSpPr/>
          <p:nvPr/>
        </p:nvSpPr>
        <p:spPr>
          <a:xfrm>
            <a:off x="3593592" y="2560320"/>
            <a:ext cx="2240280" cy="685800"/>
          </a:xfrm>
          <a:prstGeom prst="rect">
            <a:avLst/>
          </a:prstGeom>
          <a:noFill/>
          <a:ln/>
        </p:spPr>
        <p:txBody>
          <a:bodyPr wrap="square" lIns="0" tIns="0" rIns="0" bIns="0" rtlCol="0" anchor="ctr"/>
          <a:lstStyle/>
          <a:p>
            <a:pPr marL="0" indent="0">
              <a:buNone/>
            </a:pPr>
            <a:r>
              <a:rPr lang="en-US" sz="3200" b="1" dirty="0">
                <a:solidFill>
                  <a:srgbClr val="8541DC"/>
                </a:solidFill>
                <a:latin typeface="Noto Sans JP" pitchFamily="34" charset="0"/>
                <a:ea typeface="Noto Sans JP" pitchFamily="34" charset="-122"/>
                <a:cs typeface="Noto Sans JP" pitchFamily="34" charset="-120"/>
              </a:rPr>
              <a:t>56%</a:t>
            </a:r>
            <a:endParaRPr lang="en-US" sz="3200" dirty="0"/>
          </a:p>
        </p:txBody>
      </p:sp>
      <p:sp>
        <p:nvSpPr>
          <p:cNvPr id="20" name="Text 18"/>
          <p:cNvSpPr/>
          <p:nvPr/>
        </p:nvSpPr>
        <p:spPr>
          <a:xfrm>
            <a:off x="3593592" y="3310128"/>
            <a:ext cx="2240280" cy="685800"/>
          </a:xfrm>
          <a:prstGeom prst="rect">
            <a:avLst/>
          </a:prstGeom>
          <a:noFill/>
          <a:ln/>
        </p:spPr>
        <p:txBody>
          <a:bodyPr wrap="square" lIns="0" tIns="0" rIns="0" bIns="0" rtlCol="0" anchor="ctr"/>
          <a:lstStyle/>
          <a:p>
            <a:pPr marL="0" indent="0">
              <a:lnSpc>
                <a:spcPct val="125000"/>
              </a:lnSpc>
              <a:buNone/>
            </a:pPr>
            <a:r>
              <a:rPr lang="en-US" sz="950" dirty="0">
                <a:solidFill>
                  <a:srgbClr val="555A63"/>
                </a:solidFill>
                <a:latin typeface="Noto Sans JP" pitchFamily="34" charset="0"/>
                <a:ea typeface="Noto Sans JP" pitchFamily="34" charset="-122"/>
                <a:cs typeface="Noto Sans JP" pitchFamily="34" charset="-120"/>
              </a:rPr>
              <a:t>ブランド1位/8。言及時の順位は平均約2.0位と高いが、出ない質問がはっきり分かれる</a:t>
            </a:r>
            <a:endParaRPr lang="en-US" sz="950" dirty="0"/>
          </a:p>
        </p:txBody>
      </p:sp>
      <p:sp>
        <p:nvSpPr>
          <p:cNvPr id="21" name="Text 19"/>
          <p:cNvSpPr/>
          <p:nvPr/>
        </p:nvSpPr>
        <p:spPr>
          <a:xfrm>
            <a:off x="6007608" y="2606040"/>
            <a:ext cx="256032" cy="365760"/>
          </a:xfrm>
          <a:prstGeom prst="rect">
            <a:avLst/>
          </a:prstGeom>
          <a:noFill/>
          <a:ln/>
        </p:spPr>
        <p:txBody>
          <a:bodyPr wrap="square" lIns="0" tIns="0" rIns="0" bIns="0" rtlCol="0" anchor="ctr"/>
          <a:lstStyle/>
          <a:p>
            <a:pPr marL="0" indent="0" algn="ctr">
              <a:buNone/>
            </a:pPr>
            <a:r>
              <a:rPr lang="en-US" sz="1300" dirty="0">
                <a:solidFill>
                  <a:srgbClr val="8541DC"/>
                </a:solidFill>
                <a:latin typeface="Noto Sans JP" pitchFamily="34" charset="0"/>
                <a:ea typeface="Noto Sans JP" pitchFamily="34" charset="-122"/>
                <a:cs typeface="Noto Sans JP" pitchFamily="34" charset="-120"/>
              </a:rPr>
              <a:t>▶</a:t>
            </a:r>
            <a:endParaRPr lang="en-US" sz="1300" dirty="0"/>
          </a:p>
        </p:txBody>
      </p:sp>
      <p:sp>
        <p:nvSpPr>
          <p:cNvPr id="22" name="Shape 20"/>
          <p:cNvSpPr/>
          <p:nvPr/>
        </p:nvSpPr>
        <p:spPr>
          <a:xfrm>
            <a:off x="6208776" y="1600200"/>
            <a:ext cx="2670048" cy="2514600"/>
          </a:xfrm>
          <a:prstGeom prst="roundRect">
            <a:avLst>
              <a:gd name="adj" fmla="val 4000"/>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23" name="Shape 21"/>
          <p:cNvSpPr/>
          <p:nvPr/>
        </p:nvSpPr>
        <p:spPr>
          <a:xfrm>
            <a:off x="6208776" y="1600200"/>
            <a:ext cx="2670048" cy="82296"/>
          </a:xfrm>
          <a:prstGeom prst="roundRect">
            <a:avLst>
              <a:gd name="adj" fmla="val 44444"/>
            </a:avLst>
          </a:prstGeom>
          <a:solidFill>
            <a:srgbClr val="6A2FB8"/>
          </a:solidFill>
          <a:ln/>
        </p:spPr>
        <p:txBody>
          <a:bodyPr/>
          <a:lstStyle/>
          <a:p>
            <a:endParaRPr lang="ja-JP" altLang="en-US"/>
          </a:p>
        </p:txBody>
      </p:sp>
      <p:sp>
        <p:nvSpPr>
          <p:cNvPr id="24" name="Shape 22"/>
          <p:cNvSpPr/>
          <p:nvPr/>
        </p:nvSpPr>
        <p:spPr>
          <a:xfrm>
            <a:off x="6428232" y="1810512"/>
            <a:ext cx="347472" cy="347472"/>
          </a:xfrm>
          <a:prstGeom prst="ellipse">
            <a:avLst/>
          </a:prstGeom>
          <a:solidFill>
            <a:srgbClr val="6A2FB8"/>
          </a:solidFill>
          <a:ln/>
        </p:spPr>
        <p:txBody>
          <a:bodyPr/>
          <a:lstStyle/>
          <a:p>
            <a:endParaRPr lang="ja-JP" altLang="en-US"/>
          </a:p>
        </p:txBody>
      </p:sp>
      <p:sp>
        <p:nvSpPr>
          <p:cNvPr id="25" name="Text 23"/>
          <p:cNvSpPr/>
          <p:nvPr/>
        </p:nvSpPr>
        <p:spPr>
          <a:xfrm>
            <a:off x="6373368" y="1792224"/>
            <a:ext cx="4572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Noto Sans JP" pitchFamily="34" charset="0"/>
                <a:ea typeface="Noto Sans JP" pitchFamily="34" charset="-122"/>
                <a:cs typeface="Noto Sans JP" pitchFamily="34" charset="-120"/>
              </a:rPr>
              <a:t>3</a:t>
            </a:r>
            <a:endParaRPr lang="en-US" sz="1200" dirty="0"/>
          </a:p>
        </p:txBody>
      </p:sp>
      <p:sp>
        <p:nvSpPr>
          <p:cNvPr id="26" name="Text 24"/>
          <p:cNvSpPr/>
          <p:nvPr/>
        </p:nvSpPr>
        <p:spPr>
          <a:xfrm>
            <a:off x="6867144" y="1792224"/>
            <a:ext cx="1920240" cy="384048"/>
          </a:xfrm>
          <a:prstGeom prst="rect">
            <a:avLst/>
          </a:prstGeom>
          <a:noFill/>
          <a:ln/>
        </p:spPr>
        <p:txBody>
          <a:bodyPr wrap="square" lIns="0" tIns="0" rIns="0" bIns="0" rtlCol="0" anchor="ctr"/>
          <a:lstStyle/>
          <a:p>
            <a:pPr marL="0" indent="0">
              <a:buNone/>
            </a:pPr>
            <a:r>
              <a:rPr lang="en-US" sz="1250" b="1" dirty="0">
                <a:solidFill>
                  <a:srgbClr val="222222"/>
                </a:solidFill>
                <a:latin typeface="Noto Sans JP" pitchFamily="34" charset="0"/>
                <a:ea typeface="Noto Sans JP" pitchFamily="34" charset="-122"/>
                <a:cs typeface="Noto Sans JP" pitchFamily="34" charset="-120"/>
              </a:rPr>
              <a:t>比較検討</a:t>
            </a:r>
            <a:endParaRPr lang="en-US" sz="1250" dirty="0"/>
          </a:p>
        </p:txBody>
      </p:sp>
      <p:sp>
        <p:nvSpPr>
          <p:cNvPr id="27" name="Text 25"/>
          <p:cNvSpPr/>
          <p:nvPr/>
        </p:nvSpPr>
        <p:spPr>
          <a:xfrm>
            <a:off x="6446520" y="2286000"/>
            <a:ext cx="2240280" cy="292608"/>
          </a:xfrm>
          <a:prstGeom prst="rect">
            <a:avLst/>
          </a:prstGeom>
          <a:noFill/>
          <a:ln/>
        </p:spPr>
        <p:txBody>
          <a:bodyPr wrap="square" lIns="0" tIns="0" rIns="0" bIns="0" rtlCol="0" anchor="ctr"/>
          <a:lstStyle/>
          <a:p>
            <a:pPr marL="0" indent="0">
              <a:buNone/>
            </a:pPr>
            <a:r>
              <a:rPr lang="en-US" sz="1000" b="1" dirty="0">
                <a:solidFill>
                  <a:srgbClr val="8A8F98"/>
                </a:solidFill>
                <a:latin typeface="Noto Sans JP" pitchFamily="34" charset="0"/>
                <a:ea typeface="Noto Sans JP" pitchFamily="34" charset="-122"/>
                <a:cs typeface="Noto Sans JP" pitchFamily="34" charset="-120"/>
              </a:rPr>
              <a:t>競合比較の勝率</a:t>
            </a:r>
            <a:endParaRPr lang="en-US" sz="1000" dirty="0"/>
          </a:p>
        </p:txBody>
      </p:sp>
      <p:sp>
        <p:nvSpPr>
          <p:cNvPr id="28" name="Text 26"/>
          <p:cNvSpPr/>
          <p:nvPr/>
        </p:nvSpPr>
        <p:spPr>
          <a:xfrm>
            <a:off x="6446520" y="2560320"/>
            <a:ext cx="2240280" cy="685800"/>
          </a:xfrm>
          <a:prstGeom prst="rect">
            <a:avLst/>
          </a:prstGeom>
          <a:noFill/>
          <a:ln/>
        </p:spPr>
        <p:txBody>
          <a:bodyPr wrap="square" lIns="0" tIns="0" rIns="0" bIns="0" rtlCol="0" anchor="ctr"/>
          <a:lstStyle/>
          <a:p>
            <a:pPr marL="0" indent="0">
              <a:buNone/>
            </a:pPr>
            <a:r>
              <a:rPr lang="en-US" sz="3200" b="1" dirty="0">
                <a:solidFill>
                  <a:srgbClr val="6A2FB8"/>
                </a:solidFill>
                <a:latin typeface="Noto Sans JP" pitchFamily="34" charset="0"/>
                <a:ea typeface="Noto Sans JP" pitchFamily="34" charset="-122"/>
                <a:cs typeface="Noto Sans JP" pitchFamily="34" charset="-120"/>
              </a:rPr>
              <a:t>45%</a:t>
            </a:r>
            <a:endParaRPr lang="en-US" sz="3200" dirty="0"/>
          </a:p>
        </p:txBody>
      </p:sp>
      <p:sp>
        <p:nvSpPr>
          <p:cNvPr id="29" name="Text 27"/>
          <p:cNvSpPr/>
          <p:nvPr/>
        </p:nvSpPr>
        <p:spPr>
          <a:xfrm>
            <a:off x="6446520" y="3310128"/>
            <a:ext cx="2240280" cy="685800"/>
          </a:xfrm>
          <a:prstGeom prst="rect">
            <a:avLst/>
          </a:prstGeom>
          <a:noFill/>
          <a:ln/>
        </p:spPr>
        <p:txBody>
          <a:bodyPr wrap="square" lIns="0" tIns="0" rIns="0" bIns="0" rtlCol="0" anchor="ctr"/>
          <a:lstStyle/>
          <a:p>
            <a:pPr marL="0" indent="0">
              <a:lnSpc>
                <a:spcPct val="125000"/>
              </a:lnSpc>
              <a:buNone/>
            </a:pPr>
            <a:r>
              <a:rPr lang="en-US" sz="950" dirty="0">
                <a:solidFill>
                  <a:srgbClr val="555A63"/>
                </a:solidFill>
                <a:latin typeface="Noto Sans JP" pitchFamily="34" charset="0"/>
                <a:ea typeface="Noto Sans JP" pitchFamily="34" charset="-122"/>
                <a:cs typeface="Noto Sans JP" pitchFamily="34" charset="-120"/>
              </a:rPr>
              <a:t>5勝6敗。大手とは大半が「引き分け（併記）」で決着せず</a:t>
            </a:r>
            <a:endParaRPr lang="en-US" sz="950" dirty="0"/>
          </a:p>
        </p:txBody>
      </p:sp>
      <p:sp>
        <p:nvSpPr>
          <p:cNvPr id="30" name="Text 28"/>
          <p:cNvSpPr/>
          <p:nvPr/>
        </p:nvSpPr>
        <p:spPr>
          <a:xfrm>
            <a:off x="8860536" y="2606040"/>
            <a:ext cx="256032" cy="365760"/>
          </a:xfrm>
          <a:prstGeom prst="rect">
            <a:avLst/>
          </a:prstGeom>
          <a:noFill/>
          <a:ln/>
        </p:spPr>
        <p:txBody>
          <a:bodyPr wrap="square" lIns="0" tIns="0" rIns="0" bIns="0" rtlCol="0" anchor="ctr"/>
          <a:lstStyle/>
          <a:p>
            <a:pPr marL="0" indent="0" algn="ctr">
              <a:buNone/>
            </a:pPr>
            <a:r>
              <a:rPr lang="en-US" sz="1300" dirty="0">
                <a:solidFill>
                  <a:srgbClr val="6A2FB8"/>
                </a:solidFill>
                <a:latin typeface="Noto Sans JP" pitchFamily="34" charset="0"/>
                <a:ea typeface="Noto Sans JP" pitchFamily="34" charset="-122"/>
                <a:cs typeface="Noto Sans JP" pitchFamily="34" charset="-120"/>
              </a:rPr>
              <a:t>▶</a:t>
            </a:r>
            <a:endParaRPr lang="en-US" sz="1300" dirty="0"/>
          </a:p>
        </p:txBody>
      </p:sp>
      <p:sp>
        <p:nvSpPr>
          <p:cNvPr id="31" name="Shape 29"/>
          <p:cNvSpPr/>
          <p:nvPr/>
        </p:nvSpPr>
        <p:spPr>
          <a:xfrm>
            <a:off x="9061704" y="1600200"/>
            <a:ext cx="2670048" cy="2514600"/>
          </a:xfrm>
          <a:prstGeom prst="roundRect">
            <a:avLst>
              <a:gd name="adj" fmla="val 4000"/>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32" name="Shape 30"/>
          <p:cNvSpPr/>
          <p:nvPr/>
        </p:nvSpPr>
        <p:spPr>
          <a:xfrm>
            <a:off x="9061704" y="1600200"/>
            <a:ext cx="2670048" cy="82296"/>
          </a:xfrm>
          <a:prstGeom prst="roundRect">
            <a:avLst>
              <a:gd name="adj" fmla="val 44444"/>
            </a:avLst>
          </a:prstGeom>
          <a:solidFill>
            <a:srgbClr val="4A1F87"/>
          </a:solidFill>
          <a:ln/>
        </p:spPr>
        <p:txBody>
          <a:bodyPr/>
          <a:lstStyle/>
          <a:p>
            <a:endParaRPr lang="ja-JP" altLang="en-US"/>
          </a:p>
        </p:txBody>
      </p:sp>
      <p:sp>
        <p:nvSpPr>
          <p:cNvPr id="33" name="Shape 31"/>
          <p:cNvSpPr/>
          <p:nvPr/>
        </p:nvSpPr>
        <p:spPr>
          <a:xfrm>
            <a:off x="9281160" y="1810512"/>
            <a:ext cx="347472" cy="347472"/>
          </a:xfrm>
          <a:prstGeom prst="ellipse">
            <a:avLst/>
          </a:prstGeom>
          <a:solidFill>
            <a:srgbClr val="4A1F87"/>
          </a:solidFill>
          <a:ln/>
        </p:spPr>
        <p:txBody>
          <a:bodyPr/>
          <a:lstStyle/>
          <a:p>
            <a:endParaRPr lang="ja-JP" altLang="en-US"/>
          </a:p>
        </p:txBody>
      </p:sp>
      <p:sp>
        <p:nvSpPr>
          <p:cNvPr id="34" name="Text 32"/>
          <p:cNvSpPr/>
          <p:nvPr/>
        </p:nvSpPr>
        <p:spPr>
          <a:xfrm>
            <a:off x="9226296" y="1792224"/>
            <a:ext cx="4572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Noto Sans JP" pitchFamily="34" charset="0"/>
                <a:ea typeface="Noto Sans JP" pitchFamily="34" charset="-122"/>
                <a:cs typeface="Noto Sans JP" pitchFamily="34" charset="-120"/>
              </a:rPr>
              <a:t>4</a:t>
            </a:r>
            <a:endParaRPr lang="en-US" sz="1200" dirty="0"/>
          </a:p>
        </p:txBody>
      </p:sp>
      <p:sp>
        <p:nvSpPr>
          <p:cNvPr id="35" name="Text 33"/>
          <p:cNvSpPr/>
          <p:nvPr/>
        </p:nvSpPr>
        <p:spPr>
          <a:xfrm>
            <a:off x="9720072" y="1792224"/>
            <a:ext cx="1920240" cy="384048"/>
          </a:xfrm>
          <a:prstGeom prst="rect">
            <a:avLst/>
          </a:prstGeom>
          <a:noFill/>
          <a:ln/>
        </p:spPr>
        <p:txBody>
          <a:bodyPr wrap="square" lIns="0" tIns="0" rIns="0" bIns="0" rtlCol="0" anchor="ctr"/>
          <a:lstStyle/>
          <a:p>
            <a:pPr marL="0" indent="0">
              <a:buNone/>
            </a:pPr>
            <a:r>
              <a:rPr lang="en-US" sz="1250" b="1" dirty="0">
                <a:solidFill>
                  <a:srgbClr val="222222"/>
                </a:solidFill>
                <a:latin typeface="Noto Sans JP" pitchFamily="34" charset="0"/>
                <a:ea typeface="Noto Sans JP" pitchFamily="34" charset="-122"/>
                <a:cs typeface="Noto Sans JP" pitchFamily="34" charset="-120"/>
              </a:rPr>
              <a:t>意思決定</a:t>
            </a:r>
            <a:endParaRPr lang="en-US" sz="1250" dirty="0"/>
          </a:p>
        </p:txBody>
      </p:sp>
      <p:sp>
        <p:nvSpPr>
          <p:cNvPr id="36" name="Text 34"/>
          <p:cNvSpPr/>
          <p:nvPr/>
        </p:nvSpPr>
        <p:spPr>
          <a:xfrm>
            <a:off x="9299448" y="2286000"/>
            <a:ext cx="2240280" cy="292608"/>
          </a:xfrm>
          <a:prstGeom prst="rect">
            <a:avLst/>
          </a:prstGeom>
          <a:noFill/>
          <a:ln/>
        </p:spPr>
        <p:txBody>
          <a:bodyPr wrap="square" lIns="0" tIns="0" rIns="0" bIns="0" rtlCol="0" anchor="ctr"/>
          <a:lstStyle/>
          <a:p>
            <a:pPr marL="0" indent="0">
              <a:buNone/>
            </a:pPr>
            <a:r>
              <a:rPr lang="en-US" sz="1000" b="1" dirty="0">
                <a:solidFill>
                  <a:srgbClr val="8A8F98"/>
                </a:solidFill>
                <a:latin typeface="Noto Sans JP" pitchFamily="34" charset="0"/>
                <a:ea typeface="Noto Sans JP" pitchFamily="34" charset="-122"/>
                <a:cs typeface="Noto Sans JP" pitchFamily="34" charset="-120"/>
              </a:rPr>
              <a:t>ポジティブ回答率</a:t>
            </a:r>
            <a:endParaRPr lang="en-US" sz="1000" dirty="0"/>
          </a:p>
        </p:txBody>
      </p:sp>
      <p:sp>
        <p:nvSpPr>
          <p:cNvPr id="37" name="Text 35"/>
          <p:cNvSpPr/>
          <p:nvPr/>
        </p:nvSpPr>
        <p:spPr>
          <a:xfrm>
            <a:off x="9299448" y="2560320"/>
            <a:ext cx="2240280" cy="685800"/>
          </a:xfrm>
          <a:prstGeom prst="rect">
            <a:avLst/>
          </a:prstGeom>
          <a:noFill/>
          <a:ln/>
        </p:spPr>
        <p:txBody>
          <a:bodyPr wrap="square" lIns="0" tIns="0" rIns="0" bIns="0" rtlCol="0" anchor="ctr"/>
          <a:lstStyle/>
          <a:p>
            <a:pPr marL="0" indent="0">
              <a:buNone/>
            </a:pPr>
            <a:r>
              <a:rPr lang="en-US" sz="3200" b="1" dirty="0">
                <a:solidFill>
                  <a:srgbClr val="4A1F87"/>
                </a:solidFill>
                <a:latin typeface="Noto Sans JP" pitchFamily="34" charset="0"/>
                <a:ea typeface="Noto Sans JP" pitchFamily="34" charset="-122"/>
                <a:cs typeface="Noto Sans JP" pitchFamily="34" charset="-120"/>
              </a:rPr>
              <a:t>69%</a:t>
            </a:r>
            <a:endParaRPr lang="en-US" sz="3200" dirty="0"/>
          </a:p>
        </p:txBody>
      </p:sp>
      <p:sp>
        <p:nvSpPr>
          <p:cNvPr id="38" name="Text 36"/>
          <p:cNvSpPr/>
          <p:nvPr/>
        </p:nvSpPr>
        <p:spPr>
          <a:xfrm>
            <a:off x="9299448" y="3310128"/>
            <a:ext cx="2240280" cy="685800"/>
          </a:xfrm>
          <a:prstGeom prst="rect">
            <a:avLst/>
          </a:prstGeom>
          <a:noFill/>
          <a:ln/>
        </p:spPr>
        <p:txBody>
          <a:bodyPr wrap="square" lIns="0" tIns="0" rIns="0" bIns="0" rtlCol="0" anchor="ctr"/>
          <a:lstStyle/>
          <a:p>
            <a:pPr marL="0" indent="0">
              <a:lnSpc>
                <a:spcPct val="125000"/>
              </a:lnSpc>
              <a:buNone/>
            </a:pPr>
            <a:r>
              <a:rPr lang="en-US" sz="950" dirty="0">
                <a:solidFill>
                  <a:srgbClr val="555A63"/>
                </a:solidFill>
                <a:latin typeface="Noto Sans JP" pitchFamily="34" charset="0"/>
                <a:ea typeface="Noto Sans JP" pitchFamily="34" charset="-122"/>
                <a:cs typeface="Noto Sans JP" pitchFamily="34" charset="-120"/>
              </a:rPr>
              <a:t>非推奨0件。悪く言われてはいないが、指名質問の多くが「未判定」＝答える材料がない</a:t>
            </a:r>
            <a:endParaRPr lang="en-US" sz="950" dirty="0"/>
          </a:p>
        </p:txBody>
      </p:sp>
      <p:sp>
        <p:nvSpPr>
          <p:cNvPr id="39" name="Shape 37"/>
          <p:cNvSpPr/>
          <p:nvPr/>
        </p:nvSpPr>
        <p:spPr>
          <a:xfrm>
            <a:off x="502920" y="4343400"/>
            <a:ext cx="11183112" cy="1554480"/>
          </a:xfrm>
          <a:prstGeom prst="roundRect">
            <a:avLst>
              <a:gd name="adj" fmla="val 6471"/>
            </a:avLst>
          </a:prstGeom>
          <a:solidFill>
            <a:srgbClr val="F5F5F7"/>
          </a:solidFill>
          <a:ln/>
        </p:spPr>
        <p:txBody>
          <a:bodyPr/>
          <a:lstStyle/>
          <a:p>
            <a:endParaRPr lang="ja-JP" altLang="en-US"/>
          </a:p>
        </p:txBody>
      </p:sp>
      <p:sp>
        <p:nvSpPr>
          <p:cNvPr id="40" name="Text 38"/>
          <p:cNvSpPr/>
          <p:nvPr/>
        </p:nvSpPr>
        <p:spPr>
          <a:xfrm>
            <a:off x="777240" y="4480560"/>
            <a:ext cx="3657600" cy="320040"/>
          </a:xfrm>
          <a:prstGeom prst="rect">
            <a:avLst/>
          </a:prstGeom>
          <a:noFill/>
          <a:ln/>
        </p:spPr>
        <p:txBody>
          <a:bodyPr wrap="square" lIns="0" tIns="0" rIns="0" bIns="0" rtlCol="0" anchor="ctr"/>
          <a:lstStyle/>
          <a:p>
            <a:pPr marL="0" indent="0">
              <a:buNone/>
            </a:pPr>
            <a:r>
              <a:rPr lang="en-US" sz="1250" b="1" dirty="0">
                <a:solidFill>
                  <a:srgbClr val="8541DC"/>
                </a:solidFill>
                <a:latin typeface="Noto Sans JP" pitchFamily="34" charset="0"/>
                <a:ea typeface="Noto Sans JP" pitchFamily="34" charset="-122"/>
                <a:cs typeface="Noto Sans JP" pitchFamily="34" charset="-120"/>
              </a:rPr>
              <a:t>読み取り</a:t>
            </a:r>
            <a:endParaRPr lang="en-US" sz="1250" dirty="0"/>
          </a:p>
        </p:txBody>
      </p:sp>
      <p:sp>
        <p:nvSpPr>
          <p:cNvPr id="41" name="Text 39"/>
          <p:cNvSpPr/>
          <p:nvPr/>
        </p:nvSpPr>
        <p:spPr>
          <a:xfrm>
            <a:off x="777240" y="4828032"/>
            <a:ext cx="10607040" cy="100584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80" dirty="0">
                <a:solidFill>
                  <a:srgbClr val="222222"/>
                </a:solidFill>
                <a:latin typeface="Noto Sans JP" pitchFamily="34" charset="0"/>
                <a:ea typeface="Noto Sans JP" pitchFamily="34" charset="-122"/>
                <a:cs typeface="Noto Sans JP" pitchFamily="34" charset="-120"/>
              </a:rPr>
              <a:t>上流ほど弱い構造。想起（56%）・意思決定（69%）は健闘する一方、最上流の引用率11%＝「選び方・相場」の段階でカーセブン様の情報が参照されていない</a:t>
            </a:r>
            <a:endParaRPr lang="en-US" sz="1080" dirty="0"/>
          </a:p>
          <a:p>
            <a:pPr marL="152400" indent="-152400">
              <a:lnSpc>
                <a:spcPct val="128000"/>
              </a:lnSpc>
              <a:spcAft>
                <a:spcPts val="700"/>
              </a:spcAft>
              <a:buSzPct val="100000"/>
              <a:buChar char="•"/>
            </a:pPr>
            <a:r>
              <a:rPr lang="en-US" sz="1080" dirty="0">
                <a:solidFill>
                  <a:srgbClr val="222222"/>
                </a:solidFill>
                <a:latin typeface="Noto Sans JP" pitchFamily="34" charset="0"/>
                <a:ea typeface="Noto Sans JP" pitchFamily="34" charset="-122"/>
                <a:cs typeface="Noto Sans JP" pitchFamily="34" charset="-120"/>
              </a:rPr>
              <a:t>想起の中身が二極化。「減額しない業者」「キャンセルできる業者」「当日入金」では1〜2位を取る一方、「電話なしで査定できるサービス」「一括査定はやめたほうがいい」は3AIすべて圏外</a:t>
            </a:r>
            <a:endParaRPr lang="en-US" sz="1080" dirty="0"/>
          </a:p>
          <a:p>
            <a:pPr marL="152400" indent="-152400">
              <a:lnSpc>
                <a:spcPct val="128000"/>
              </a:lnSpc>
              <a:spcAft>
                <a:spcPts val="700"/>
              </a:spcAft>
              <a:buSzPct val="100000"/>
              <a:buChar char="•"/>
            </a:pPr>
            <a:r>
              <a:rPr lang="en-US" sz="1080" dirty="0">
                <a:solidFill>
                  <a:srgbClr val="222222"/>
                </a:solidFill>
                <a:latin typeface="Noto Sans JP" pitchFamily="34" charset="0"/>
                <a:ea typeface="Noto Sans JP" pitchFamily="34" charset="-122"/>
                <a:cs typeface="Noto Sans JP" pitchFamily="34" charset="-120"/>
              </a:rPr>
              <a:t>比較検討は負けよりも“引き分け（併記）”が圧倒的。負けた相手は特化型（ユーカーパック＝電話の少なさ／カーネクスト＝古い車）で、大手とは決め手がなく並べられている</a:t>
            </a:r>
            <a:endParaRPr lang="en-US" sz="1080" dirty="0"/>
          </a:p>
        </p:txBody>
      </p:sp>
      <p:sp>
        <p:nvSpPr>
          <p:cNvPr id="42" name="Text 40"/>
          <p:cNvSpPr/>
          <p:nvPr/>
        </p:nvSpPr>
        <p:spPr>
          <a:xfrm>
            <a:off x="502920" y="5989320"/>
            <a:ext cx="1097280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 観測（EmmaTools LLMO／2026-08-31計測・直近30日・ChatGPT／Gemini／AI Overviews）</a:t>
            </a:r>
            <a:endParaRPr lang="en-US" sz="900" dirty="0"/>
          </a:p>
        </p:txBody>
      </p:sp>
      <p:sp>
        <p:nvSpPr>
          <p:cNvPr id="43" name="Text 41"/>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44" name="Text 42"/>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現状分析② — AI上のブランド認識</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AIが比較で持ち出す「認識軸」ごとに、誰が勝者として語られているか</a:t>
            </a:r>
            <a:endParaRPr lang="en-US" sz="2500" dirty="0"/>
          </a:p>
        </p:txBody>
      </p:sp>
      <p:sp>
        <p:nvSpPr>
          <p:cNvPr id="4" name="Text 2"/>
          <p:cNvSpPr/>
          <p:nvPr/>
        </p:nvSpPr>
        <p:spPr>
          <a:xfrm>
            <a:off x="502920" y="1371600"/>
            <a:ext cx="11155680" cy="292608"/>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認識軸：</a:t>
            </a:r>
            <a:r>
              <a:rPr lang="en-US" sz="1150" b="1" dirty="0">
                <a:solidFill>
                  <a:srgbClr val="8541DC"/>
                </a:solidFill>
                <a:latin typeface="Noto Sans JP" pitchFamily="34" charset="0"/>
                <a:ea typeface="Noto Sans JP" pitchFamily="34" charset="-122"/>
                <a:cs typeface="Noto Sans JP" pitchFamily="34" charset="-120"/>
              </a:rPr>
              <a:t>14軸</a:t>
            </a:r>
            <a:r>
              <a:rPr lang="en-US" sz="1050" dirty="0">
                <a:solidFill>
                  <a:srgbClr val="555A63"/>
                </a:solidFill>
                <a:latin typeface="Noto Sans JP" pitchFamily="34" charset="0"/>
                <a:ea typeface="Noto Sans JP" pitchFamily="34" charset="-122"/>
                <a:cs typeface="Noto Sans JP" pitchFamily="34" charset="-120"/>
              </a:rPr>
              <a:t>　｜　勝率100%の軸：</a:t>
            </a:r>
            <a:r>
              <a:rPr lang="en-US" sz="1150" b="1" dirty="0">
                <a:solidFill>
                  <a:srgbClr val="8541DC"/>
                </a:solidFill>
                <a:latin typeface="Noto Sans JP" pitchFamily="34" charset="0"/>
                <a:ea typeface="Noto Sans JP" pitchFamily="34" charset="-122"/>
                <a:cs typeface="Noto Sans JP" pitchFamily="34" charset="-120"/>
              </a:rPr>
              <a:t>6軸</a:t>
            </a:r>
            <a:r>
              <a:rPr lang="en-US" sz="1050" dirty="0">
                <a:solidFill>
                  <a:srgbClr val="555A63"/>
                </a:solidFill>
                <a:latin typeface="Noto Sans JP" pitchFamily="34" charset="0"/>
                <a:ea typeface="Noto Sans JP" pitchFamily="34" charset="-122"/>
                <a:cs typeface="Noto Sans JP" pitchFamily="34" charset="-120"/>
              </a:rPr>
              <a:t>　｜　負けている軸：</a:t>
            </a:r>
            <a:r>
              <a:rPr lang="en-US" sz="1150" b="1" dirty="0">
                <a:solidFill>
                  <a:srgbClr val="8541DC"/>
                </a:solidFill>
                <a:latin typeface="Noto Sans JP" pitchFamily="34" charset="0"/>
                <a:ea typeface="Noto Sans JP" pitchFamily="34" charset="-122"/>
                <a:cs typeface="Noto Sans JP" pitchFamily="34" charset="-120"/>
              </a:rPr>
              <a:t>3軸</a:t>
            </a:r>
            <a:r>
              <a:rPr lang="en-US" sz="1050" dirty="0">
                <a:solidFill>
                  <a:srgbClr val="555A63"/>
                </a:solidFill>
                <a:latin typeface="Noto Sans JP" pitchFamily="34" charset="0"/>
                <a:ea typeface="Noto Sans JP" pitchFamily="34" charset="-122"/>
                <a:cs typeface="Noto Sans JP" pitchFamily="34" charset="-120"/>
              </a:rPr>
              <a:t>　｜　最多登場の軸：</a:t>
            </a:r>
            <a:r>
              <a:rPr lang="en-US" sz="1150" b="1" dirty="0">
                <a:solidFill>
                  <a:srgbClr val="8541DC"/>
                </a:solidFill>
                <a:latin typeface="Noto Sans JP" pitchFamily="34" charset="0"/>
                <a:ea typeface="Noto Sans JP" pitchFamily="34" charset="-122"/>
                <a:cs typeface="Noto Sans JP" pitchFamily="34" charset="-120"/>
              </a:rPr>
              <a:t>価格（6回）</a:t>
            </a:r>
            <a:endParaRPr lang="en-US" sz="1050" dirty="0"/>
          </a:p>
        </p:txBody>
      </p:sp>
      <p:sp>
        <p:nvSpPr>
          <p:cNvPr id="5" name="Shape 3"/>
          <p:cNvSpPr/>
          <p:nvPr/>
        </p:nvSpPr>
        <p:spPr>
          <a:xfrm>
            <a:off x="502920" y="1783080"/>
            <a:ext cx="5532120" cy="2240280"/>
          </a:xfrm>
          <a:prstGeom prst="roundRect">
            <a:avLst>
              <a:gd name="adj" fmla="val 4490"/>
            </a:avLst>
          </a:prstGeom>
          <a:solidFill>
            <a:srgbClr val="F0E6FC"/>
          </a:solidFill>
          <a:ln/>
        </p:spPr>
        <p:txBody>
          <a:bodyPr/>
          <a:lstStyle/>
          <a:p>
            <a:endParaRPr lang="ja-JP" altLang="en-US"/>
          </a:p>
        </p:txBody>
      </p:sp>
      <p:sp>
        <p:nvSpPr>
          <p:cNvPr id="6" name="Text 4"/>
          <p:cNvSpPr/>
          <p:nvPr/>
        </p:nvSpPr>
        <p:spPr>
          <a:xfrm>
            <a:off x="777240" y="1938528"/>
            <a:ext cx="5029200" cy="320040"/>
          </a:xfrm>
          <a:prstGeom prst="rect">
            <a:avLst/>
          </a:prstGeom>
          <a:noFill/>
          <a:ln/>
        </p:spPr>
        <p:txBody>
          <a:bodyPr wrap="square" lIns="0" tIns="0" rIns="0" bIns="0" rtlCol="0" anchor="ctr"/>
          <a:lstStyle/>
          <a:p>
            <a:pPr marL="0" indent="0">
              <a:buNone/>
            </a:pPr>
            <a:r>
              <a:rPr lang="en-US" sz="1200" b="1" dirty="0">
                <a:solidFill>
                  <a:srgbClr val="8541DC"/>
                </a:solidFill>
                <a:latin typeface="Noto Sans JP" pitchFamily="34" charset="0"/>
                <a:ea typeface="Noto Sans JP" pitchFamily="34" charset="-122"/>
                <a:cs typeface="Noto Sans JP" pitchFamily="34" charset="-120"/>
              </a:rPr>
              <a:t>🔵 強い認識（AIが自社の勝ち筋として語る軸）</a:t>
            </a:r>
            <a:endParaRPr lang="en-US" sz="1200" dirty="0"/>
          </a:p>
        </p:txBody>
      </p:sp>
      <p:sp>
        <p:nvSpPr>
          <p:cNvPr id="7" name="Text 5"/>
          <p:cNvSpPr/>
          <p:nvPr/>
        </p:nvSpPr>
        <p:spPr>
          <a:xfrm>
            <a:off x="777240" y="2304288"/>
            <a:ext cx="5029200" cy="164592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00" dirty="0">
                <a:solidFill>
                  <a:srgbClr val="222222"/>
                </a:solidFill>
                <a:latin typeface="Noto Sans JP" pitchFamily="34" charset="0"/>
                <a:ea typeface="Noto Sans JP" pitchFamily="34" charset="-122"/>
                <a:cs typeface="Noto Sans JP" pitchFamily="34" charset="-120"/>
              </a:rPr>
              <a:t>「安心感」5回中5回勝ち（100%）。「契約後の安心感」「安心制度」「契約条件」「前払い制度」「キャンセル」もすべて100%</a:t>
            </a:r>
            <a:endParaRPr lang="en-US" sz="1000" dirty="0"/>
          </a:p>
          <a:p>
            <a:pPr marL="152400" indent="-152400">
              <a:lnSpc>
                <a:spcPct val="128000"/>
              </a:lnSpc>
              <a:spcAft>
                <a:spcPts val="700"/>
              </a:spcAft>
              <a:buSzPct val="100000"/>
              <a:buChar char="•"/>
            </a:pPr>
            <a:r>
              <a:rPr lang="en-US" sz="1000" dirty="0">
                <a:solidFill>
                  <a:srgbClr val="222222"/>
                </a:solidFill>
                <a:latin typeface="Noto Sans JP" pitchFamily="34" charset="0"/>
                <a:ea typeface="Noto Sans JP" pitchFamily="34" charset="-122"/>
                <a:cs typeface="Noto Sans JP" pitchFamily="34" charset="-120"/>
              </a:rPr>
              <a:t>「営業電話」100%・「手間」75%＝“煩わしくない売却”の軸で勝者として語られている</a:t>
            </a:r>
            <a:endParaRPr lang="en-US" sz="1000" dirty="0"/>
          </a:p>
          <a:p>
            <a:pPr marL="152400" indent="-152400">
              <a:lnSpc>
                <a:spcPct val="128000"/>
              </a:lnSpc>
              <a:spcAft>
                <a:spcPts val="700"/>
              </a:spcAft>
              <a:buSzPct val="100000"/>
              <a:buChar char="•"/>
            </a:pPr>
            <a:r>
              <a:rPr lang="en-US" sz="1000" dirty="0">
                <a:solidFill>
                  <a:srgbClr val="222222"/>
                </a:solidFill>
                <a:latin typeface="Noto Sans JP" pitchFamily="34" charset="0"/>
                <a:ea typeface="Noto Sans JP" pitchFamily="34" charset="-122"/>
                <a:cs typeface="Noto Sans JP" pitchFamily="34" charset="-120"/>
              </a:rPr>
              <a:t>「交渉のしやすさ」100%。安心宣言とJPUC適正買取店認定が効いている領域</a:t>
            </a:r>
            <a:endParaRPr lang="en-US" sz="1000" dirty="0"/>
          </a:p>
        </p:txBody>
      </p:sp>
      <p:sp>
        <p:nvSpPr>
          <p:cNvPr id="8" name="Shape 6"/>
          <p:cNvSpPr/>
          <p:nvPr/>
        </p:nvSpPr>
        <p:spPr>
          <a:xfrm>
            <a:off x="6263640" y="1783080"/>
            <a:ext cx="5422392" cy="2240280"/>
          </a:xfrm>
          <a:prstGeom prst="roundRect">
            <a:avLst>
              <a:gd name="adj" fmla="val 4490"/>
            </a:avLst>
          </a:prstGeom>
          <a:solidFill>
            <a:srgbClr val="F5F5F7"/>
          </a:solidFill>
          <a:ln/>
        </p:spPr>
        <p:txBody>
          <a:bodyPr/>
          <a:lstStyle/>
          <a:p>
            <a:endParaRPr lang="ja-JP" altLang="en-US"/>
          </a:p>
        </p:txBody>
      </p:sp>
      <p:sp>
        <p:nvSpPr>
          <p:cNvPr id="9" name="Text 7"/>
          <p:cNvSpPr/>
          <p:nvPr/>
        </p:nvSpPr>
        <p:spPr>
          <a:xfrm>
            <a:off x="6537960" y="1938528"/>
            <a:ext cx="4937760" cy="320040"/>
          </a:xfrm>
          <a:prstGeom prst="rect">
            <a:avLst/>
          </a:prstGeom>
          <a:noFill/>
          <a:ln/>
        </p:spPr>
        <p:txBody>
          <a:bodyPr wrap="square" lIns="0" tIns="0" rIns="0" bIns="0" rtlCol="0" anchor="ctr"/>
          <a:lstStyle/>
          <a:p>
            <a:pPr marL="0" indent="0">
              <a:buNone/>
            </a:pPr>
            <a:r>
              <a:rPr lang="en-US" sz="1200" b="1" dirty="0">
                <a:solidFill>
                  <a:srgbClr val="4A1F87"/>
                </a:solidFill>
                <a:latin typeface="Noto Sans JP" pitchFamily="34" charset="0"/>
                <a:ea typeface="Noto Sans JP" pitchFamily="34" charset="-122"/>
                <a:cs typeface="Noto Sans JP" pitchFamily="34" charset="-120"/>
              </a:rPr>
              <a:t>🔵 弱い認識（競合が支配・自社が圏外の軸）</a:t>
            </a:r>
            <a:endParaRPr lang="en-US" sz="1200" dirty="0"/>
          </a:p>
        </p:txBody>
      </p:sp>
      <p:sp>
        <p:nvSpPr>
          <p:cNvPr id="10" name="Text 8"/>
          <p:cNvSpPr/>
          <p:nvPr/>
        </p:nvSpPr>
        <p:spPr>
          <a:xfrm>
            <a:off x="6537960" y="2304288"/>
            <a:ext cx="4937760" cy="164592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00" dirty="0">
                <a:solidFill>
                  <a:srgbClr val="222222"/>
                </a:solidFill>
                <a:latin typeface="Noto Sans JP" pitchFamily="34" charset="0"/>
                <a:ea typeface="Noto Sans JP" pitchFamily="34" charset="-122"/>
                <a:cs typeface="Noto Sans JP" pitchFamily="34" charset="-120"/>
              </a:rPr>
              <a:t>「買取額」0%（勝者：カーネクスト）。最多登場の「価格」軸も17%（1勝/6回）</a:t>
            </a:r>
            <a:endParaRPr lang="en-US" sz="1000" dirty="0"/>
          </a:p>
          <a:p>
            <a:pPr marL="152400" indent="-152400">
              <a:lnSpc>
                <a:spcPct val="128000"/>
              </a:lnSpc>
              <a:spcAft>
                <a:spcPts val="700"/>
              </a:spcAft>
              <a:buSzPct val="100000"/>
              <a:buChar char="•"/>
            </a:pPr>
            <a:r>
              <a:rPr lang="en-US" sz="1000" dirty="0">
                <a:solidFill>
                  <a:srgbClr val="222222"/>
                </a:solidFill>
                <a:latin typeface="Noto Sans JP" pitchFamily="34" charset="0"/>
                <a:ea typeface="Noto Sans JP" pitchFamily="34" charset="-122"/>
                <a:cs typeface="Noto Sans JP" pitchFamily="34" charset="-120"/>
              </a:rPr>
              <a:t>「サービス形態」0%（勝者：カーセンサー）＝一括査定サイトとの構造比較で負ける</a:t>
            </a:r>
            <a:endParaRPr lang="en-US" sz="1000" dirty="0"/>
          </a:p>
          <a:p>
            <a:pPr marL="152400" indent="-152400">
              <a:lnSpc>
                <a:spcPct val="128000"/>
              </a:lnSpc>
              <a:spcAft>
                <a:spcPts val="700"/>
              </a:spcAft>
              <a:buSzPct val="100000"/>
              <a:buChar char="•"/>
            </a:pPr>
            <a:r>
              <a:rPr lang="en-US" sz="1000" dirty="0">
                <a:solidFill>
                  <a:srgbClr val="222222"/>
                </a:solidFill>
                <a:latin typeface="Noto Sans JP" pitchFamily="34" charset="0"/>
                <a:ea typeface="Noto Sans JP" pitchFamily="34" charset="-122"/>
                <a:cs typeface="Noto Sans JP" pitchFamily="34" charset="-120"/>
              </a:rPr>
              <a:t>「対象ユーザー層」0%（勝者：ユーカーパック）＝“誰向けの会社か”が語られていない</a:t>
            </a:r>
            <a:endParaRPr lang="en-US" sz="1000" dirty="0"/>
          </a:p>
        </p:txBody>
      </p:sp>
      <p:sp>
        <p:nvSpPr>
          <p:cNvPr id="11" name="Shape 9"/>
          <p:cNvSpPr/>
          <p:nvPr/>
        </p:nvSpPr>
        <p:spPr>
          <a:xfrm>
            <a:off x="502920" y="4160520"/>
            <a:ext cx="11183112" cy="1737360"/>
          </a:xfrm>
          <a:prstGeom prst="roundRect">
            <a:avLst>
              <a:gd name="adj" fmla="val 5789"/>
            </a:avLst>
          </a:prstGeom>
          <a:solidFill>
            <a:srgbClr val="4A1F87"/>
          </a:solidFill>
          <a:ln/>
        </p:spPr>
        <p:txBody>
          <a:bodyPr/>
          <a:lstStyle/>
          <a:p>
            <a:endParaRPr lang="ja-JP" altLang="en-US"/>
          </a:p>
        </p:txBody>
      </p:sp>
      <p:sp>
        <p:nvSpPr>
          <p:cNvPr id="12" name="Text 10"/>
          <p:cNvSpPr/>
          <p:nvPr/>
        </p:nvSpPr>
        <p:spPr>
          <a:xfrm>
            <a:off x="777240" y="4315968"/>
            <a:ext cx="10607040" cy="320040"/>
          </a:xfrm>
          <a:prstGeom prst="rect">
            <a:avLst/>
          </a:prstGeom>
          <a:noFill/>
          <a:ln/>
        </p:spPr>
        <p:txBody>
          <a:bodyPr wrap="square" lIns="0" tIns="0" rIns="0" bIns="0" rtlCol="0" anchor="ctr"/>
          <a:lstStyle/>
          <a:p>
            <a:pPr marL="0" indent="0">
              <a:buNone/>
            </a:pPr>
            <a:r>
              <a:rPr lang="en-US" sz="1250" b="1" dirty="0">
                <a:solidFill>
                  <a:srgbClr val="D9CBF2"/>
                </a:solidFill>
                <a:latin typeface="Noto Sans JP" pitchFamily="34" charset="0"/>
                <a:ea typeface="Noto Sans JP" pitchFamily="34" charset="-122"/>
                <a:cs typeface="Noto Sans JP" pitchFamily="34" charset="-120"/>
              </a:rPr>
              <a:t>🟡 ブランド差分分析 — “ありたい認識”（ヒアリング）とのギャップ</a:t>
            </a:r>
            <a:endParaRPr lang="en-US" sz="1250" dirty="0"/>
          </a:p>
        </p:txBody>
      </p:sp>
      <p:sp>
        <p:nvSpPr>
          <p:cNvPr id="13" name="Text 11"/>
          <p:cNvSpPr/>
          <p:nvPr/>
        </p:nvSpPr>
        <p:spPr>
          <a:xfrm>
            <a:off x="777240" y="4681728"/>
            <a:ext cx="10607040" cy="114300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50" dirty="0">
                <a:solidFill>
                  <a:srgbClr val="FFFFFF"/>
                </a:solidFill>
                <a:latin typeface="Noto Sans JP" pitchFamily="34" charset="0"/>
                <a:ea typeface="Noto Sans JP" pitchFamily="34" charset="-122"/>
                <a:cs typeface="Noto Sans JP" pitchFamily="34" charset="-120"/>
              </a:rPr>
              <a:t>ありたい認識＝「買取から販売まで一貫だから“最高値”に挑戦できる会社」。しかしAIが最も語る価格軸で勝率17%。“高く売れる”はAIの中でまだ証明されていない</a:t>
            </a:r>
            <a:endParaRPr lang="en-US" sz="1050" dirty="0"/>
          </a:p>
          <a:p>
            <a:pPr marL="152400" indent="-152400">
              <a:lnSpc>
                <a:spcPct val="128000"/>
              </a:lnSpc>
              <a:spcAft>
                <a:spcPts val="700"/>
              </a:spcAft>
              <a:buSzPct val="100000"/>
              <a:buChar char="•"/>
            </a:pPr>
            <a:r>
              <a:rPr lang="en-US" sz="1050" dirty="0">
                <a:solidFill>
                  <a:srgbClr val="FFFFFF"/>
                </a:solidFill>
                <a:latin typeface="Noto Sans JP" pitchFamily="34" charset="0"/>
                <a:ea typeface="Noto Sans JP" pitchFamily="34" charset="-122"/>
                <a:cs typeface="Noto Sans JP" pitchFamily="34" charset="-120"/>
              </a:rPr>
              <a:t>実際に取れているのは「安心・契約条件・電話の少なさ」＝安心宣言とJPUC認定の領域で、ここは意図以上に強い</a:t>
            </a:r>
            <a:endParaRPr lang="en-US" sz="1050" dirty="0"/>
          </a:p>
          <a:p>
            <a:pPr marL="152400" indent="-152400">
              <a:lnSpc>
                <a:spcPct val="128000"/>
              </a:lnSpc>
              <a:spcAft>
                <a:spcPts val="700"/>
              </a:spcAft>
              <a:buSzPct val="100000"/>
              <a:buChar char="•"/>
            </a:pPr>
            <a:r>
              <a:rPr lang="en-US" sz="1050" dirty="0">
                <a:solidFill>
                  <a:srgbClr val="FFFFFF"/>
                </a:solidFill>
                <a:latin typeface="Noto Sans JP" pitchFamily="34" charset="0"/>
                <a:ea typeface="Noto Sans JP" pitchFamily="34" charset="-122"/>
                <a:cs typeface="Noto Sans JP" pitchFamily="34" charset="-120"/>
              </a:rPr>
              <a:t>→ 「安心だから選ぶ」で止めず、「一貫体制＝中間コストがないから高く買える」まで接続する情報設計が要</a:t>
            </a:r>
            <a:endParaRPr lang="en-US" sz="1050" dirty="0"/>
          </a:p>
        </p:txBody>
      </p:sp>
      <p:sp>
        <p:nvSpPr>
          <p:cNvPr id="14" name="Text 12"/>
          <p:cNvSpPr/>
          <p:nvPr/>
        </p:nvSpPr>
        <p:spPr>
          <a:xfrm>
            <a:off x="502920" y="5989320"/>
            <a:ext cx="1097280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 認識軸14軸・勝率＝観測（ブランドポジション／2026-08-31）｜🟡 差分分析＝当社が公式サイトから整理したブランド定義との突き合わせ（ツール側のポジション方針は未設定のため当社の読み取り）</a:t>
            </a:r>
            <a:endParaRPr lang="en-US" sz="900" dirty="0"/>
          </a:p>
        </p:txBody>
      </p:sp>
      <p:sp>
        <p:nvSpPr>
          <p:cNvPr id="15" name="Text 13"/>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6" name="Text 14"/>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現状分析③ — サイテーション（AIの引用元）</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AIが引用する202URLは、どんな媒体で構成されているか</a:t>
            </a:r>
            <a:endParaRPr lang="en-US" sz="2500" dirty="0"/>
          </a:p>
        </p:txBody>
      </p:sp>
      <p:sp>
        <p:nvSpPr>
          <p:cNvPr id="4" name="Shape 2"/>
          <p:cNvSpPr/>
          <p:nvPr/>
        </p:nvSpPr>
        <p:spPr>
          <a:xfrm>
            <a:off x="502920" y="1554480"/>
            <a:ext cx="3547872" cy="1371600"/>
          </a:xfrm>
          <a:prstGeom prst="roundRect">
            <a:avLst>
              <a:gd name="adj" fmla="val 7333"/>
            </a:avLst>
          </a:prstGeom>
          <a:solidFill>
            <a:srgbClr val="F0E6FC"/>
          </a:solidFill>
          <a:ln/>
        </p:spPr>
        <p:txBody>
          <a:bodyPr/>
          <a:lstStyle/>
          <a:p>
            <a:endParaRPr lang="ja-JP" altLang="en-US"/>
          </a:p>
        </p:txBody>
      </p:sp>
      <p:sp>
        <p:nvSpPr>
          <p:cNvPr id="5" name="Text 3"/>
          <p:cNvSpPr/>
          <p:nvPr/>
        </p:nvSpPr>
        <p:spPr>
          <a:xfrm>
            <a:off x="740664" y="1664208"/>
            <a:ext cx="3108960" cy="566928"/>
          </a:xfrm>
          <a:prstGeom prst="rect">
            <a:avLst/>
          </a:prstGeom>
          <a:noFill/>
          <a:ln/>
        </p:spPr>
        <p:txBody>
          <a:bodyPr wrap="square" lIns="0" tIns="0" rIns="0" bIns="0" rtlCol="0" anchor="ctr"/>
          <a:lstStyle/>
          <a:p>
            <a:pPr marL="0" indent="0">
              <a:buNone/>
            </a:pPr>
            <a:r>
              <a:rPr lang="en-US" sz="2600" b="1" dirty="0">
                <a:solidFill>
                  <a:srgbClr val="8541DC"/>
                </a:solidFill>
                <a:latin typeface="Noto Sans JP" pitchFamily="34" charset="0"/>
                <a:ea typeface="Noto Sans JP" pitchFamily="34" charset="-122"/>
                <a:cs typeface="Noto Sans JP" pitchFamily="34" charset="-120"/>
              </a:rPr>
              <a:t>202</a:t>
            </a:r>
            <a:endParaRPr lang="en-US" sz="2600" dirty="0"/>
          </a:p>
        </p:txBody>
      </p:sp>
      <p:sp>
        <p:nvSpPr>
          <p:cNvPr id="6" name="Text 4"/>
          <p:cNvSpPr/>
          <p:nvPr/>
        </p:nvSpPr>
        <p:spPr>
          <a:xfrm>
            <a:off x="740664" y="2249424"/>
            <a:ext cx="3108960" cy="566928"/>
          </a:xfrm>
          <a:prstGeom prst="rect">
            <a:avLst/>
          </a:prstGeom>
          <a:noFill/>
          <a:ln/>
        </p:spPr>
        <p:txBody>
          <a:bodyPr wrap="square" lIns="0" tIns="0" rIns="0" bIns="0" rtlCol="0" anchor="ctr"/>
          <a:lstStyle/>
          <a:p>
            <a:pPr marL="0" indent="0">
              <a:lnSpc>
                <a:spcPct val="120000"/>
              </a:lnSpc>
              <a:buNone/>
            </a:pPr>
            <a:r>
              <a:rPr lang="en-US" sz="1050" b="1" dirty="0">
                <a:solidFill>
                  <a:srgbClr val="222222"/>
                </a:solidFill>
                <a:latin typeface="Noto Sans JP" pitchFamily="34" charset="0"/>
                <a:ea typeface="Noto Sans JP" pitchFamily="34" charset="-122"/>
                <a:cs typeface="Noto Sans JP" pitchFamily="34" charset="-120"/>
              </a:rPr>
              <a:t>AIが引用したURL総数（カテゴリ比較50・記事解説42・ブランド個別9）</a:t>
            </a:r>
            <a:endParaRPr lang="en-US" sz="1050" dirty="0"/>
          </a:p>
        </p:txBody>
      </p:sp>
      <p:sp>
        <p:nvSpPr>
          <p:cNvPr id="7" name="Shape 5"/>
          <p:cNvSpPr/>
          <p:nvPr/>
        </p:nvSpPr>
        <p:spPr>
          <a:xfrm>
            <a:off x="4270248" y="1554480"/>
            <a:ext cx="3547872" cy="1371600"/>
          </a:xfrm>
          <a:prstGeom prst="roundRect">
            <a:avLst>
              <a:gd name="adj" fmla="val 7333"/>
            </a:avLst>
          </a:prstGeom>
          <a:solidFill>
            <a:srgbClr val="F0E6FC"/>
          </a:solidFill>
          <a:ln/>
        </p:spPr>
        <p:txBody>
          <a:bodyPr/>
          <a:lstStyle/>
          <a:p>
            <a:endParaRPr lang="ja-JP" altLang="en-US"/>
          </a:p>
        </p:txBody>
      </p:sp>
      <p:sp>
        <p:nvSpPr>
          <p:cNvPr id="8" name="Text 6"/>
          <p:cNvSpPr/>
          <p:nvPr/>
        </p:nvSpPr>
        <p:spPr>
          <a:xfrm>
            <a:off x="4507992" y="1664208"/>
            <a:ext cx="3108960" cy="566928"/>
          </a:xfrm>
          <a:prstGeom prst="rect">
            <a:avLst/>
          </a:prstGeom>
          <a:noFill/>
          <a:ln/>
        </p:spPr>
        <p:txBody>
          <a:bodyPr wrap="square" lIns="0" tIns="0" rIns="0" bIns="0" rtlCol="0" anchor="ctr"/>
          <a:lstStyle/>
          <a:p>
            <a:pPr marL="0" indent="0">
              <a:buNone/>
            </a:pPr>
            <a:r>
              <a:rPr lang="en-US" sz="2600" b="1" dirty="0">
                <a:solidFill>
                  <a:srgbClr val="8541DC"/>
                </a:solidFill>
                <a:latin typeface="Noto Sans JP" pitchFamily="34" charset="0"/>
                <a:ea typeface="Noto Sans JP" pitchFamily="34" charset="-122"/>
                <a:cs typeface="Noto Sans JP" pitchFamily="34" charset="-120"/>
              </a:rPr>
              <a:t>4 / 202</a:t>
            </a:r>
            <a:endParaRPr lang="en-US" sz="2600" dirty="0"/>
          </a:p>
        </p:txBody>
      </p:sp>
      <p:sp>
        <p:nvSpPr>
          <p:cNvPr id="9" name="Text 7"/>
          <p:cNvSpPr/>
          <p:nvPr/>
        </p:nvSpPr>
        <p:spPr>
          <a:xfrm>
            <a:off x="4507992" y="2249424"/>
            <a:ext cx="3108960" cy="566928"/>
          </a:xfrm>
          <a:prstGeom prst="rect">
            <a:avLst/>
          </a:prstGeom>
          <a:noFill/>
          <a:ln/>
        </p:spPr>
        <p:txBody>
          <a:bodyPr wrap="square" lIns="0" tIns="0" rIns="0" bIns="0" rtlCol="0" anchor="ctr"/>
          <a:lstStyle/>
          <a:p>
            <a:pPr marL="0" indent="0">
              <a:lnSpc>
                <a:spcPct val="120000"/>
              </a:lnSpc>
              <a:buNone/>
            </a:pPr>
            <a:r>
              <a:rPr lang="en-US" sz="1050" b="1" dirty="0">
                <a:solidFill>
                  <a:srgbClr val="222222"/>
                </a:solidFill>
                <a:latin typeface="Noto Sans JP" pitchFamily="34" charset="0"/>
                <a:ea typeface="Noto Sans JP" pitchFamily="34" charset="-122"/>
                <a:cs typeface="Noto Sans JP" pitchFamily="34" charset="-120"/>
              </a:rPr>
              <a:t>引用元のうち自社ドメインのURL数</a:t>
            </a:r>
            <a:endParaRPr lang="en-US" sz="1050" dirty="0"/>
          </a:p>
        </p:txBody>
      </p:sp>
      <p:sp>
        <p:nvSpPr>
          <p:cNvPr id="10" name="Shape 8"/>
          <p:cNvSpPr/>
          <p:nvPr/>
        </p:nvSpPr>
        <p:spPr>
          <a:xfrm>
            <a:off x="8037576" y="1554480"/>
            <a:ext cx="3547872" cy="1371600"/>
          </a:xfrm>
          <a:prstGeom prst="roundRect">
            <a:avLst>
              <a:gd name="adj" fmla="val 7333"/>
            </a:avLst>
          </a:prstGeom>
          <a:solidFill>
            <a:srgbClr val="FDE9DA"/>
          </a:solidFill>
          <a:ln/>
        </p:spPr>
        <p:txBody>
          <a:bodyPr/>
          <a:lstStyle/>
          <a:p>
            <a:endParaRPr lang="ja-JP" altLang="en-US"/>
          </a:p>
        </p:txBody>
      </p:sp>
      <p:sp>
        <p:nvSpPr>
          <p:cNvPr id="11" name="Text 9"/>
          <p:cNvSpPr/>
          <p:nvPr/>
        </p:nvSpPr>
        <p:spPr>
          <a:xfrm>
            <a:off x="8275320" y="1664208"/>
            <a:ext cx="3108960" cy="566928"/>
          </a:xfrm>
          <a:prstGeom prst="rect">
            <a:avLst/>
          </a:prstGeom>
          <a:noFill/>
          <a:ln/>
        </p:spPr>
        <p:txBody>
          <a:bodyPr wrap="square" lIns="0" tIns="0" rIns="0" bIns="0" rtlCol="0" anchor="ctr"/>
          <a:lstStyle/>
          <a:p>
            <a:pPr marL="0" indent="0">
              <a:buNone/>
            </a:pPr>
            <a:r>
              <a:rPr lang="en-US" sz="2600" b="1" dirty="0">
                <a:solidFill>
                  <a:srgbClr val="F57527"/>
                </a:solidFill>
                <a:latin typeface="Noto Sans JP" pitchFamily="34" charset="0"/>
                <a:ea typeface="Noto Sans JP" pitchFamily="34" charset="-122"/>
                <a:cs typeface="Noto Sans JP" pitchFamily="34" charset="-120"/>
              </a:rPr>
              <a:t>54</a:t>
            </a:r>
            <a:endParaRPr lang="en-US" sz="2600" dirty="0"/>
          </a:p>
        </p:txBody>
      </p:sp>
      <p:sp>
        <p:nvSpPr>
          <p:cNvPr id="12" name="Text 10"/>
          <p:cNvSpPr/>
          <p:nvPr/>
        </p:nvSpPr>
        <p:spPr>
          <a:xfrm>
            <a:off x="8275320" y="2249424"/>
            <a:ext cx="3108960" cy="566928"/>
          </a:xfrm>
          <a:prstGeom prst="rect">
            <a:avLst/>
          </a:prstGeom>
          <a:noFill/>
          <a:ln/>
        </p:spPr>
        <p:txBody>
          <a:bodyPr wrap="square" lIns="0" tIns="0" rIns="0" bIns="0" rtlCol="0" anchor="ctr"/>
          <a:lstStyle/>
          <a:p>
            <a:pPr marL="0" indent="0">
              <a:lnSpc>
                <a:spcPct val="120000"/>
              </a:lnSpc>
              <a:buNone/>
            </a:pPr>
            <a:r>
              <a:rPr lang="en-US" sz="1050" b="1" dirty="0">
                <a:solidFill>
                  <a:srgbClr val="222222"/>
                </a:solidFill>
                <a:latin typeface="Noto Sans JP" pitchFamily="34" charset="0"/>
                <a:ea typeface="Noto Sans JP" pitchFamily="34" charset="-122"/>
                <a:cs typeface="Noto Sans JP" pitchFamily="34" charset="-120"/>
              </a:rPr>
              <a:t>Impact Score最高値（80+＝最優先／40〜59＝監視）</a:t>
            </a:r>
            <a:endParaRPr lang="en-US" sz="1050" dirty="0"/>
          </a:p>
        </p:txBody>
      </p:sp>
      <p:sp>
        <p:nvSpPr>
          <p:cNvPr id="13" name="Text 11"/>
          <p:cNvSpPr/>
          <p:nvPr/>
        </p:nvSpPr>
        <p:spPr>
          <a:xfrm>
            <a:off x="502920" y="3154680"/>
            <a:ext cx="7315200" cy="320040"/>
          </a:xfrm>
          <a:prstGeom prst="rect">
            <a:avLst/>
          </a:prstGeom>
          <a:noFill/>
          <a:ln/>
        </p:spPr>
        <p:txBody>
          <a:bodyPr wrap="square" lIns="0" tIns="0" rIns="0" bIns="0" rtlCol="0" anchor="ctr"/>
          <a:lstStyle/>
          <a:p>
            <a:pPr marL="0" indent="0">
              <a:buNone/>
            </a:pPr>
            <a:r>
              <a:rPr lang="en-US" sz="1250" b="1" dirty="0">
                <a:solidFill>
                  <a:srgbClr val="8541DC"/>
                </a:solidFill>
                <a:latin typeface="Noto Sans JP" pitchFamily="34" charset="0"/>
                <a:ea typeface="Noto Sans JP" pitchFamily="34" charset="-122"/>
                <a:cs typeface="Noto Sans JP" pitchFamily="34" charset="-120"/>
              </a:rPr>
              <a:t>引用元の構成と傾向</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3520440"/>
          <a:ext cx="11183112" cy="2011680"/>
        </p:xfrm>
        <a:graphic>
          <a:graphicData uri="http://schemas.openxmlformats.org/drawingml/2006/table">
            <a:tbl>
              <a:tblPr/>
              <a:tblGrid>
                <a:gridCol w="30175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867912">
                  <a:extLst>
                    <a:ext uri="{9D8B030D-6E8A-4147-A177-3AD203B41FA5}">
                      <a16:colId xmlns:a16="http://schemas.microsoft.com/office/drawing/2014/main" val="20002"/>
                    </a:ext>
                  </a:extLst>
                </a:gridCol>
              </a:tblGrid>
              <a:tr h="502920">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引用元のタイプ</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代表ドメイン</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傾向</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extLst>
                  <a:ext uri="{0D108BD9-81ED-4DB2-BD59-A6C34878D82A}">
                    <a16:rowId xmlns:a16="http://schemas.microsoft.com/office/drawing/2014/main" val="10000"/>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第三者の比較・ランキング</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life.oricon.co.jp／car.motor-fan.jp／carbell.jp</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AI回答の骨格。掲載順がそのまま推奨順になる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1"/>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競合の公式サイト</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221616.com（ガリバー）／mota.inc（MOTA）／carnext.jp</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競合は自社発信も引用元。自社は4URLのみ</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業界団体・公的機関</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jpuc.or.jp（4URL）／kokusen.go.jp</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電話・キャンセル・トラブルの根拠。JPUC認定が未接続</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3"/>
                  </a:ext>
                </a:extLst>
              </a:tr>
            </a:tbl>
          </a:graphicData>
        </a:graphic>
      </p:graphicFrame>
      <p:sp>
        <p:nvSpPr>
          <p:cNvPr id="15" name="Text 12"/>
          <p:cNvSpPr/>
          <p:nvPr/>
        </p:nvSpPr>
        <p:spPr>
          <a:xfrm>
            <a:off x="502920" y="5623560"/>
            <a:ext cx="11155680" cy="347472"/>
          </a:xfrm>
          <a:prstGeom prst="rect">
            <a:avLst/>
          </a:prstGeom>
          <a:noFill/>
          <a:ln/>
        </p:spPr>
        <p:txBody>
          <a:bodyPr wrap="square" lIns="0" tIns="0" rIns="0" bIns="0" rtlCol="0" anchor="ctr"/>
          <a:lstStyle/>
          <a:p>
            <a:pPr marL="0" indent="0">
              <a:buNone/>
            </a:pPr>
            <a:r>
              <a:rPr lang="en-US" sz="1100" b="1" dirty="0">
                <a:solidFill>
                  <a:srgbClr val="F57527"/>
                </a:solidFill>
                <a:latin typeface="Noto Sans JP" pitchFamily="34" charset="0"/>
                <a:ea typeface="Noto Sans JP" pitchFamily="34" charset="-122"/>
                <a:cs typeface="Noto Sans JP" pitchFamily="34" charset="-120"/>
              </a:rPr>
              <a:t>AIの答えは少数の第三者メディアが握っている。公式サイトの改善だけでは、この構造は動かない。</a:t>
            </a:r>
            <a:endParaRPr lang="en-US" sz="1100" dirty="0"/>
          </a:p>
        </p:txBody>
      </p:sp>
      <p:sp>
        <p:nvSpPr>
          <p:cNvPr id="16" name="Text 13"/>
          <p:cNvSpPr/>
          <p:nvPr/>
        </p:nvSpPr>
        <p:spPr>
          <a:xfrm>
            <a:off x="502920" y="5989320"/>
            <a:ext cx="1115568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 観測（EmmaTools LLMO サイテーション一覧・2026-08-31取得）｜※無料版は上位サンプルのみ。全媒体の優先度付きリストと掲載獲得の手順は有償分析でご提供します。</a:t>
            </a:r>
            <a:endParaRPr lang="en-US" sz="900" dirty="0"/>
          </a:p>
        </p:txBody>
      </p:sp>
      <p:sp>
        <p:nvSpPr>
          <p:cNvPr id="17" name="Text 14"/>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4" name="Text 15"/>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現状分析③-2 — 競合は載っていて、自社が載っていないページ</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 新規掲載を取りに行く候補（Impact Score 上位5件）</a:t>
            </a:r>
            <a:endParaRPr lang="en-US" sz="2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2852928"/>
        </p:xfrm>
        <a:graphic>
          <a:graphicData uri="http://schemas.openxmlformats.org/drawingml/2006/table">
            <a:tbl>
              <a:tblPr/>
              <a:tblGrid>
                <a:gridCol w="868680">
                  <a:extLst>
                    <a:ext uri="{9D8B030D-6E8A-4147-A177-3AD203B41FA5}">
                      <a16:colId xmlns:a16="http://schemas.microsoft.com/office/drawing/2014/main" val="20000"/>
                    </a:ext>
                  </a:extLst>
                </a:gridCol>
                <a:gridCol w="45262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gridCol w="1901952">
                  <a:extLst>
                    <a:ext uri="{9D8B030D-6E8A-4147-A177-3AD203B41FA5}">
                      <a16:colId xmlns:a16="http://schemas.microsoft.com/office/drawing/2014/main" val="20004"/>
                    </a:ext>
                  </a:extLst>
                </a:gridCol>
              </a:tblGrid>
              <a:tr h="475488">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Impact</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媒体／記事</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引用AI</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掲載している競合</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打ち手のタイプ</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extLst>
                  <a:ext uri="{0D108BD9-81ED-4DB2-BD59-A6C34878D82A}">
                    <a16:rowId xmlns:a16="http://schemas.microsoft.com/office/drawing/2014/main" val="10000"/>
                  </a:ext>
                </a:extLst>
              </a:tr>
              <a:tr h="47548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54</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suzukijiko.co.jp｜車一括査定サイトおすすめランキング</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Gemini5・ChatGPT1</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MOTA・カーセンサー・ユーカーパック 他9社</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記事企画／言及獲得</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1"/>
                  </a:ext>
                </a:extLst>
              </a:tr>
              <a:tr h="47548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50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carbell.jp｜車一括査定サイトのおすすめ8選</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ChatGPT2・Gemini2</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MOTA・ズバット・ユーカーパック 他5社</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記事企画／言及獲得</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48</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car.motor-fan.jp｜車一括査定サイトおすすめTOP10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Gemini1・ChatGPT1</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カーネクスト・MOTA・カーセンサー 他7社</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記事企画／言及獲得</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3"/>
                  </a:ext>
                </a:extLst>
              </a:tr>
              <a:tr h="47548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48</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vertice.jp｜車一括査定サイトおすすめ15選</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Gemini3</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カーネクスト・カーセンサー・ガリバー 他10社</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記事企画／言及獲得</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46</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web.motormagazine.co.jp｜電話なしで使える車一括査定6選</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Gemini2</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MOTA・カーセンサー・ユーカーパック 他9社</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記事企画／言及獲得 ★</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5"/>
                  </a:ext>
                </a:extLst>
              </a:tr>
            </a:tbl>
          </a:graphicData>
        </a:graphic>
      </p:graphicFrame>
      <p:sp>
        <p:nvSpPr>
          <p:cNvPr id="5" name="Shape 2"/>
          <p:cNvSpPr/>
          <p:nvPr/>
        </p:nvSpPr>
        <p:spPr>
          <a:xfrm>
            <a:off x="502920" y="4480560"/>
            <a:ext cx="11183112" cy="1325880"/>
          </a:xfrm>
          <a:prstGeom prst="roundRect">
            <a:avLst>
              <a:gd name="adj" fmla="val 7586"/>
            </a:avLst>
          </a:prstGeom>
          <a:solidFill>
            <a:srgbClr val="4A1F87"/>
          </a:solidFill>
          <a:ln/>
        </p:spPr>
        <p:txBody>
          <a:bodyPr/>
          <a:lstStyle/>
          <a:p>
            <a:endParaRPr lang="ja-JP" altLang="en-US"/>
          </a:p>
        </p:txBody>
      </p:sp>
      <p:sp>
        <p:nvSpPr>
          <p:cNvPr id="6" name="Text 3"/>
          <p:cNvSpPr/>
          <p:nvPr/>
        </p:nvSpPr>
        <p:spPr>
          <a:xfrm>
            <a:off x="777240" y="4572000"/>
            <a:ext cx="10607040" cy="292608"/>
          </a:xfrm>
          <a:prstGeom prst="rect">
            <a:avLst/>
          </a:prstGeom>
          <a:noFill/>
          <a:ln/>
        </p:spPr>
        <p:txBody>
          <a:bodyPr wrap="square" lIns="0" tIns="0" rIns="0" bIns="0" rtlCol="0" anchor="ctr"/>
          <a:lstStyle/>
          <a:p>
            <a:pPr marL="0" indent="0">
              <a:buNone/>
            </a:pPr>
            <a:r>
              <a:rPr lang="en-US" sz="1200" b="1" dirty="0">
                <a:solidFill>
                  <a:srgbClr val="D9CBF2"/>
                </a:solidFill>
                <a:latin typeface="Noto Sans JP" pitchFamily="34" charset="0"/>
                <a:ea typeface="Noto Sans JP" pitchFamily="34" charset="-122"/>
                <a:cs typeface="Noto Sans JP" pitchFamily="34" charset="-120"/>
              </a:rPr>
              <a:t>掲載交渉が“直接”効くのはこちら（買取店ランキング系・当社確認で未掲載）</a:t>
            </a:r>
            <a:endParaRPr lang="en-US" sz="1200" dirty="0"/>
          </a:p>
        </p:txBody>
      </p:sp>
      <p:sp>
        <p:nvSpPr>
          <p:cNvPr id="7" name="Text 4"/>
          <p:cNvSpPr/>
          <p:nvPr/>
        </p:nvSpPr>
        <p:spPr>
          <a:xfrm>
            <a:off x="777240" y="4882896"/>
            <a:ext cx="10607040" cy="850392"/>
          </a:xfrm>
          <a:prstGeom prst="rect">
            <a:avLst/>
          </a:prstGeom>
          <a:noFill/>
          <a:ln/>
        </p:spPr>
        <p:txBody>
          <a:bodyPr wrap="square" lIns="0" tIns="0" rIns="0" bIns="0" rtlCol="0" anchor="ctr"/>
          <a:lstStyle/>
          <a:p>
            <a:pPr marL="0" indent="0">
              <a:lnSpc>
                <a:spcPct val="130000"/>
              </a:lnSpc>
              <a:buNone/>
            </a:pPr>
            <a:r>
              <a:rPr lang="en-US" sz="1050" dirty="0">
                <a:solidFill>
                  <a:srgbClr val="FFFFFF"/>
                </a:solidFill>
                <a:latin typeface="Noto Sans JP" pitchFamily="34" charset="0"/>
                <a:ea typeface="Noto Sans JP" pitchFamily="34" charset="-122"/>
                <a:cs typeface="Noto Sans JP" pitchFamily="34" charset="-120"/>
              </a:rPr>
              <a:t>carbell.jp「東京の車買取おすすめ11選」（Impact 36／MOTA・カーネクスト・ネクステージ ほか6社掲載）／carbell.jp「大阪の車買取おすすめ18選」（36／8社掲載）／kaitori.carview.co.jp「東京の中古車買取店ランキングTOP5」（36／ネクステージ・オートバックス ほか5社掲載）。</a:t>
            </a:r>
            <a:endParaRPr lang="en-US" sz="1050" dirty="0"/>
          </a:p>
          <a:p>
            <a:pPr marL="0" indent="0">
              <a:lnSpc>
                <a:spcPct val="130000"/>
              </a:lnSpc>
              <a:buNone/>
            </a:pPr>
            <a:r>
              <a:rPr lang="en-US" sz="1050" dirty="0">
                <a:solidFill>
                  <a:srgbClr val="FFFFFF"/>
                </a:solidFill>
                <a:latin typeface="Noto Sans JP" pitchFamily="34" charset="0"/>
                <a:ea typeface="Noto Sans JP" pitchFamily="34" charset="-122"/>
                <a:cs typeface="Noto Sans JP" pitchFamily="34" charset="-120"/>
              </a:rPr>
              <a:t>上位5件はいずれも“一括査定サイト”のランキングで、直接買取のカーセブン様は記事の趣旨上そのままでは掲載枠がありません（打ち手は記事企画・言及獲得）。一方、全国FC網を持ちながらエリア系の買取店ランキングに載っていないこの3本は、掲載交渉がそのまま効く枠です。</a:t>
            </a:r>
            <a:endParaRPr lang="en-US" sz="1050" dirty="0"/>
          </a:p>
        </p:txBody>
      </p:sp>
      <p:sp>
        <p:nvSpPr>
          <p:cNvPr id="8" name="Text 5"/>
          <p:cNvSpPr/>
          <p:nvPr/>
        </p:nvSpPr>
        <p:spPr>
          <a:xfrm>
            <a:off x="502920" y="5989320"/>
            <a:ext cx="1115568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 Impact Score・引用AI＝観測（EmmaTools LLMO・2026-08-31取得）／掲載有無・掲載競合＝当社が2026-08-31にページ本文を確認｜🟡 打ち手のタイプは当社判断</a:t>
            </a:r>
            <a:endParaRPr lang="en-US" sz="900" dirty="0"/>
          </a:p>
        </p:txBody>
      </p:sp>
      <p:sp>
        <p:nvSpPr>
          <p:cNvPr id="9"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0"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現状分析③-3 — 載ってはいるが、順位が低いページ</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 掲載順位の引き上げを狙う候補（Impact Score 上位5件）</a:t>
            </a:r>
            <a:endParaRPr lang="en-US" sz="2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2852928"/>
        </p:xfrm>
        <a:graphic>
          <a:graphicData uri="http://schemas.openxmlformats.org/drawingml/2006/table">
            <a:tbl>
              <a:tblPr/>
              <a:tblGrid>
                <a:gridCol w="868680">
                  <a:extLst>
                    <a:ext uri="{9D8B030D-6E8A-4147-A177-3AD203B41FA5}">
                      <a16:colId xmlns:a16="http://schemas.microsoft.com/office/drawing/2014/main" val="20000"/>
                    </a:ext>
                  </a:extLst>
                </a:gridCol>
                <a:gridCol w="45262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2862072">
                  <a:extLst>
                    <a:ext uri="{9D8B030D-6E8A-4147-A177-3AD203B41FA5}">
                      <a16:colId xmlns:a16="http://schemas.microsoft.com/office/drawing/2014/main" val="20004"/>
                    </a:ext>
                  </a:extLst>
                </a:gridCol>
              </a:tblGrid>
              <a:tr h="475488">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Impact</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媒体／記事</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引用AI</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自社の位置</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上位に載っている競合</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extLst>
                  <a:ext uri="{0D108BD9-81ED-4DB2-BD59-A6C34878D82A}">
                    <a16:rowId xmlns:a16="http://schemas.microsoft.com/office/drawing/2014/main" val="10000"/>
                  </a:ext>
                </a:extLst>
              </a:tr>
              <a:tr h="47548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54</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car.motor-fan.jp｜車買取おすすめランキングTOP15</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Gemini5・ChatGPT1</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4番目</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カーネクスト・ガリバー</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1"/>
                  </a:ext>
                </a:extLst>
              </a:tr>
              <a:tr h="47548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46</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navikuru.jp｜車買取のおすすめ業者ランキング</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Gemini2</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6番目</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オートバックス・ネクステージ・WECARS・ユーポス</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36</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kai.carmo-kun.jp｜車買取おすすめランキング（利用者389人）</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Gemini1</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4番目</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MOTA・アップル・オートバックス</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3"/>
                  </a:ext>
                </a:extLst>
              </a:tr>
              <a:tr h="47548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36</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life.oricon.co.jp｜オリコン顧客満足度ランキング</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Gemini1</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5番目</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アップル・ラビット・ユーポス・オートバックス</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36</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kaitori.carview.co.jp｜人気の買取業者ランキングTOP3</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Gemini1</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3番目（TOP3の最後）</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オートバックス・ネクステージ</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5"/>
                  </a:ext>
                </a:extLst>
              </a:tr>
            </a:tbl>
          </a:graphicData>
        </a:graphic>
      </p:graphicFrame>
      <p:sp>
        <p:nvSpPr>
          <p:cNvPr id="5" name="Shape 2"/>
          <p:cNvSpPr/>
          <p:nvPr/>
        </p:nvSpPr>
        <p:spPr>
          <a:xfrm>
            <a:off x="502920" y="4480560"/>
            <a:ext cx="11183112" cy="1188720"/>
          </a:xfrm>
          <a:prstGeom prst="roundRect">
            <a:avLst>
              <a:gd name="adj" fmla="val 8462"/>
            </a:avLst>
          </a:prstGeom>
          <a:solidFill>
            <a:srgbClr val="4A1F87"/>
          </a:solidFill>
          <a:ln/>
        </p:spPr>
        <p:txBody>
          <a:bodyPr/>
          <a:lstStyle/>
          <a:p>
            <a:endParaRPr lang="ja-JP" altLang="en-US"/>
          </a:p>
        </p:txBody>
      </p:sp>
      <p:sp>
        <p:nvSpPr>
          <p:cNvPr id="6" name="Text 3"/>
          <p:cNvSpPr/>
          <p:nvPr/>
        </p:nvSpPr>
        <p:spPr>
          <a:xfrm>
            <a:off x="777240" y="4572000"/>
            <a:ext cx="10607040" cy="292608"/>
          </a:xfrm>
          <a:prstGeom prst="rect">
            <a:avLst/>
          </a:prstGeom>
          <a:noFill/>
          <a:ln/>
        </p:spPr>
        <p:txBody>
          <a:bodyPr wrap="square" lIns="0" tIns="0" rIns="0" bIns="0" rtlCol="0" anchor="ctr"/>
          <a:lstStyle/>
          <a:p>
            <a:pPr marL="0" indent="0">
              <a:buNone/>
            </a:pPr>
            <a:r>
              <a:rPr lang="en-US" sz="1200" b="1" dirty="0">
                <a:solidFill>
                  <a:srgbClr val="D9CBF2"/>
                </a:solidFill>
                <a:latin typeface="Noto Sans JP" pitchFamily="34" charset="0"/>
                <a:ea typeface="Noto Sans JP" pitchFamily="34" charset="-122"/>
                <a:cs typeface="Noto Sans JP" pitchFamily="34" charset="-120"/>
              </a:rPr>
              <a:t>このリストは今後さらに広がります</a:t>
            </a:r>
            <a:endParaRPr lang="en-US" sz="1200" dirty="0"/>
          </a:p>
        </p:txBody>
      </p:sp>
      <p:sp>
        <p:nvSpPr>
          <p:cNvPr id="7" name="Text 4"/>
          <p:cNvSpPr/>
          <p:nvPr/>
        </p:nvSpPr>
        <p:spPr>
          <a:xfrm>
            <a:off x="777240" y="4882896"/>
            <a:ext cx="10607040" cy="713232"/>
          </a:xfrm>
          <a:prstGeom prst="rect">
            <a:avLst/>
          </a:prstGeom>
          <a:noFill/>
          <a:ln/>
        </p:spPr>
        <p:txBody>
          <a:bodyPr wrap="square" lIns="0" tIns="0" rIns="0" bIns="0" rtlCol="0" anchor="ctr"/>
          <a:lstStyle/>
          <a:p>
            <a:pPr marL="0" indent="0">
              <a:lnSpc>
                <a:spcPct val="130000"/>
              </a:lnSpc>
              <a:buNone/>
            </a:pPr>
            <a:r>
              <a:rPr lang="en-US" sz="1050" dirty="0">
                <a:solidFill>
                  <a:srgbClr val="FFFFFF"/>
                </a:solidFill>
                <a:latin typeface="Noto Sans JP" pitchFamily="34" charset="0"/>
                <a:ea typeface="Noto Sans JP" pitchFamily="34" charset="-122"/>
                <a:cs typeface="Noto Sans JP" pitchFamily="34" charset="-120"/>
              </a:rPr>
              <a:t>引用元メディアは、計測したプロンプトへのAI回答から検出されます。本レポートは無料分析のため、プロンプト50本の範囲での結果であり、検出された媒体もその範囲に限られます。</a:t>
            </a:r>
            <a:endParaRPr lang="en-US" sz="1050" dirty="0"/>
          </a:p>
          <a:p>
            <a:pPr marL="0" indent="0">
              <a:lnSpc>
                <a:spcPct val="130000"/>
              </a:lnSpc>
              <a:buNone/>
            </a:pPr>
            <a:r>
              <a:rPr lang="en-US" sz="1050" dirty="0">
                <a:solidFill>
                  <a:srgbClr val="FFFFFF"/>
                </a:solidFill>
                <a:latin typeface="Noto Sans JP" pitchFamily="34" charset="0"/>
                <a:ea typeface="Noto Sans JP" pitchFamily="34" charset="-122"/>
                <a:cs typeface="Noto Sans JP" pitchFamily="34" charset="-120"/>
              </a:rPr>
              <a:t>計測プロンプトを拡張し継続的にモニタリングすることで、引用元分析の対象が広がり、掲載を狙うべきメディアのリストは拡充されていきます。</a:t>
            </a:r>
            <a:endParaRPr lang="en-US" sz="1050" dirty="0"/>
          </a:p>
        </p:txBody>
      </p:sp>
      <p:sp>
        <p:nvSpPr>
          <p:cNvPr id="8" name="Text 5"/>
          <p:cNvSpPr/>
          <p:nvPr/>
        </p:nvSpPr>
        <p:spPr>
          <a:xfrm>
            <a:off x="502920" y="5989320"/>
            <a:ext cx="1115568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 Impact Score・引用AI＝観測（EmmaTools LLMO・2026-08-31取得）／自社の位置・競合＝当社が2026-08-31にページ本文の出現順で確認（ツールの「競合順位レーン」と同じ定義）</a:t>
            </a:r>
            <a:endParaRPr lang="en-US" sz="900" dirty="0"/>
          </a:p>
        </p:txBody>
      </p:sp>
      <p:sp>
        <p:nvSpPr>
          <p:cNvPr id="9"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0"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現状分析④ — サイト要因診断</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AIに引用されやすいサイトになっているか（35シグナル評価・200ページ）</a:t>
            </a:r>
            <a:endParaRPr lang="en-US" sz="2500" dirty="0"/>
          </a:p>
        </p:txBody>
      </p:sp>
      <p:sp>
        <p:nvSpPr>
          <p:cNvPr id="4" name="Shape 2"/>
          <p:cNvSpPr/>
          <p:nvPr/>
        </p:nvSpPr>
        <p:spPr>
          <a:xfrm>
            <a:off x="502920" y="1600200"/>
            <a:ext cx="3291840" cy="2651760"/>
          </a:xfrm>
          <a:prstGeom prst="roundRect">
            <a:avLst>
              <a:gd name="adj" fmla="val 3793"/>
            </a:avLst>
          </a:prstGeom>
          <a:solidFill>
            <a:srgbClr val="F0E6FC"/>
          </a:solidFill>
          <a:ln/>
        </p:spPr>
        <p:txBody>
          <a:bodyPr/>
          <a:lstStyle/>
          <a:p>
            <a:endParaRPr lang="ja-JP" altLang="en-US"/>
          </a:p>
        </p:txBody>
      </p:sp>
      <p:sp>
        <p:nvSpPr>
          <p:cNvPr id="5" name="Text 3"/>
          <p:cNvSpPr/>
          <p:nvPr/>
        </p:nvSpPr>
        <p:spPr>
          <a:xfrm>
            <a:off x="777240" y="1828800"/>
            <a:ext cx="2743200" cy="822960"/>
          </a:xfrm>
          <a:prstGeom prst="rect">
            <a:avLst/>
          </a:prstGeom>
          <a:noFill/>
          <a:ln/>
        </p:spPr>
        <p:txBody>
          <a:bodyPr wrap="square" lIns="0" tIns="0" rIns="0" bIns="0" rtlCol="0" anchor="ctr"/>
          <a:lstStyle/>
          <a:p>
            <a:pPr marL="0" indent="0">
              <a:buNone/>
            </a:pPr>
            <a:r>
              <a:rPr lang="en-US" sz="4200" b="1" dirty="0">
                <a:solidFill>
                  <a:srgbClr val="8541DC"/>
                </a:solidFill>
                <a:latin typeface="Noto Sans JP" pitchFamily="34" charset="0"/>
                <a:ea typeface="Noto Sans JP" pitchFamily="34" charset="-122"/>
                <a:cs typeface="Noto Sans JP" pitchFamily="34" charset="-120"/>
              </a:rPr>
              <a:t>53.0</a:t>
            </a:r>
            <a:endParaRPr lang="en-US" sz="4200" dirty="0"/>
          </a:p>
        </p:txBody>
      </p:sp>
      <p:sp>
        <p:nvSpPr>
          <p:cNvPr id="6" name="Text 4"/>
          <p:cNvSpPr/>
          <p:nvPr/>
        </p:nvSpPr>
        <p:spPr>
          <a:xfrm>
            <a:off x="777240" y="2697480"/>
            <a:ext cx="2743200" cy="320040"/>
          </a:xfrm>
          <a:prstGeom prst="rect">
            <a:avLst/>
          </a:prstGeom>
          <a:noFill/>
          <a:ln/>
        </p:spPr>
        <p:txBody>
          <a:bodyPr wrap="square" lIns="0" tIns="0" rIns="0" bIns="0" rtlCol="0" anchor="ctr"/>
          <a:lstStyle/>
          <a:p>
            <a:pPr marL="0" indent="0">
              <a:buNone/>
            </a:pPr>
            <a:r>
              <a:rPr lang="en-US" sz="1100" b="1" dirty="0">
                <a:solidFill>
                  <a:srgbClr val="222222"/>
                </a:solidFill>
                <a:latin typeface="Noto Sans JP" pitchFamily="34" charset="0"/>
                <a:ea typeface="Noto Sans JP" pitchFamily="34" charset="-122"/>
                <a:cs typeface="Noto Sans JP" pitchFamily="34" charset="-120"/>
              </a:rPr>
              <a:t>平均スコア（100点満点）</a:t>
            </a:r>
            <a:endParaRPr lang="en-US" sz="1100" dirty="0"/>
          </a:p>
        </p:txBody>
      </p:sp>
      <p:sp>
        <p:nvSpPr>
          <p:cNvPr id="7" name="Text 5"/>
          <p:cNvSpPr/>
          <p:nvPr/>
        </p:nvSpPr>
        <p:spPr>
          <a:xfrm>
            <a:off x="777240" y="3063240"/>
            <a:ext cx="2743200" cy="32004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診断対象：200 ページ</a:t>
            </a:r>
            <a:endParaRPr lang="en-US" sz="1050" dirty="0"/>
          </a:p>
        </p:txBody>
      </p:sp>
      <p:sp>
        <p:nvSpPr>
          <p:cNvPr id="8" name="Text 6"/>
          <p:cNvSpPr/>
          <p:nvPr/>
        </p:nvSpPr>
        <p:spPr>
          <a:xfrm>
            <a:off x="777240" y="3429000"/>
            <a:ext cx="2743200" cy="731520"/>
          </a:xfrm>
          <a:prstGeom prst="rect">
            <a:avLst/>
          </a:prstGeom>
          <a:noFill/>
          <a:ln/>
        </p:spPr>
        <p:txBody>
          <a:bodyPr wrap="square" lIns="0" tIns="0" rIns="0" bIns="0" rtlCol="0" anchor="ctr"/>
          <a:lstStyle/>
          <a:p>
            <a:pPr marL="0" indent="0">
              <a:lnSpc>
                <a:spcPct val="125000"/>
              </a:lnSpc>
              <a:buNone/>
            </a:pPr>
            <a:r>
              <a:rPr lang="en-US" sz="950" dirty="0">
                <a:solidFill>
                  <a:srgbClr val="8A8F98"/>
                </a:solidFill>
                <a:latin typeface="Noto Sans JP" pitchFamily="34" charset="0"/>
                <a:ea typeface="Noto Sans JP" pitchFamily="34" charset="-122"/>
                <a:cs typeface="Noto Sans JP" pitchFamily="34" charset="-120"/>
              </a:rPr>
              <a:t>S帯（80点以上）は0ページ、A帯も6ページのみ。200ページ中194ページが40〜59点のB帯に集中している。</a:t>
            </a:r>
            <a:endParaRPr lang="en-US" sz="950" dirty="0"/>
          </a:p>
        </p:txBody>
      </p:sp>
      <p:sp>
        <p:nvSpPr>
          <p:cNvPr id="9" name="Shape 7"/>
          <p:cNvSpPr/>
          <p:nvPr/>
        </p:nvSpPr>
        <p:spPr>
          <a:xfrm>
            <a:off x="3977640" y="1600200"/>
            <a:ext cx="7708392" cy="2651760"/>
          </a:xfrm>
          <a:prstGeom prst="roundRect">
            <a:avLst>
              <a:gd name="adj" fmla="val 3793"/>
            </a:avLst>
          </a:prstGeom>
          <a:solidFill>
            <a:srgbClr val="FFFFFF"/>
          </a:solidFill>
          <a:ln w="12700">
            <a:solidFill>
              <a:srgbClr val="E5E5EA"/>
            </a:solidFill>
            <a:prstDash val="solid"/>
          </a:ln>
        </p:spPr>
        <p:txBody>
          <a:bodyPr/>
          <a:lstStyle/>
          <a:p>
            <a:endParaRPr lang="ja-JP" altLang="en-US"/>
          </a:p>
        </p:txBody>
      </p:sp>
      <p:sp>
        <p:nvSpPr>
          <p:cNvPr id="10" name="Text 8"/>
          <p:cNvSpPr/>
          <p:nvPr/>
        </p:nvSpPr>
        <p:spPr>
          <a:xfrm>
            <a:off x="4251960" y="1755648"/>
            <a:ext cx="3657600" cy="292608"/>
          </a:xfrm>
          <a:prstGeom prst="rect">
            <a:avLst/>
          </a:prstGeom>
          <a:noFill/>
          <a:ln/>
        </p:spPr>
        <p:txBody>
          <a:bodyPr wrap="square" lIns="0" tIns="0" rIns="0" bIns="0" rtlCol="0" anchor="ctr"/>
          <a:lstStyle/>
          <a:p>
            <a:pPr marL="0" indent="0">
              <a:buNone/>
            </a:pPr>
            <a:r>
              <a:rPr lang="en-US" sz="1150" b="1" dirty="0">
                <a:solidFill>
                  <a:srgbClr val="4A1F87"/>
                </a:solidFill>
                <a:latin typeface="Noto Sans JP" pitchFamily="34" charset="0"/>
                <a:ea typeface="Noto Sans JP" pitchFamily="34" charset="-122"/>
                <a:cs typeface="Noto Sans JP" pitchFamily="34" charset="-120"/>
              </a:rPr>
              <a:t>スコア分布</a:t>
            </a:r>
            <a:endParaRPr lang="en-US" sz="1150" dirty="0"/>
          </a:p>
        </p:txBody>
      </p:sp>
      <p:sp>
        <p:nvSpPr>
          <p:cNvPr id="11" name="Text 9"/>
          <p:cNvSpPr/>
          <p:nvPr/>
        </p:nvSpPr>
        <p:spPr>
          <a:xfrm>
            <a:off x="4251960" y="2121408"/>
            <a:ext cx="2103120" cy="310896"/>
          </a:xfrm>
          <a:prstGeom prst="rect">
            <a:avLst/>
          </a:prstGeom>
          <a:noFill/>
          <a:ln/>
        </p:spPr>
        <p:txBody>
          <a:bodyPr wrap="square" lIns="0" tIns="0" rIns="0" bIns="0" rtlCol="0" anchor="ctr"/>
          <a:lstStyle/>
          <a:p>
            <a:pPr marL="0" indent="0">
              <a:buNone/>
            </a:pPr>
            <a:r>
              <a:rPr lang="en-US" sz="1050" b="1" dirty="0">
                <a:solidFill>
                  <a:srgbClr val="222222"/>
                </a:solidFill>
                <a:latin typeface="Noto Sans JP" pitchFamily="34" charset="0"/>
                <a:ea typeface="Noto Sans JP" pitchFamily="34" charset="-122"/>
                <a:cs typeface="Noto Sans JP" pitchFamily="34" charset="-120"/>
              </a:rPr>
              <a:t>S（80点以上）</a:t>
            </a:r>
            <a:endParaRPr lang="en-US" sz="1050" dirty="0"/>
          </a:p>
        </p:txBody>
      </p:sp>
      <p:sp>
        <p:nvSpPr>
          <p:cNvPr id="12" name="Shape 10"/>
          <p:cNvSpPr/>
          <p:nvPr/>
        </p:nvSpPr>
        <p:spPr>
          <a:xfrm>
            <a:off x="6446520" y="2148840"/>
            <a:ext cx="3886200" cy="256032"/>
          </a:xfrm>
          <a:prstGeom prst="roundRect">
            <a:avLst>
              <a:gd name="adj" fmla="val 14286"/>
            </a:avLst>
          </a:prstGeom>
          <a:solidFill>
            <a:srgbClr val="E7DBF7"/>
          </a:solidFill>
          <a:ln/>
        </p:spPr>
        <p:txBody>
          <a:bodyPr/>
          <a:lstStyle/>
          <a:p>
            <a:endParaRPr lang="ja-JP" altLang="en-US"/>
          </a:p>
        </p:txBody>
      </p:sp>
      <p:sp>
        <p:nvSpPr>
          <p:cNvPr id="13" name="Shape 11"/>
          <p:cNvSpPr/>
          <p:nvPr/>
        </p:nvSpPr>
        <p:spPr>
          <a:xfrm>
            <a:off x="6446520" y="2148840"/>
            <a:ext cx="27432" cy="256032"/>
          </a:xfrm>
          <a:prstGeom prst="roundRect">
            <a:avLst>
              <a:gd name="adj" fmla="val 133333"/>
            </a:avLst>
          </a:prstGeom>
          <a:solidFill>
            <a:srgbClr val="8541DC"/>
          </a:solidFill>
          <a:ln/>
        </p:spPr>
        <p:txBody>
          <a:bodyPr/>
          <a:lstStyle/>
          <a:p>
            <a:endParaRPr lang="ja-JP" altLang="en-US"/>
          </a:p>
        </p:txBody>
      </p:sp>
      <p:sp>
        <p:nvSpPr>
          <p:cNvPr id="14" name="Text 12"/>
          <p:cNvSpPr/>
          <p:nvPr/>
        </p:nvSpPr>
        <p:spPr>
          <a:xfrm>
            <a:off x="10424160" y="2121408"/>
            <a:ext cx="1005840" cy="310896"/>
          </a:xfrm>
          <a:prstGeom prst="rect">
            <a:avLst/>
          </a:prstGeom>
          <a:noFill/>
          <a:ln/>
        </p:spPr>
        <p:txBody>
          <a:bodyPr wrap="square" lIns="0" tIns="0" rIns="0" bIns="0" rtlCol="0" anchor="ctr"/>
          <a:lstStyle/>
          <a:p>
            <a:pPr marL="0" indent="0">
              <a:buNone/>
            </a:pPr>
            <a:r>
              <a:rPr lang="en-US" sz="1000" b="1" dirty="0">
                <a:solidFill>
                  <a:srgbClr val="8541DC"/>
                </a:solidFill>
                <a:latin typeface="Noto Sans JP" pitchFamily="34" charset="0"/>
                <a:ea typeface="Noto Sans JP" pitchFamily="34" charset="-122"/>
                <a:cs typeface="Noto Sans JP" pitchFamily="34" charset="-120"/>
              </a:rPr>
              <a:t>0%  0頁</a:t>
            </a:r>
            <a:endParaRPr lang="en-US" sz="1000" dirty="0"/>
          </a:p>
        </p:txBody>
      </p:sp>
      <p:sp>
        <p:nvSpPr>
          <p:cNvPr id="15" name="Text 13"/>
          <p:cNvSpPr/>
          <p:nvPr/>
        </p:nvSpPr>
        <p:spPr>
          <a:xfrm>
            <a:off x="4251960" y="2633472"/>
            <a:ext cx="2103120" cy="310896"/>
          </a:xfrm>
          <a:prstGeom prst="rect">
            <a:avLst/>
          </a:prstGeom>
          <a:noFill/>
          <a:ln/>
        </p:spPr>
        <p:txBody>
          <a:bodyPr wrap="square" lIns="0" tIns="0" rIns="0" bIns="0" rtlCol="0" anchor="ctr"/>
          <a:lstStyle/>
          <a:p>
            <a:pPr marL="0" indent="0">
              <a:buNone/>
            </a:pPr>
            <a:r>
              <a:rPr lang="en-US" sz="1050" b="1" dirty="0">
                <a:solidFill>
                  <a:srgbClr val="222222"/>
                </a:solidFill>
                <a:latin typeface="Noto Sans JP" pitchFamily="34" charset="0"/>
                <a:ea typeface="Noto Sans JP" pitchFamily="34" charset="-122"/>
                <a:cs typeface="Noto Sans JP" pitchFamily="34" charset="-120"/>
              </a:rPr>
              <a:t>A（60〜79点）</a:t>
            </a:r>
            <a:endParaRPr lang="en-US" sz="1050" dirty="0"/>
          </a:p>
        </p:txBody>
      </p:sp>
      <p:sp>
        <p:nvSpPr>
          <p:cNvPr id="16" name="Shape 14"/>
          <p:cNvSpPr/>
          <p:nvPr/>
        </p:nvSpPr>
        <p:spPr>
          <a:xfrm>
            <a:off x="6446520" y="2660904"/>
            <a:ext cx="3886200" cy="256032"/>
          </a:xfrm>
          <a:prstGeom prst="roundRect">
            <a:avLst>
              <a:gd name="adj" fmla="val 14286"/>
            </a:avLst>
          </a:prstGeom>
          <a:solidFill>
            <a:srgbClr val="E7DBF7"/>
          </a:solidFill>
          <a:ln/>
        </p:spPr>
        <p:txBody>
          <a:bodyPr/>
          <a:lstStyle/>
          <a:p>
            <a:endParaRPr lang="ja-JP" altLang="en-US"/>
          </a:p>
        </p:txBody>
      </p:sp>
      <p:sp>
        <p:nvSpPr>
          <p:cNvPr id="17" name="Shape 15"/>
          <p:cNvSpPr/>
          <p:nvPr/>
        </p:nvSpPr>
        <p:spPr>
          <a:xfrm>
            <a:off x="6446520" y="2660904"/>
            <a:ext cx="116586" cy="256032"/>
          </a:xfrm>
          <a:prstGeom prst="roundRect">
            <a:avLst>
              <a:gd name="adj" fmla="val 31373"/>
            </a:avLst>
          </a:prstGeom>
          <a:solidFill>
            <a:srgbClr val="A970E8"/>
          </a:solidFill>
          <a:ln/>
        </p:spPr>
        <p:txBody>
          <a:bodyPr/>
          <a:lstStyle/>
          <a:p>
            <a:endParaRPr lang="ja-JP" altLang="en-US"/>
          </a:p>
        </p:txBody>
      </p:sp>
      <p:sp>
        <p:nvSpPr>
          <p:cNvPr id="18" name="Text 16"/>
          <p:cNvSpPr/>
          <p:nvPr/>
        </p:nvSpPr>
        <p:spPr>
          <a:xfrm>
            <a:off x="10424160" y="2633472"/>
            <a:ext cx="1005840" cy="310896"/>
          </a:xfrm>
          <a:prstGeom prst="rect">
            <a:avLst/>
          </a:prstGeom>
          <a:noFill/>
          <a:ln/>
        </p:spPr>
        <p:txBody>
          <a:bodyPr wrap="square" lIns="0" tIns="0" rIns="0" bIns="0" rtlCol="0" anchor="ctr"/>
          <a:lstStyle/>
          <a:p>
            <a:pPr marL="0" indent="0">
              <a:buNone/>
            </a:pPr>
            <a:r>
              <a:rPr lang="en-US" sz="1000" b="1" dirty="0">
                <a:solidFill>
                  <a:srgbClr val="A970E8"/>
                </a:solidFill>
                <a:latin typeface="Noto Sans JP" pitchFamily="34" charset="0"/>
                <a:ea typeface="Noto Sans JP" pitchFamily="34" charset="-122"/>
                <a:cs typeface="Noto Sans JP" pitchFamily="34" charset="-120"/>
              </a:rPr>
              <a:t>3%  6頁</a:t>
            </a:r>
            <a:endParaRPr lang="en-US" sz="1000" dirty="0"/>
          </a:p>
        </p:txBody>
      </p:sp>
      <p:sp>
        <p:nvSpPr>
          <p:cNvPr id="19" name="Text 17"/>
          <p:cNvSpPr/>
          <p:nvPr/>
        </p:nvSpPr>
        <p:spPr>
          <a:xfrm>
            <a:off x="4251960" y="3145536"/>
            <a:ext cx="2103120" cy="310896"/>
          </a:xfrm>
          <a:prstGeom prst="rect">
            <a:avLst/>
          </a:prstGeom>
          <a:noFill/>
          <a:ln/>
        </p:spPr>
        <p:txBody>
          <a:bodyPr wrap="square" lIns="0" tIns="0" rIns="0" bIns="0" rtlCol="0" anchor="ctr"/>
          <a:lstStyle/>
          <a:p>
            <a:pPr marL="0" indent="0">
              <a:buNone/>
            </a:pPr>
            <a:r>
              <a:rPr lang="en-US" sz="1050" b="1" dirty="0">
                <a:solidFill>
                  <a:srgbClr val="222222"/>
                </a:solidFill>
                <a:latin typeface="Noto Sans JP" pitchFamily="34" charset="0"/>
                <a:ea typeface="Noto Sans JP" pitchFamily="34" charset="-122"/>
                <a:cs typeface="Noto Sans JP" pitchFamily="34" charset="-120"/>
              </a:rPr>
              <a:t>B（40〜59点）</a:t>
            </a:r>
            <a:endParaRPr lang="en-US" sz="1050" dirty="0"/>
          </a:p>
        </p:txBody>
      </p:sp>
      <p:sp>
        <p:nvSpPr>
          <p:cNvPr id="20" name="Shape 18"/>
          <p:cNvSpPr/>
          <p:nvPr/>
        </p:nvSpPr>
        <p:spPr>
          <a:xfrm>
            <a:off x="6446520" y="3172968"/>
            <a:ext cx="3886200" cy="256032"/>
          </a:xfrm>
          <a:prstGeom prst="roundRect">
            <a:avLst>
              <a:gd name="adj" fmla="val 14286"/>
            </a:avLst>
          </a:prstGeom>
          <a:solidFill>
            <a:srgbClr val="E7DBF7"/>
          </a:solidFill>
          <a:ln/>
        </p:spPr>
        <p:txBody>
          <a:bodyPr/>
          <a:lstStyle/>
          <a:p>
            <a:endParaRPr lang="ja-JP" altLang="en-US"/>
          </a:p>
        </p:txBody>
      </p:sp>
      <p:sp>
        <p:nvSpPr>
          <p:cNvPr id="21" name="Shape 19"/>
          <p:cNvSpPr/>
          <p:nvPr/>
        </p:nvSpPr>
        <p:spPr>
          <a:xfrm>
            <a:off x="6446520" y="3172968"/>
            <a:ext cx="3769614" cy="256032"/>
          </a:xfrm>
          <a:prstGeom prst="roundRect">
            <a:avLst>
              <a:gd name="adj" fmla="val 14286"/>
            </a:avLst>
          </a:prstGeom>
          <a:solidFill>
            <a:srgbClr val="F57527"/>
          </a:solidFill>
          <a:ln/>
        </p:spPr>
        <p:txBody>
          <a:bodyPr/>
          <a:lstStyle/>
          <a:p>
            <a:endParaRPr lang="ja-JP" altLang="en-US"/>
          </a:p>
        </p:txBody>
      </p:sp>
      <p:sp>
        <p:nvSpPr>
          <p:cNvPr id="22" name="Text 20"/>
          <p:cNvSpPr/>
          <p:nvPr/>
        </p:nvSpPr>
        <p:spPr>
          <a:xfrm>
            <a:off x="10424160" y="3145536"/>
            <a:ext cx="1005840" cy="310896"/>
          </a:xfrm>
          <a:prstGeom prst="rect">
            <a:avLst/>
          </a:prstGeom>
          <a:noFill/>
          <a:ln/>
        </p:spPr>
        <p:txBody>
          <a:bodyPr wrap="square" lIns="0" tIns="0" rIns="0" bIns="0" rtlCol="0" anchor="ctr"/>
          <a:lstStyle/>
          <a:p>
            <a:pPr marL="0" indent="0">
              <a:buNone/>
            </a:pPr>
            <a:r>
              <a:rPr lang="en-US" sz="1000" b="1" dirty="0">
                <a:solidFill>
                  <a:srgbClr val="F57527"/>
                </a:solidFill>
                <a:latin typeface="Noto Sans JP" pitchFamily="34" charset="0"/>
                <a:ea typeface="Noto Sans JP" pitchFamily="34" charset="-122"/>
                <a:cs typeface="Noto Sans JP" pitchFamily="34" charset="-120"/>
              </a:rPr>
              <a:t>97%  194頁</a:t>
            </a:r>
            <a:endParaRPr lang="en-US" sz="1000" dirty="0"/>
          </a:p>
        </p:txBody>
      </p:sp>
      <p:sp>
        <p:nvSpPr>
          <p:cNvPr id="23" name="Text 21"/>
          <p:cNvSpPr/>
          <p:nvPr/>
        </p:nvSpPr>
        <p:spPr>
          <a:xfrm>
            <a:off x="4251960" y="3657600"/>
            <a:ext cx="2103120" cy="310896"/>
          </a:xfrm>
          <a:prstGeom prst="rect">
            <a:avLst/>
          </a:prstGeom>
          <a:noFill/>
          <a:ln/>
        </p:spPr>
        <p:txBody>
          <a:bodyPr wrap="square" lIns="0" tIns="0" rIns="0" bIns="0" rtlCol="0" anchor="ctr"/>
          <a:lstStyle/>
          <a:p>
            <a:pPr marL="0" indent="0">
              <a:buNone/>
            </a:pPr>
            <a:r>
              <a:rPr lang="en-US" sz="1050" b="1" dirty="0">
                <a:solidFill>
                  <a:srgbClr val="222222"/>
                </a:solidFill>
                <a:latin typeface="Noto Sans JP" pitchFamily="34" charset="0"/>
                <a:ea typeface="Noto Sans JP" pitchFamily="34" charset="-122"/>
                <a:cs typeface="Noto Sans JP" pitchFamily="34" charset="-120"/>
              </a:rPr>
              <a:t>C（40点未満）</a:t>
            </a:r>
            <a:endParaRPr lang="en-US" sz="1050" dirty="0"/>
          </a:p>
        </p:txBody>
      </p:sp>
      <p:sp>
        <p:nvSpPr>
          <p:cNvPr id="24" name="Shape 22"/>
          <p:cNvSpPr/>
          <p:nvPr/>
        </p:nvSpPr>
        <p:spPr>
          <a:xfrm>
            <a:off x="6446520" y="3685032"/>
            <a:ext cx="3886200" cy="256032"/>
          </a:xfrm>
          <a:prstGeom prst="roundRect">
            <a:avLst>
              <a:gd name="adj" fmla="val 14286"/>
            </a:avLst>
          </a:prstGeom>
          <a:solidFill>
            <a:srgbClr val="E7DBF7"/>
          </a:solidFill>
          <a:ln/>
        </p:spPr>
        <p:txBody>
          <a:bodyPr/>
          <a:lstStyle/>
          <a:p>
            <a:endParaRPr lang="ja-JP" altLang="en-US"/>
          </a:p>
        </p:txBody>
      </p:sp>
      <p:sp>
        <p:nvSpPr>
          <p:cNvPr id="25" name="Shape 23"/>
          <p:cNvSpPr/>
          <p:nvPr/>
        </p:nvSpPr>
        <p:spPr>
          <a:xfrm>
            <a:off x="6446520" y="3685032"/>
            <a:ext cx="27432" cy="256032"/>
          </a:xfrm>
          <a:prstGeom prst="roundRect">
            <a:avLst>
              <a:gd name="adj" fmla="val 133333"/>
            </a:avLst>
          </a:prstGeom>
          <a:solidFill>
            <a:srgbClr val="8A8F98"/>
          </a:solidFill>
          <a:ln/>
        </p:spPr>
        <p:txBody>
          <a:bodyPr/>
          <a:lstStyle/>
          <a:p>
            <a:endParaRPr lang="ja-JP" altLang="en-US"/>
          </a:p>
        </p:txBody>
      </p:sp>
      <p:sp>
        <p:nvSpPr>
          <p:cNvPr id="26" name="Text 24"/>
          <p:cNvSpPr/>
          <p:nvPr/>
        </p:nvSpPr>
        <p:spPr>
          <a:xfrm>
            <a:off x="10424160" y="3657600"/>
            <a:ext cx="1005840" cy="310896"/>
          </a:xfrm>
          <a:prstGeom prst="rect">
            <a:avLst/>
          </a:prstGeom>
          <a:noFill/>
          <a:ln/>
        </p:spPr>
        <p:txBody>
          <a:bodyPr wrap="square" lIns="0" tIns="0" rIns="0" bIns="0" rtlCol="0" anchor="ctr"/>
          <a:lstStyle/>
          <a:p>
            <a:pPr marL="0" indent="0">
              <a:buNone/>
            </a:pPr>
            <a:r>
              <a:rPr lang="en-US" sz="1000" b="1" dirty="0">
                <a:solidFill>
                  <a:srgbClr val="8A8F98"/>
                </a:solidFill>
                <a:latin typeface="Noto Sans JP" pitchFamily="34" charset="0"/>
                <a:ea typeface="Noto Sans JP" pitchFamily="34" charset="-122"/>
                <a:cs typeface="Noto Sans JP" pitchFamily="34" charset="-120"/>
              </a:rPr>
              <a:t>0%  0頁</a:t>
            </a:r>
            <a:endParaRPr lang="en-US" sz="1000" dirty="0"/>
          </a:p>
        </p:txBody>
      </p:sp>
      <p:sp>
        <p:nvSpPr>
          <p:cNvPr id="27" name="Shape 25"/>
          <p:cNvSpPr/>
          <p:nvPr/>
        </p:nvSpPr>
        <p:spPr>
          <a:xfrm>
            <a:off x="502920" y="4434840"/>
            <a:ext cx="11183112" cy="1463040"/>
          </a:xfrm>
          <a:prstGeom prst="roundRect">
            <a:avLst>
              <a:gd name="adj" fmla="val 6875"/>
            </a:avLst>
          </a:prstGeom>
          <a:solidFill>
            <a:srgbClr val="F5F5F7"/>
          </a:solidFill>
          <a:ln/>
        </p:spPr>
        <p:txBody>
          <a:bodyPr/>
          <a:lstStyle/>
          <a:p>
            <a:endParaRPr lang="ja-JP" altLang="en-US"/>
          </a:p>
        </p:txBody>
      </p:sp>
      <p:sp>
        <p:nvSpPr>
          <p:cNvPr id="28" name="Text 26"/>
          <p:cNvSpPr/>
          <p:nvPr/>
        </p:nvSpPr>
        <p:spPr>
          <a:xfrm>
            <a:off x="777240" y="4572000"/>
            <a:ext cx="3657600" cy="320040"/>
          </a:xfrm>
          <a:prstGeom prst="rect">
            <a:avLst/>
          </a:prstGeom>
          <a:noFill/>
          <a:ln/>
        </p:spPr>
        <p:txBody>
          <a:bodyPr wrap="square" lIns="0" tIns="0" rIns="0" bIns="0" rtlCol="0" anchor="ctr"/>
          <a:lstStyle/>
          <a:p>
            <a:pPr marL="0" indent="0">
              <a:buNone/>
            </a:pPr>
            <a:r>
              <a:rPr lang="en-US" sz="1250" b="1" dirty="0">
                <a:solidFill>
                  <a:srgbClr val="8541DC"/>
                </a:solidFill>
                <a:latin typeface="Noto Sans JP" pitchFamily="34" charset="0"/>
                <a:ea typeface="Noto Sans JP" pitchFamily="34" charset="-122"/>
                <a:cs typeface="Noto Sans JP" pitchFamily="34" charset="-120"/>
              </a:rPr>
              <a:t>主な所見</a:t>
            </a:r>
            <a:endParaRPr lang="en-US" sz="1250" dirty="0"/>
          </a:p>
        </p:txBody>
      </p:sp>
      <p:sp>
        <p:nvSpPr>
          <p:cNvPr id="29" name="Text 27"/>
          <p:cNvSpPr/>
          <p:nvPr/>
        </p:nvSpPr>
        <p:spPr>
          <a:xfrm>
            <a:off x="777240" y="4919472"/>
            <a:ext cx="10607040" cy="91440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スコアがほぼ一点に集中している（194/200ページがB帯）。個別ページの巧拙ではなくサイト全体に共通する構造上の弱さで、テンプレート単位の改善が効きやすい状態</a:t>
            </a:r>
            <a:endParaRPr lang="en-US" sz="1030" dirty="0"/>
          </a:p>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買取査定の主要導線（無料買取査定55点／査定のお申し込み57点／中古車査定・購入ガイド56点／店舗一覧52点）と、差別化の核である安心宣言のページ（53点）がいずれもB帯。意思決定段階でAIが根拠として引きにくい状態が、指名質問の「未判定」の多さと重なっている</a:t>
            </a:r>
            <a:endParaRPr lang="en-US" sz="1030" dirty="0"/>
          </a:p>
        </p:txBody>
      </p:sp>
      <p:sp>
        <p:nvSpPr>
          <p:cNvPr id="30" name="Text 28"/>
          <p:cNvSpPr/>
          <p:nvPr/>
        </p:nvSpPr>
        <p:spPr>
          <a:xfrm>
            <a:off x="502920" y="5989320"/>
            <a:ext cx="1097280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 観測（EmmaTools LLMO サイト最適化診断・200ページ／2026-09-01取得）</a:t>
            </a:r>
            <a:endParaRPr lang="en-US" sz="900" dirty="0"/>
          </a:p>
        </p:txBody>
      </p:sp>
      <p:sp>
        <p:nvSpPr>
          <p:cNvPr id="31" name="Text 29"/>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2" name="Text 30"/>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txBody>
          <a:bodyPr/>
          <a:lstStyle/>
          <a:p>
            <a:endParaRPr lang="ja-JP" altLang="en-US"/>
          </a:p>
        </p:txBody>
      </p:sp>
      <p:sp>
        <p:nvSpPr>
          <p:cNvPr id="3" name="Shape 1"/>
          <p:cNvSpPr/>
          <p:nvPr/>
        </p:nvSpPr>
        <p:spPr>
          <a:xfrm>
            <a:off x="9680753" y="5368388"/>
            <a:ext cx="1133856" cy="1133856"/>
          </a:xfrm>
          <a:prstGeom prst="ellipse">
            <a:avLst/>
          </a:prstGeom>
          <a:solidFill>
            <a:srgbClr val="D9CBF2">
              <a:alpha val="32000"/>
            </a:srgbClr>
          </a:solidFill>
          <a:ln/>
        </p:spPr>
        <p:txBody>
          <a:bodyPr/>
          <a:lstStyle/>
          <a:p>
            <a:endParaRPr lang="ja-JP" altLang="en-US"/>
          </a:p>
        </p:txBody>
      </p:sp>
      <p:sp>
        <p:nvSpPr>
          <p:cNvPr id="4" name="Shape 2"/>
          <p:cNvSpPr/>
          <p:nvPr/>
        </p:nvSpPr>
        <p:spPr>
          <a:xfrm>
            <a:off x="10332720" y="5368388"/>
            <a:ext cx="1133856" cy="1133856"/>
          </a:xfrm>
          <a:prstGeom prst="ellipse">
            <a:avLst/>
          </a:prstGeom>
          <a:solidFill>
            <a:srgbClr val="B49AE6">
              <a:alpha val="32000"/>
            </a:srgbClr>
          </a:solidFill>
          <a:ln/>
        </p:spPr>
        <p:txBody>
          <a:bodyPr/>
          <a:lstStyle/>
          <a:p>
            <a:endParaRPr lang="ja-JP" altLang="en-US"/>
          </a:p>
        </p:txBody>
      </p:sp>
      <p:sp>
        <p:nvSpPr>
          <p:cNvPr id="5" name="Text 3"/>
          <p:cNvSpPr/>
          <p:nvPr/>
        </p:nvSpPr>
        <p:spPr>
          <a:xfrm>
            <a:off x="822960" y="1920240"/>
            <a:ext cx="4572000" cy="822960"/>
          </a:xfrm>
          <a:prstGeom prst="rect">
            <a:avLst/>
          </a:prstGeom>
          <a:noFill/>
          <a:ln/>
        </p:spPr>
        <p:txBody>
          <a:bodyPr wrap="square" lIns="0" tIns="0" rIns="0" bIns="0" rtlCol="0" anchor="ctr"/>
          <a:lstStyle/>
          <a:p>
            <a:pPr marL="0" indent="0">
              <a:buNone/>
            </a:pPr>
            <a:r>
              <a:rPr lang="en-US" sz="4000" b="1" dirty="0">
                <a:solidFill>
                  <a:srgbClr val="8E76C8"/>
                </a:solidFill>
                <a:latin typeface="Noto Sans JP" pitchFamily="34" charset="0"/>
                <a:ea typeface="Noto Sans JP" pitchFamily="34" charset="-122"/>
                <a:cs typeface="Noto Sans JP" pitchFamily="34" charset="-120"/>
              </a:rPr>
              <a:t>04</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marL="0" indent="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対策の方向性</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marL="0" indent="0">
              <a:lnSpc>
                <a:spcPct val="135000"/>
              </a:lnSpc>
              <a:buNone/>
            </a:pPr>
            <a:r>
              <a:rPr lang="en-US" sz="1400" dirty="0">
                <a:solidFill>
                  <a:srgbClr val="D9CBF2"/>
                </a:solidFill>
                <a:latin typeface="Noto Sans JP" pitchFamily="34" charset="0"/>
                <a:ea typeface="Noto Sans JP" pitchFamily="34" charset="-122"/>
                <a:cs typeface="Noto Sans JP" pitchFamily="34" charset="-120"/>
              </a:rPr>
              <a:t>無料版では“方向性”までをご提示します。</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B9A7E0"/>
                </a:solidFill>
                <a:latin typeface="Noto Sans JP" pitchFamily="34" charset="0"/>
                <a:ea typeface="Noto Sans JP" pitchFamily="34" charset="-122"/>
                <a:cs typeface="Noto Sans JP"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DIRECTION — 対策の方向性</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事実をふまえた4つの方向性</a:t>
            </a:r>
            <a:endParaRPr lang="en-US" sz="2500" dirty="0"/>
          </a:p>
        </p:txBody>
      </p:sp>
      <p:sp>
        <p:nvSpPr>
          <p:cNvPr id="4" name="Shape 2"/>
          <p:cNvSpPr/>
          <p:nvPr/>
        </p:nvSpPr>
        <p:spPr>
          <a:xfrm>
            <a:off x="502920" y="169164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5" name="Shape 3"/>
          <p:cNvSpPr/>
          <p:nvPr/>
        </p:nvSpPr>
        <p:spPr>
          <a:xfrm>
            <a:off x="502920" y="1947672"/>
            <a:ext cx="82296" cy="1371600"/>
          </a:xfrm>
          <a:prstGeom prst="roundRect">
            <a:avLst>
              <a:gd name="adj" fmla="val 44444"/>
            </a:avLst>
          </a:prstGeom>
          <a:solidFill>
            <a:srgbClr val="F57527"/>
          </a:solidFill>
          <a:ln/>
        </p:spPr>
        <p:txBody>
          <a:bodyPr/>
          <a:lstStyle/>
          <a:p>
            <a:endParaRPr lang="ja-JP" altLang="en-US"/>
          </a:p>
        </p:txBody>
      </p:sp>
      <p:sp>
        <p:nvSpPr>
          <p:cNvPr id="6" name="Text 4"/>
          <p:cNvSpPr/>
          <p:nvPr/>
        </p:nvSpPr>
        <p:spPr>
          <a:xfrm>
            <a:off x="822960" y="1874520"/>
            <a:ext cx="1097280" cy="320040"/>
          </a:xfrm>
          <a:prstGeom prst="rect">
            <a:avLst/>
          </a:prstGeom>
          <a:noFill/>
          <a:ln/>
        </p:spPr>
        <p:txBody>
          <a:bodyPr wrap="square" lIns="0" tIns="0" rIns="0" bIns="0" rtlCol="0" anchor="ctr"/>
          <a:lstStyle/>
          <a:p>
            <a:pPr marL="0" indent="0">
              <a:buNone/>
            </a:pPr>
            <a:r>
              <a:rPr lang="en-US" sz="1200" b="1" dirty="0">
                <a:solidFill>
                  <a:srgbClr val="F57527"/>
                </a:solidFill>
                <a:latin typeface="Noto Sans JP" pitchFamily="34" charset="0"/>
                <a:ea typeface="Noto Sans JP" pitchFamily="34" charset="-122"/>
                <a:cs typeface="Noto Sans JP" pitchFamily="34" charset="-120"/>
              </a:rPr>
              <a:t>方向性1</a:t>
            </a:r>
            <a:endParaRPr lang="en-US" sz="1200" dirty="0"/>
          </a:p>
        </p:txBody>
      </p:sp>
      <p:sp>
        <p:nvSpPr>
          <p:cNvPr id="7" name="Shape 5"/>
          <p:cNvSpPr/>
          <p:nvPr/>
        </p:nvSpPr>
        <p:spPr>
          <a:xfrm>
            <a:off x="4160520" y="1874520"/>
            <a:ext cx="1554480" cy="310896"/>
          </a:xfrm>
          <a:prstGeom prst="roundRect">
            <a:avLst>
              <a:gd name="adj" fmla="val 50000"/>
            </a:avLst>
          </a:prstGeom>
          <a:solidFill>
            <a:srgbClr val="FDE9DA"/>
          </a:solidFill>
          <a:ln/>
        </p:spPr>
        <p:txBody>
          <a:bodyPr/>
          <a:lstStyle/>
          <a:p>
            <a:endParaRPr lang="ja-JP" altLang="en-US"/>
          </a:p>
        </p:txBody>
      </p:sp>
      <p:sp>
        <p:nvSpPr>
          <p:cNvPr id="8" name="Text 6"/>
          <p:cNvSpPr/>
          <p:nvPr/>
        </p:nvSpPr>
        <p:spPr>
          <a:xfrm>
            <a:off x="4114800" y="1856232"/>
            <a:ext cx="1645920" cy="347472"/>
          </a:xfrm>
          <a:prstGeom prst="rect">
            <a:avLst/>
          </a:prstGeom>
          <a:noFill/>
          <a:ln/>
        </p:spPr>
        <p:txBody>
          <a:bodyPr wrap="square" lIns="0" tIns="0" rIns="0" bIns="0" rtlCol="0" anchor="ctr"/>
          <a:lstStyle/>
          <a:p>
            <a:pPr marL="0" indent="0" algn="ctr">
              <a:buNone/>
            </a:pPr>
            <a:r>
              <a:rPr lang="en-US" sz="1050" b="1" dirty="0">
                <a:solidFill>
                  <a:srgbClr val="F57527"/>
                </a:solidFill>
                <a:latin typeface="Noto Sans JP" pitchFamily="34" charset="0"/>
                <a:ea typeface="Noto Sans JP" pitchFamily="34" charset="-122"/>
                <a:cs typeface="Noto Sans JP" pitchFamily="34" charset="-120"/>
              </a:rPr>
              <a:t>最重要</a:t>
            </a:r>
            <a:endParaRPr lang="en-US" sz="1050" dirty="0"/>
          </a:p>
        </p:txBody>
      </p:sp>
      <p:sp>
        <p:nvSpPr>
          <p:cNvPr id="9" name="Text 7"/>
          <p:cNvSpPr/>
          <p:nvPr/>
        </p:nvSpPr>
        <p:spPr>
          <a:xfrm>
            <a:off x="822960" y="2194560"/>
            <a:ext cx="4846320" cy="457200"/>
          </a:xfrm>
          <a:prstGeom prst="rect">
            <a:avLst/>
          </a:prstGeom>
          <a:noFill/>
          <a:ln/>
        </p:spPr>
        <p:txBody>
          <a:bodyPr wrap="square" lIns="0" tIns="0" rIns="0" bIns="0" rtlCol="0" anchor="ctr"/>
          <a:lstStyle/>
          <a:p>
            <a:pPr marL="0" indent="0">
              <a:lnSpc>
                <a:spcPct val="110000"/>
              </a:lnSpc>
              <a:buNone/>
            </a:pPr>
            <a:r>
              <a:rPr lang="en-US" sz="1350" b="1" dirty="0">
                <a:solidFill>
                  <a:srgbClr val="222222"/>
                </a:solidFill>
                <a:latin typeface="Noto Sans JP" pitchFamily="34" charset="0"/>
                <a:ea typeface="Noto Sans JP" pitchFamily="34" charset="-122"/>
                <a:cs typeface="Noto Sans JP" pitchFamily="34" charset="-120"/>
              </a:rPr>
              <a:t>“高く売れる”の証拠をAIに渡す</a:t>
            </a:r>
            <a:endParaRPr lang="en-US" sz="1350" dirty="0"/>
          </a:p>
        </p:txBody>
      </p:sp>
      <p:sp>
        <p:nvSpPr>
          <p:cNvPr id="10" name="Text 8"/>
          <p:cNvSpPr/>
          <p:nvPr/>
        </p:nvSpPr>
        <p:spPr>
          <a:xfrm>
            <a:off x="822960" y="2651760"/>
            <a:ext cx="4892040" cy="868680"/>
          </a:xfrm>
          <a:prstGeom prst="rect">
            <a:avLst/>
          </a:prstGeom>
          <a:noFill/>
          <a:ln/>
        </p:spPr>
        <p:txBody>
          <a:bodyPr wrap="square" lIns="0" tIns="0" rIns="0" bIns="0" rtlCol="0" anchor="ctr"/>
          <a:lstStyle/>
          <a:p>
            <a:pPr marL="0" indent="0">
              <a:lnSpc>
                <a:spcPct val="128000"/>
              </a:lnSpc>
              <a:buNone/>
            </a:pPr>
            <a:r>
              <a:rPr lang="en-US" sz="1000" dirty="0">
                <a:solidFill>
                  <a:srgbClr val="555A63"/>
                </a:solidFill>
                <a:latin typeface="Noto Sans JP" pitchFamily="34" charset="0"/>
                <a:ea typeface="Noto Sans JP" pitchFamily="34" charset="-122"/>
                <a:cs typeface="Noto Sans JP" pitchFamily="34" charset="-120"/>
              </a:rPr>
              <a:t>価格軸17%・買取額0%が最大の穴。すでに公開している買取実績データベース（車種・地域別の査定レンジ、成約実績）を、AIが読み取れる形で「一貫体制＝中間コストがないから高く買える」の根拠として接続する。</a:t>
            </a:r>
            <a:endParaRPr lang="en-US" sz="1000" dirty="0"/>
          </a:p>
        </p:txBody>
      </p:sp>
      <p:sp>
        <p:nvSpPr>
          <p:cNvPr id="11" name="Shape 9"/>
          <p:cNvSpPr/>
          <p:nvPr/>
        </p:nvSpPr>
        <p:spPr>
          <a:xfrm>
            <a:off x="6245352" y="169164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2" name="Shape 10"/>
          <p:cNvSpPr/>
          <p:nvPr/>
        </p:nvSpPr>
        <p:spPr>
          <a:xfrm>
            <a:off x="6245352" y="1947672"/>
            <a:ext cx="82296" cy="1371600"/>
          </a:xfrm>
          <a:prstGeom prst="roundRect">
            <a:avLst>
              <a:gd name="adj" fmla="val 44444"/>
            </a:avLst>
          </a:prstGeom>
          <a:solidFill>
            <a:srgbClr val="8541DC"/>
          </a:solidFill>
          <a:ln/>
        </p:spPr>
        <p:txBody>
          <a:bodyPr/>
          <a:lstStyle/>
          <a:p>
            <a:endParaRPr lang="ja-JP" altLang="en-US"/>
          </a:p>
        </p:txBody>
      </p:sp>
      <p:sp>
        <p:nvSpPr>
          <p:cNvPr id="13" name="Text 11"/>
          <p:cNvSpPr/>
          <p:nvPr/>
        </p:nvSpPr>
        <p:spPr>
          <a:xfrm>
            <a:off x="6565392" y="1874520"/>
            <a:ext cx="1097280" cy="320040"/>
          </a:xfrm>
          <a:prstGeom prst="rect">
            <a:avLst/>
          </a:prstGeom>
          <a:noFill/>
          <a:ln/>
        </p:spPr>
        <p:txBody>
          <a:bodyPr wrap="square" lIns="0" tIns="0" rIns="0" bIns="0" rtlCol="0" anchor="ctr"/>
          <a:lstStyle/>
          <a:p>
            <a:pPr marL="0" indent="0">
              <a:buNone/>
            </a:pPr>
            <a:r>
              <a:rPr lang="en-US" sz="1200" b="1" dirty="0">
                <a:solidFill>
                  <a:srgbClr val="8541DC"/>
                </a:solidFill>
                <a:latin typeface="Noto Sans JP" pitchFamily="34" charset="0"/>
                <a:ea typeface="Noto Sans JP" pitchFamily="34" charset="-122"/>
                <a:cs typeface="Noto Sans JP" pitchFamily="34" charset="-120"/>
              </a:rPr>
              <a:t>方向性2</a:t>
            </a:r>
            <a:endParaRPr lang="en-US" sz="1200" dirty="0"/>
          </a:p>
        </p:txBody>
      </p:sp>
      <p:sp>
        <p:nvSpPr>
          <p:cNvPr id="14" name="Shape 12"/>
          <p:cNvSpPr/>
          <p:nvPr/>
        </p:nvSpPr>
        <p:spPr>
          <a:xfrm>
            <a:off x="9902952" y="1874520"/>
            <a:ext cx="1554480" cy="310896"/>
          </a:xfrm>
          <a:prstGeom prst="roundRect">
            <a:avLst>
              <a:gd name="adj" fmla="val 50000"/>
            </a:avLst>
          </a:prstGeom>
          <a:solidFill>
            <a:srgbClr val="F0E6FC"/>
          </a:solidFill>
          <a:ln/>
        </p:spPr>
        <p:txBody>
          <a:bodyPr/>
          <a:lstStyle/>
          <a:p>
            <a:endParaRPr lang="ja-JP" altLang="en-US"/>
          </a:p>
        </p:txBody>
      </p:sp>
      <p:sp>
        <p:nvSpPr>
          <p:cNvPr id="15" name="Text 13"/>
          <p:cNvSpPr/>
          <p:nvPr/>
        </p:nvSpPr>
        <p:spPr>
          <a:xfrm>
            <a:off x="9857232" y="1856232"/>
            <a:ext cx="1645920" cy="347472"/>
          </a:xfrm>
          <a:prstGeom prst="rect">
            <a:avLst/>
          </a:prstGeom>
          <a:noFill/>
          <a:ln/>
        </p:spPr>
        <p:txBody>
          <a:bodyPr wrap="square" lIns="0" tIns="0" rIns="0" bIns="0" rtlCol="0" anchor="ctr"/>
          <a:lstStyle/>
          <a:p>
            <a:pPr marL="0" indent="0" algn="ctr">
              <a:buNone/>
            </a:pPr>
            <a:r>
              <a:rPr lang="en-US" sz="1050" b="1" dirty="0">
                <a:solidFill>
                  <a:srgbClr val="8541DC"/>
                </a:solidFill>
                <a:latin typeface="Noto Sans JP" pitchFamily="34" charset="0"/>
                <a:ea typeface="Noto Sans JP" pitchFamily="34" charset="-122"/>
                <a:cs typeface="Noto Sans JP" pitchFamily="34" charset="-120"/>
              </a:rPr>
              <a:t>即効性 高</a:t>
            </a:r>
            <a:endParaRPr lang="en-US" sz="1050" dirty="0"/>
          </a:p>
        </p:txBody>
      </p:sp>
      <p:sp>
        <p:nvSpPr>
          <p:cNvPr id="16" name="Text 14"/>
          <p:cNvSpPr/>
          <p:nvPr/>
        </p:nvSpPr>
        <p:spPr>
          <a:xfrm>
            <a:off x="6565392" y="2194560"/>
            <a:ext cx="4846320" cy="457200"/>
          </a:xfrm>
          <a:prstGeom prst="rect">
            <a:avLst/>
          </a:prstGeom>
          <a:noFill/>
          <a:ln/>
        </p:spPr>
        <p:txBody>
          <a:bodyPr wrap="square" lIns="0" tIns="0" rIns="0" bIns="0" rtlCol="0" anchor="ctr"/>
          <a:lstStyle/>
          <a:p>
            <a:pPr marL="0" indent="0">
              <a:lnSpc>
                <a:spcPct val="110000"/>
              </a:lnSpc>
              <a:buNone/>
            </a:pPr>
            <a:r>
              <a:rPr lang="en-US" sz="1350" b="1" dirty="0">
                <a:solidFill>
                  <a:srgbClr val="222222"/>
                </a:solidFill>
                <a:latin typeface="Noto Sans JP" pitchFamily="34" charset="0"/>
                <a:ea typeface="Noto Sans JP" pitchFamily="34" charset="-122"/>
                <a:cs typeface="Noto Sans JP" pitchFamily="34" charset="-120"/>
              </a:rPr>
              <a:t>“電話なし・手間なし”文脈での露出獲得</a:t>
            </a:r>
            <a:endParaRPr lang="en-US" sz="1350" dirty="0"/>
          </a:p>
        </p:txBody>
      </p:sp>
      <p:sp>
        <p:nvSpPr>
          <p:cNvPr id="17" name="Text 15"/>
          <p:cNvSpPr/>
          <p:nvPr/>
        </p:nvSpPr>
        <p:spPr>
          <a:xfrm>
            <a:off x="6565392" y="2651760"/>
            <a:ext cx="4892040" cy="868680"/>
          </a:xfrm>
          <a:prstGeom prst="rect">
            <a:avLst/>
          </a:prstGeom>
          <a:noFill/>
          <a:ln/>
        </p:spPr>
        <p:txBody>
          <a:bodyPr wrap="square" lIns="0" tIns="0" rIns="0" bIns="0" rtlCol="0" anchor="ctr"/>
          <a:lstStyle/>
          <a:p>
            <a:pPr marL="0" indent="0">
              <a:lnSpc>
                <a:spcPct val="128000"/>
              </a:lnSpc>
              <a:buNone/>
            </a:pPr>
            <a:r>
              <a:rPr lang="en-US" sz="1000" dirty="0">
                <a:solidFill>
                  <a:srgbClr val="555A63"/>
                </a:solidFill>
                <a:latin typeface="Noto Sans JP" pitchFamily="34" charset="0"/>
                <a:ea typeface="Noto Sans JP" pitchFamily="34" charset="-122"/>
                <a:cs typeface="Noto Sans JP" pitchFamily="34" charset="-120"/>
              </a:rPr>
              <a:t>営業電話の認識軸では100%勝っているのに、「電話なしで査定できるサービス」は3AIすべて圏外。LINE査定とJPUC適正買取店認定を、電話文脈のメディア・コンテンツ側に接続する。</a:t>
            </a:r>
            <a:endParaRPr lang="en-US" sz="1000" dirty="0"/>
          </a:p>
        </p:txBody>
      </p:sp>
      <p:sp>
        <p:nvSpPr>
          <p:cNvPr id="18" name="Shape 16"/>
          <p:cNvSpPr/>
          <p:nvPr/>
        </p:nvSpPr>
        <p:spPr>
          <a:xfrm>
            <a:off x="502920" y="384048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9" name="Shape 17"/>
          <p:cNvSpPr/>
          <p:nvPr/>
        </p:nvSpPr>
        <p:spPr>
          <a:xfrm>
            <a:off x="502920" y="4096512"/>
            <a:ext cx="82296" cy="1371600"/>
          </a:xfrm>
          <a:prstGeom prst="roundRect">
            <a:avLst>
              <a:gd name="adj" fmla="val 44444"/>
            </a:avLst>
          </a:prstGeom>
          <a:solidFill>
            <a:srgbClr val="6A2FB8"/>
          </a:solidFill>
          <a:ln/>
        </p:spPr>
        <p:txBody>
          <a:bodyPr/>
          <a:lstStyle/>
          <a:p>
            <a:endParaRPr lang="ja-JP" altLang="en-US"/>
          </a:p>
        </p:txBody>
      </p:sp>
      <p:sp>
        <p:nvSpPr>
          <p:cNvPr id="20" name="Text 18"/>
          <p:cNvSpPr/>
          <p:nvPr/>
        </p:nvSpPr>
        <p:spPr>
          <a:xfrm>
            <a:off x="822960" y="4023360"/>
            <a:ext cx="1097280" cy="320040"/>
          </a:xfrm>
          <a:prstGeom prst="rect">
            <a:avLst/>
          </a:prstGeom>
          <a:noFill/>
          <a:ln/>
        </p:spPr>
        <p:txBody>
          <a:bodyPr wrap="square" lIns="0" tIns="0" rIns="0" bIns="0" rtlCol="0" anchor="ctr"/>
          <a:lstStyle/>
          <a:p>
            <a:pPr marL="0" indent="0">
              <a:buNone/>
            </a:pPr>
            <a:r>
              <a:rPr lang="en-US" sz="1200" b="1" dirty="0">
                <a:solidFill>
                  <a:srgbClr val="6A2FB8"/>
                </a:solidFill>
                <a:latin typeface="Noto Sans JP" pitchFamily="34" charset="0"/>
                <a:ea typeface="Noto Sans JP" pitchFamily="34" charset="-122"/>
                <a:cs typeface="Noto Sans JP" pitchFamily="34" charset="-120"/>
              </a:rPr>
              <a:t>方向性3</a:t>
            </a:r>
            <a:endParaRPr lang="en-US" sz="1200" dirty="0"/>
          </a:p>
        </p:txBody>
      </p:sp>
      <p:sp>
        <p:nvSpPr>
          <p:cNvPr id="21" name="Shape 19"/>
          <p:cNvSpPr/>
          <p:nvPr/>
        </p:nvSpPr>
        <p:spPr>
          <a:xfrm>
            <a:off x="4160520" y="4023360"/>
            <a:ext cx="1554480" cy="310896"/>
          </a:xfrm>
          <a:prstGeom prst="roundRect">
            <a:avLst>
              <a:gd name="adj" fmla="val 50000"/>
            </a:avLst>
          </a:prstGeom>
          <a:solidFill>
            <a:srgbClr val="F0E6FC"/>
          </a:solidFill>
          <a:ln/>
        </p:spPr>
        <p:txBody>
          <a:bodyPr/>
          <a:lstStyle/>
          <a:p>
            <a:endParaRPr lang="ja-JP" altLang="en-US"/>
          </a:p>
        </p:txBody>
      </p:sp>
      <p:sp>
        <p:nvSpPr>
          <p:cNvPr id="22" name="Text 20"/>
          <p:cNvSpPr/>
          <p:nvPr/>
        </p:nvSpPr>
        <p:spPr>
          <a:xfrm>
            <a:off x="4114800" y="4005072"/>
            <a:ext cx="1645920" cy="347472"/>
          </a:xfrm>
          <a:prstGeom prst="rect">
            <a:avLst/>
          </a:prstGeom>
          <a:noFill/>
          <a:ln/>
        </p:spPr>
        <p:txBody>
          <a:bodyPr wrap="square" lIns="0" tIns="0" rIns="0" bIns="0" rtlCol="0" anchor="ctr"/>
          <a:lstStyle/>
          <a:p>
            <a:pPr marL="0" indent="0" algn="ctr">
              <a:buNone/>
            </a:pPr>
            <a:r>
              <a:rPr lang="en-US" sz="1050" b="1" dirty="0">
                <a:solidFill>
                  <a:srgbClr val="6A2FB8"/>
                </a:solidFill>
                <a:latin typeface="Noto Sans JP" pitchFamily="34" charset="0"/>
                <a:ea typeface="Noto Sans JP" pitchFamily="34" charset="-122"/>
                <a:cs typeface="Noto Sans JP" pitchFamily="34" charset="-120"/>
              </a:rPr>
              <a:t>露出開拓</a:t>
            </a:r>
            <a:endParaRPr lang="en-US" sz="1050" dirty="0"/>
          </a:p>
        </p:txBody>
      </p:sp>
      <p:sp>
        <p:nvSpPr>
          <p:cNvPr id="23" name="Text 21"/>
          <p:cNvSpPr/>
          <p:nvPr/>
        </p:nvSpPr>
        <p:spPr>
          <a:xfrm>
            <a:off x="822960" y="4343400"/>
            <a:ext cx="4846320" cy="457200"/>
          </a:xfrm>
          <a:prstGeom prst="rect">
            <a:avLst/>
          </a:prstGeom>
          <a:noFill/>
          <a:ln/>
        </p:spPr>
        <p:txBody>
          <a:bodyPr wrap="square" lIns="0" tIns="0" rIns="0" bIns="0" rtlCol="0" anchor="ctr"/>
          <a:lstStyle/>
          <a:p>
            <a:pPr marL="0" indent="0">
              <a:lnSpc>
                <a:spcPct val="110000"/>
              </a:lnSpc>
              <a:buNone/>
            </a:pPr>
            <a:r>
              <a:rPr lang="en-US" sz="1350" b="1" dirty="0">
                <a:solidFill>
                  <a:srgbClr val="222222"/>
                </a:solidFill>
                <a:latin typeface="Noto Sans JP" pitchFamily="34" charset="0"/>
                <a:ea typeface="Noto Sans JP" pitchFamily="34" charset="-122"/>
                <a:cs typeface="Noto Sans JP" pitchFamily="34" charset="-120"/>
              </a:rPr>
              <a:t>買取店ランキングの掲載獲得と順位改善</a:t>
            </a:r>
            <a:endParaRPr lang="en-US" sz="1350" dirty="0"/>
          </a:p>
        </p:txBody>
      </p:sp>
      <p:sp>
        <p:nvSpPr>
          <p:cNvPr id="24" name="Text 22"/>
          <p:cNvSpPr/>
          <p:nvPr/>
        </p:nvSpPr>
        <p:spPr>
          <a:xfrm>
            <a:off x="822960" y="4800600"/>
            <a:ext cx="4892040" cy="868680"/>
          </a:xfrm>
          <a:prstGeom prst="rect">
            <a:avLst/>
          </a:prstGeom>
          <a:noFill/>
          <a:ln/>
        </p:spPr>
        <p:txBody>
          <a:bodyPr wrap="square" lIns="0" tIns="0" rIns="0" bIns="0" rtlCol="0" anchor="ctr"/>
          <a:lstStyle/>
          <a:p>
            <a:pPr marL="0" indent="0">
              <a:lnSpc>
                <a:spcPct val="128000"/>
              </a:lnSpc>
              <a:buNone/>
            </a:pPr>
            <a:r>
              <a:rPr lang="en-US" sz="1000" dirty="0">
                <a:solidFill>
                  <a:srgbClr val="555A63"/>
                </a:solidFill>
                <a:latin typeface="Noto Sans JP" pitchFamily="34" charset="0"/>
                <a:ea typeface="Noto Sans JP" pitchFamily="34" charset="-122"/>
                <a:cs typeface="Noto Sans JP" pitchFamily="34" charset="-120"/>
              </a:rPr>
              <a:t>エリア系ランキング3本は未掲載、掲載済みの5本も定位置は3〜6番目。全国FC網という構造的な強みが最も効く枠で、掲載獲得と順位引き上げの両方に余地がある。</a:t>
            </a:r>
            <a:endParaRPr lang="en-US" sz="1000" dirty="0"/>
          </a:p>
        </p:txBody>
      </p:sp>
      <p:sp>
        <p:nvSpPr>
          <p:cNvPr id="25" name="Shape 23"/>
          <p:cNvSpPr/>
          <p:nvPr/>
        </p:nvSpPr>
        <p:spPr>
          <a:xfrm>
            <a:off x="6245352" y="384048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26" name="Shape 24"/>
          <p:cNvSpPr/>
          <p:nvPr/>
        </p:nvSpPr>
        <p:spPr>
          <a:xfrm>
            <a:off x="6245352" y="4096512"/>
            <a:ext cx="82296" cy="1371600"/>
          </a:xfrm>
          <a:prstGeom prst="roundRect">
            <a:avLst>
              <a:gd name="adj" fmla="val 44444"/>
            </a:avLst>
          </a:prstGeom>
          <a:solidFill>
            <a:srgbClr val="4A1F87"/>
          </a:solidFill>
          <a:ln/>
        </p:spPr>
        <p:txBody>
          <a:bodyPr/>
          <a:lstStyle/>
          <a:p>
            <a:endParaRPr lang="ja-JP" altLang="en-US"/>
          </a:p>
        </p:txBody>
      </p:sp>
      <p:sp>
        <p:nvSpPr>
          <p:cNvPr id="27" name="Text 25"/>
          <p:cNvSpPr/>
          <p:nvPr/>
        </p:nvSpPr>
        <p:spPr>
          <a:xfrm>
            <a:off x="6565392" y="4023360"/>
            <a:ext cx="1097280" cy="320040"/>
          </a:xfrm>
          <a:prstGeom prst="rect">
            <a:avLst/>
          </a:prstGeom>
          <a:noFill/>
          <a:ln/>
        </p:spPr>
        <p:txBody>
          <a:bodyPr wrap="square" lIns="0" tIns="0" rIns="0" bIns="0" rtlCol="0" anchor="ctr"/>
          <a:lstStyle/>
          <a:p>
            <a:pPr marL="0" indent="0">
              <a:buNone/>
            </a:pPr>
            <a:r>
              <a:rPr lang="en-US" sz="1200" b="1" dirty="0">
                <a:solidFill>
                  <a:srgbClr val="4A1F87"/>
                </a:solidFill>
                <a:latin typeface="Noto Sans JP" pitchFamily="34" charset="0"/>
                <a:ea typeface="Noto Sans JP" pitchFamily="34" charset="-122"/>
                <a:cs typeface="Noto Sans JP" pitchFamily="34" charset="-120"/>
              </a:rPr>
              <a:t>方向性4</a:t>
            </a:r>
            <a:endParaRPr lang="en-US" sz="1200" dirty="0"/>
          </a:p>
        </p:txBody>
      </p:sp>
      <p:sp>
        <p:nvSpPr>
          <p:cNvPr id="28" name="Shape 26"/>
          <p:cNvSpPr/>
          <p:nvPr/>
        </p:nvSpPr>
        <p:spPr>
          <a:xfrm>
            <a:off x="9902952" y="4023360"/>
            <a:ext cx="1554480" cy="310896"/>
          </a:xfrm>
          <a:prstGeom prst="roundRect">
            <a:avLst>
              <a:gd name="adj" fmla="val 50000"/>
            </a:avLst>
          </a:prstGeom>
          <a:solidFill>
            <a:srgbClr val="F0E6FC"/>
          </a:solidFill>
          <a:ln/>
        </p:spPr>
        <p:txBody>
          <a:bodyPr/>
          <a:lstStyle/>
          <a:p>
            <a:endParaRPr lang="ja-JP" altLang="en-US"/>
          </a:p>
        </p:txBody>
      </p:sp>
      <p:sp>
        <p:nvSpPr>
          <p:cNvPr id="29" name="Text 27"/>
          <p:cNvSpPr/>
          <p:nvPr/>
        </p:nvSpPr>
        <p:spPr>
          <a:xfrm>
            <a:off x="9857232" y="4005072"/>
            <a:ext cx="1645920" cy="347472"/>
          </a:xfrm>
          <a:prstGeom prst="rect">
            <a:avLst/>
          </a:prstGeom>
          <a:noFill/>
          <a:ln/>
        </p:spPr>
        <p:txBody>
          <a:bodyPr wrap="square" lIns="0" tIns="0" rIns="0" bIns="0" rtlCol="0" anchor="ctr"/>
          <a:lstStyle/>
          <a:p>
            <a:pPr marL="0" indent="0" algn="ctr">
              <a:buNone/>
            </a:pPr>
            <a:r>
              <a:rPr lang="en-US" sz="1050" b="1" dirty="0">
                <a:solidFill>
                  <a:srgbClr val="4A1F87"/>
                </a:solidFill>
                <a:latin typeface="Noto Sans JP" pitchFamily="34" charset="0"/>
                <a:ea typeface="Noto Sans JP" pitchFamily="34" charset="-122"/>
                <a:cs typeface="Noto Sans JP" pitchFamily="34" charset="-120"/>
              </a:rPr>
              <a:t>基盤整備</a:t>
            </a:r>
            <a:endParaRPr lang="en-US" sz="1050" dirty="0"/>
          </a:p>
        </p:txBody>
      </p:sp>
      <p:sp>
        <p:nvSpPr>
          <p:cNvPr id="30" name="Text 28"/>
          <p:cNvSpPr/>
          <p:nvPr/>
        </p:nvSpPr>
        <p:spPr>
          <a:xfrm>
            <a:off x="6565392" y="4343400"/>
            <a:ext cx="4846320" cy="457200"/>
          </a:xfrm>
          <a:prstGeom prst="rect">
            <a:avLst/>
          </a:prstGeom>
          <a:noFill/>
          <a:ln/>
        </p:spPr>
        <p:txBody>
          <a:bodyPr wrap="square" lIns="0" tIns="0" rIns="0" bIns="0" rtlCol="0" anchor="ctr"/>
          <a:lstStyle/>
          <a:p>
            <a:pPr marL="0" indent="0">
              <a:lnSpc>
                <a:spcPct val="110000"/>
              </a:lnSpc>
              <a:buNone/>
            </a:pPr>
            <a:r>
              <a:rPr lang="en-US" sz="1350" b="1" dirty="0">
                <a:solidFill>
                  <a:srgbClr val="222222"/>
                </a:solidFill>
                <a:latin typeface="Noto Sans JP" pitchFamily="34" charset="0"/>
                <a:ea typeface="Noto Sans JP" pitchFamily="34" charset="-122"/>
                <a:cs typeface="Noto Sans JP" pitchFamily="34" charset="-120"/>
              </a:rPr>
              <a:t>情報収集段階のコンテンツを引用される形に</a:t>
            </a:r>
            <a:endParaRPr lang="en-US" sz="1350" dirty="0"/>
          </a:p>
        </p:txBody>
      </p:sp>
      <p:sp>
        <p:nvSpPr>
          <p:cNvPr id="31" name="Text 29"/>
          <p:cNvSpPr/>
          <p:nvPr/>
        </p:nvSpPr>
        <p:spPr>
          <a:xfrm>
            <a:off x="6565392" y="4800600"/>
            <a:ext cx="4892040" cy="868680"/>
          </a:xfrm>
          <a:prstGeom prst="rect">
            <a:avLst/>
          </a:prstGeom>
          <a:noFill/>
          <a:ln/>
        </p:spPr>
        <p:txBody>
          <a:bodyPr wrap="square" lIns="0" tIns="0" rIns="0" bIns="0" rtlCol="0" anchor="ctr"/>
          <a:lstStyle/>
          <a:p>
            <a:pPr marL="0" indent="0">
              <a:lnSpc>
                <a:spcPct val="128000"/>
              </a:lnSpc>
              <a:buNone/>
            </a:pPr>
            <a:r>
              <a:rPr lang="en-US" sz="1000" dirty="0">
                <a:solidFill>
                  <a:srgbClr val="555A63"/>
                </a:solidFill>
                <a:latin typeface="Noto Sans JP" pitchFamily="34" charset="0"/>
                <a:ea typeface="Noto Sans JP" pitchFamily="34" charset="-122"/>
                <a:cs typeface="Noto Sans JP" pitchFamily="34" charset="-120"/>
              </a:rPr>
              <a:t>引用率11%。相場・安心宣言のページには引用実績があり形式は効いている。一方でサイト診断は平均53.0点・200ページ中194ページがB帯＝全体に共通する弱さ。未引用テーマの整備とテンプレート単位の底上げを同時に進める。</a:t>
            </a:r>
            <a:endParaRPr lang="en-US" sz="1000" dirty="0"/>
          </a:p>
        </p:txBody>
      </p:sp>
      <p:sp>
        <p:nvSpPr>
          <p:cNvPr id="32" name="Text 30"/>
          <p:cNvSpPr/>
          <p:nvPr/>
        </p:nvSpPr>
        <p:spPr>
          <a:xfrm>
            <a:off x="502920" y="5989320"/>
            <a:ext cx="1115568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 提言（方向性のみ）｜どの媒体から・どのページから・どの順で行うかのタスク設計と実行は、コンサルティングでご提供します。</a:t>
            </a:r>
            <a:endParaRPr lang="en-US" sz="900" dirty="0"/>
          </a:p>
        </p:txBody>
      </p:sp>
      <p:sp>
        <p:nvSpPr>
          <p:cNvPr id="33" name="Text 31"/>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4" name="Text 32"/>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txBody>
          <a:bodyPr/>
          <a:lstStyle/>
          <a:p>
            <a:endParaRPr lang="ja-JP" altLang="en-US"/>
          </a:p>
        </p:txBody>
      </p:sp>
      <p:sp>
        <p:nvSpPr>
          <p:cNvPr id="3" name="Shape 1"/>
          <p:cNvSpPr/>
          <p:nvPr/>
        </p:nvSpPr>
        <p:spPr>
          <a:xfrm>
            <a:off x="9680753" y="5368388"/>
            <a:ext cx="1133856" cy="1133856"/>
          </a:xfrm>
          <a:prstGeom prst="ellipse">
            <a:avLst/>
          </a:prstGeom>
          <a:solidFill>
            <a:srgbClr val="D9CBF2">
              <a:alpha val="32000"/>
            </a:srgbClr>
          </a:solidFill>
          <a:ln/>
        </p:spPr>
        <p:txBody>
          <a:bodyPr/>
          <a:lstStyle/>
          <a:p>
            <a:endParaRPr lang="ja-JP" altLang="en-US"/>
          </a:p>
        </p:txBody>
      </p:sp>
      <p:sp>
        <p:nvSpPr>
          <p:cNvPr id="4" name="Shape 2"/>
          <p:cNvSpPr/>
          <p:nvPr/>
        </p:nvSpPr>
        <p:spPr>
          <a:xfrm>
            <a:off x="10332720" y="5368388"/>
            <a:ext cx="1133856" cy="1133856"/>
          </a:xfrm>
          <a:prstGeom prst="ellipse">
            <a:avLst/>
          </a:prstGeom>
          <a:solidFill>
            <a:srgbClr val="B49AE6">
              <a:alpha val="32000"/>
            </a:srgbClr>
          </a:solidFill>
          <a:ln/>
        </p:spPr>
        <p:txBody>
          <a:bodyPr/>
          <a:lstStyle/>
          <a:p>
            <a:endParaRPr lang="ja-JP" altLang="en-US"/>
          </a:p>
        </p:txBody>
      </p:sp>
      <p:sp>
        <p:nvSpPr>
          <p:cNvPr id="5" name="Text 3"/>
          <p:cNvSpPr/>
          <p:nvPr/>
        </p:nvSpPr>
        <p:spPr>
          <a:xfrm>
            <a:off x="822960" y="1920240"/>
            <a:ext cx="4572000" cy="822960"/>
          </a:xfrm>
          <a:prstGeom prst="rect">
            <a:avLst/>
          </a:prstGeom>
          <a:noFill/>
          <a:ln/>
        </p:spPr>
        <p:txBody>
          <a:bodyPr wrap="square" lIns="0" tIns="0" rIns="0" bIns="0" rtlCol="0" anchor="ctr"/>
          <a:lstStyle/>
          <a:p>
            <a:pPr marL="0" indent="0">
              <a:buNone/>
            </a:pPr>
            <a:r>
              <a:rPr lang="en-US" sz="4000" b="1" dirty="0">
                <a:solidFill>
                  <a:srgbClr val="8E76C8"/>
                </a:solidFill>
                <a:latin typeface="Noto Sans JP" pitchFamily="34" charset="0"/>
                <a:ea typeface="Noto Sans JP" pitchFamily="34" charset="-122"/>
                <a:cs typeface="Noto Sans JP" pitchFamily="34" charset="-120"/>
              </a:rPr>
              <a:t>05</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marL="0" indent="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AI経由売上の測り方</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marL="0" indent="0">
              <a:lnSpc>
                <a:spcPct val="135000"/>
              </a:lnSpc>
              <a:buNone/>
            </a:pPr>
            <a:r>
              <a:rPr lang="en-US" sz="1400" dirty="0">
                <a:solidFill>
                  <a:srgbClr val="D9CBF2"/>
                </a:solidFill>
                <a:latin typeface="Noto Sans JP" pitchFamily="34" charset="0"/>
                <a:ea typeface="Noto Sans JP" pitchFamily="34" charset="-122"/>
                <a:cs typeface="Noto Sans JP" pitchFamily="34" charset="-120"/>
              </a:rPr>
              <a:t>露出指標で終わらせず、AIが貢献した売上を金額で示す。</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B9A7E0"/>
                </a:solidFill>
                <a:latin typeface="Noto Sans JP" pitchFamily="34" charset="0"/>
                <a:ea typeface="Noto Sans JP" pitchFamily="34" charset="-122"/>
                <a:cs typeface="Noto Sans JP"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MEASUREMENT — AI経由売上貢献の算定</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露出で終わらせない。“AIが貢献した売上”を金額で示す</a:t>
            </a:r>
            <a:endParaRPr lang="en-US" sz="2500" dirty="0"/>
          </a:p>
        </p:txBody>
      </p:sp>
      <p:sp>
        <p:nvSpPr>
          <p:cNvPr id="4" name="Shape 2"/>
          <p:cNvSpPr/>
          <p:nvPr/>
        </p:nvSpPr>
        <p:spPr>
          <a:xfrm>
            <a:off x="502920" y="1554480"/>
            <a:ext cx="5532120" cy="2880360"/>
          </a:xfrm>
          <a:prstGeom prst="roundRect">
            <a:avLst>
              <a:gd name="adj" fmla="val 3492"/>
            </a:avLst>
          </a:prstGeom>
          <a:solidFill>
            <a:srgbClr val="F5F5F7"/>
          </a:solidFill>
          <a:ln/>
        </p:spPr>
        <p:txBody>
          <a:bodyPr/>
          <a:lstStyle/>
          <a:p>
            <a:endParaRPr lang="ja-JP" altLang="en-US"/>
          </a:p>
        </p:txBody>
      </p:sp>
      <p:sp>
        <p:nvSpPr>
          <p:cNvPr id="5" name="Text 3"/>
          <p:cNvSpPr/>
          <p:nvPr/>
        </p:nvSpPr>
        <p:spPr>
          <a:xfrm>
            <a:off x="777240" y="1737360"/>
            <a:ext cx="4937760" cy="365760"/>
          </a:xfrm>
          <a:prstGeom prst="rect">
            <a:avLst/>
          </a:prstGeom>
          <a:noFill/>
          <a:ln/>
        </p:spPr>
        <p:txBody>
          <a:bodyPr wrap="square" lIns="0" tIns="0" rIns="0" bIns="0" rtlCol="0" anchor="ctr"/>
          <a:lstStyle/>
          <a:p>
            <a:pPr marL="0" indent="0">
              <a:buNone/>
            </a:pPr>
            <a:r>
              <a:rPr lang="en-US" sz="1250" b="1" dirty="0">
                <a:solidFill>
                  <a:srgbClr val="8541DC"/>
                </a:solidFill>
                <a:latin typeface="Noto Sans JP" pitchFamily="34" charset="0"/>
                <a:ea typeface="Noto Sans JP" pitchFamily="34" charset="-122"/>
                <a:cs typeface="Noto Sans JP" pitchFamily="34" charset="-120"/>
              </a:rPr>
              <a:t>計測方法：予約／利用後アンケート（3問）</a:t>
            </a:r>
            <a:endParaRPr lang="en-US" sz="1250" dirty="0"/>
          </a:p>
        </p:txBody>
      </p:sp>
      <p:sp>
        <p:nvSpPr>
          <p:cNvPr id="6" name="Text 4"/>
          <p:cNvSpPr/>
          <p:nvPr/>
        </p:nvSpPr>
        <p:spPr>
          <a:xfrm>
            <a:off x="777240" y="2194560"/>
            <a:ext cx="5029200" cy="155448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100" dirty="0">
                <a:solidFill>
                  <a:srgbClr val="222222"/>
                </a:solidFill>
                <a:latin typeface="Noto Sans JP" pitchFamily="34" charset="0"/>
                <a:ea typeface="Noto Sans JP" pitchFamily="34" charset="-122"/>
                <a:cs typeface="Noto Sans JP" pitchFamily="34" charset="-120"/>
              </a:rPr>
              <a:t>Q1. </a:t>
            </a:r>
            <a:r>
              <a:rPr lang="en-US" sz="1100" dirty="0" err="1">
                <a:solidFill>
                  <a:srgbClr val="222222"/>
                </a:solidFill>
                <a:latin typeface="Noto Sans JP" pitchFamily="34" charset="0"/>
                <a:ea typeface="Noto Sans JP" pitchFamily="34" charset="-122"/>
                <a:cs typeface="Noto Sans JP" pitchFamily="34" charset="-120"/>
              </a:rPr>
              <a:t>このサービスを最初に何で知ったか（検索／生成AI／比較／SNS</a:t>
            </a:r>
            <a:r>
              <a:rPr lang="en-US" sz="1100" dirty="0">
                <a:solidFill>
                  <a:srgbClr val="222222"/>
                </a:solidFill>
                <a:latin typeface="Noto Sans JP" pitchFamily="34" charset="0"/>
                <a:ea typeface="Noto Sans JP" pitchFamily="34" charset="-122"/>
                <a:cs typeface="Noto Sans JP" pitchFamily="34" charset="-120"/>
              </a:rPr>
              <a:t> 等）</a:t>
            </a:r>
            <a:endParaRPr lang="en-US" sz="1100" dirty="0"/>
          </a:p>
          <a:p>
            <a:pPr marL="152400" indent="-152400">
              <a:lnSpc>
                <a:spcPct val="128000"/>
              </a:lnSpc>
              <a:spcAft>
                <a:spcPts val="700"/>
              </a:spcAft>
              <a:buSzPct val="100000"/>
              <a:buChar char="•"/>
            </a:pPr>
            <a:r>
              <a:rPr lang="en-US" sz="1100" dirty="0">
                <a:solidFill>
                  <a:srgbClr val="222222"/>
                </a:solidFill>
                <a:latin typeface="Noto Sans JP" pitchFamily="34" charset="0"/>
                <a:ea typeface="Noto Sans JP" pitchFamily="34" charset="-122"/>
                <a:cs typeface="Noto Sans JP" pitchFamily="34" charset="-120"/>
              </a:rPr>
              <a:t>Q2. 予約先の比較に生成AIを使ったか（はい／いいえ）</a:t>
            </a:r>
            <a:endParaRPr lang="en-US" sz="1100" dirty="0"/>
          </a:p>
          <a:p>
            <a:pPr marL="152400" indent="-152400">
              <a:lnSpc>
                <a:spcPct val="128000"/>
              </a:lnSpc>
              <a:spcAft>
                <a:spcPts val="700"/>
              </a:spcAft>
              <a:buSzPct val="100000"/>
              <a:buChar char="•"/>
            </a:pPr>
            <a:r>
              <a:rPr lang="en-US" sz="1100" dirty="0">
                <a:solidFill>
                  <a:srgbClr val="222222"/>
                </a:solidFill>
                <a:latin typeface="Noto Sans JP" pitchFamily="34" charset="0"/>
                <a:ea typeface="Noto Sans JP" pitchFamily="34" charset="-122"/>
                <a:cs typeface="Noto Sans JP" pitchFamily="34" charset="-120"/>
              </a:rPr>
              <a:t>Q3. AIはどの場面で役立ったか（認知／比較／不安解消／最終確認）</a:t>
            </a:r>
            <a:endParaRPr lang="en-US" sz="1100" dirty="0"/>
          </a:p>
        </p:txBody>
      </p:sp>
      <p:sp>
        <p:nvSpPr>
          <p:cNvPr id="7" name="Text 5"/>
          <p:cNvSpPr/>
          <p:nvPr/>
        </p:nvSpPr>
        <p:spPr>
          <a:xfrm>
            <a:off x="777240" y="3840480"/>
            <a:ext cx="5029200" cy="457200"/>
          </a:xfrm>
          <a:prstGeom prst="rect">
            <a:avLst/>
          </a:prstGeom>
          <a:noFill/>
          <a:ln/>
        </p:spPr>
        <p:txBody>
          <a:bodyPr wrap="square" lIns="0" tIns="0" rIns="0" bIns="0" rtlCol="0" anchor="ctr"/>
          <a:lstStyle/>
          <a:p>
            <a:pPr marL="0" indent="0">
              <a:lnSpc>
                <a:spcPct val="120000"/>
              </a:lnSpc>
              <a:buNone/>
            </a:pPr>
            <a:r>
              <a:rPr lang="en-US" sz="1050" b="1" dirty="0">
                <a:solidFill>
                  <a:srgbClr val="4A1F87"/>
                </a:solidFill>
                <a:latin typeface="Noto Sans JP" pitchFamily="34" charset="0"/>
                <a:ea typeface="Noto Sans JP" pitchFamily="34" charset="-122"/>
                <a:cs typeface="Noto Sans JP" pitchFamily="34" charset="-120"/>
              </a:rPr>
              <a:t>→ 謝礼（クーポン等）で回収率を上げ、継続的に回収する</a:t>
            </a:r>
            <a:endParaRPr lang="en-US" sz="1050" dirty="0"/>
          </a:p>
        </p:txBody>
      </p:sp>
      <p:sp>
        <p:nvSpPr>
          <p:cNvPr id="8" name="Shape 6"/>
          <p:cNvSpPr/>
          <p:nvPr/>
        </p:nvSpPr>
        <p:spPr>
          <a:xfrm>
            <a:off x="6263640" y="1554480"/>
            <a:ext cx="5422392" cy="2880360"/>
          </a:xfrm>
          <a:prstGeom prst="roundRect">
            <a:avLst>
              <a:gd name="adj" fmla="val 3492"/>
            </a:avLst>
          </a:prstGeom>
          <a:solidFill>
            <a:srgbClr val="FFFFFF"/>
          </a:solidFill>
          <a:ln w="12700">
            <a:solidFill>
              <a:srgbClr val="E5E5EA"/>
            </a:solidFill>
            <a:prstDash val="solid"/>
          </a:ln>
        </p:spPr>
        <p:txBody>
          <a:bodyPr/>
          <a:lstStyle/>
          <a:p>
            <a:endParaRPr lang="ja-JP" altLang="en-US"/>
          </a:p>
        </p:txBody>
      </p:sp>
      <p:sp>
        <p:nvSpPr>
          <p:cNvPr id="9" name="Text 7"/>
          <p:cNvSpPr/>
          <p:nvPr/>
        </p:nvSpPr>
        <p:spPr>
          <a:xfrm>
            <a:off x="6537960" y="1737360"/>
            <a:ext cx="4937760" cy="365760"/>
          </a:xfrm>
          <a:prstGeom prst="rect">
            <a:avLst/>
          </a:prstGeom>
          <a:noFill/>
          <a:ln/>
        </p:spPr>
        <p:txBody>
          <a:bodyPr wrap="square" lIns="0" tIns="0" rIns="0" bIns="0" rtlCol="0" anchor="ctr"/>
          <a:lstStyle/>
          <a:p>
            <a:pPr marL="0" indent="0">
              <a:buNone/>
            </a:pPr>
            <a:r>
              <a:rPr lang="en-US" sz="1250" b="1" dirty="0">
                <a:solidFill>
                  <a:srgbClr val="6A2FB8"/>
                </a:solidFill>
                <a:latin typeface="Noto Sans JP" pitchFamily="34" charset="0"/>
                <a:ea typeface="Noto Sans JP" pitchFamily="34" charset="-122"/>
                <a:cs typeface="Noto Sans JP" pitchFamily="34" charset="-120"/>
              </a:rPr>
              <a:t>回答の分類</a:t>
            </a:r>
            <a:endParaRPr lang="en-US" sz="1250" dirty="0"/>
          </a:p>
        </p:txBody>
      </p:sp>
      <p:sp>
        <p:nvSpPr>
          <p:cNvPr id="10" name="Shape 8"/>
          <p:cNvSpPr/>
          <p:nvPr/>
        </p:nvSpPr>
        <p:spPr>
          <a:xfrm>
            <a:off x="6537960" y="2194560"/>
            <a:ext cx="1828800" cy="548640"/>
          </a:xfrm>
          <a:prstGeom prst="roundRect">
            <a:avLst>
              <a:gd name="adj" fmla="val 13333"/>
            </a:avLst>
          </a:prstGeom>
          <a:solidFill>
            <a:srgbClr val="8541DC"/>
          </a:solidFill>
          <a:ln/>
        </p:spPr>
        <p:txBody>
          <a:bodyPr/>
          <a:lstStyle/>
          <a:p>
            <a:endParaRPr lang="ja-JP" altLang="en-US"/>
          </a:p>
        </p:txBody>
      </p:sp>
      <p:sp>
        <p:nvSpPr>
          <p:cNvPr id="11" name="Text 9"/>
          <p:cNvSpPr/>
          <p:nvPr/>
        </p:nvSpPr>
        <p:spPr>
          <a:xfrm>
            <a:off x="6492240" y="2176272"/>
            <a:ext cx="1920240" cy="585216"/>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AI新規認知</a:t>
            </a:r>
            <a:endParaRPr lang="en-US" sz="1050" dirty="0"/>
          </a:p>
        </p:txBody>
      </p:sp>
      <p:sp>
        <p:nvSpPr>
          <p:cNvPr id="12" name="Text 10"/>
          <p:cNvSpPr/>
          <p:nvPr/>
        </p:nvSpPr>
        <p:spPr>
          <a:xfrm>
            <a:off x="8503920" y="2157984"/>
            <a:ext cx="3017520" cy="603504"/>
          </a:xfrm>
          <a:prstGeom prst="rect">
            <a:avLst/>
          </a:prstGeom>
          <a:noFill/>
          <a:ln/>
        </p:spPr>
        <p:txBody>
          <a:bodyPr wrap="square" lIns="0" tIns="0" rIns="0" bIns="0" rtlCol="0" anchor="ctr"/>
          <a:lstStyle/>
          <a:p>
            <a:pPr marL="0" indent="0">
              <a:lnSpc>
                <a:spcPct val="110000"/>
              </a:lnSpc>
              <a:buNone/>
            </a:pPr>
            <a:r>
              <a:rPr lang="en-US" sz="950" dirty="0">
                <a:solidFill>
                  <a:srgbClr val="222222"/>
                </a:solidFill>
                <a:latin typeface="Noto Sans JP" pitchFamily="34" charset="0"/>
                <a:ea typeface="Noto Sans JP" pitchFamily="34" charset="-122"/>
                <a:cs typeface="Noto Sans JP" pitchFamily="34" charset="-120"/>
              </a:rPr>
              <a:t>AIがきっかけで知った
</a:t>
            </a:r>
            <a:endParaRPr lang="en-US" sz="950" dirty="0"/>
          </a:p>
          <a:p>
            <a:pPr marL="0" indent="0">
              <a:lnSpc>
                <a:spcPct val="110000"/>
              </a:lnSpc>
              <a:buNone/>
            </a:pPr>
            <a:r>
              <a:rPr lang="en-US" sz="1000" b="1" dirty="0">
                <a:solidFill>
                  <a:srgbClr val="8541DC"/>
                </a:solidFill>
                <a:latin typeface="Noto Sans JP" pitchFamily="34" charset="0"/>
                <a:ea typeface="Noto Sans JP" pitchFamily="34" charset="-122"/>
                <a:cs typeface="Noto Sans JP" pitchFamily="34" charset="-120"/>
              </a:rPr>
              <a:t>貢献度 100%</a:t>
            </a:r>
            <a:endParaRPr lang="en-US" sz="950" dirty="0"/>
          </a:p>
        </p:txBody>
      </p:sp>
      <p:sp>
        <p:nvSpPr>
          <p:cNvPr id="13" name="Shape 11"/>
          <p:cNvSpPr/>
          <p:nvPr/>
        </p:nvSpPr>
        <p:spPr>
          <a:xfrm>
            <a:off x="6537960" y="2907792"/>
            <a:ext cx="1828800" cy="548640"/>
          </a:xfrm>
          <a:prstGeom prst="roundRect">
            <a:avLst>
              <a:gd name="adj" fmla="val 13333"/>
            </a:avLst>
          </a:prstGeom>
          <a:solidFill>
            <a:srgbClr val="A970E8"/>
          </a:solidFill>
          <a:ln/>
        </p:spPr>
        <p:txBody>
          <a:bodyPr/>
          <a:lstStyle/>
          <a:p>
            <a:endParaRPr lang="ja-JP" altLang="en-US"/>
          </a:p>
        </p:txBody>
      </p:sp>
      <p:sp>
        <p:nvSpPr>
          <p:cNvPr id="14" name="Text 12"/>
          <p:cNvSpPr/>
          <p:nvPr/>
        </p:nvSpPr>
        <p:spPr>
          <a:xfrm>
            <a:off x="6492240" y="2889504"/>
            <a:ext cx="1920240" cy="585216"/>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AI検討関与</a:t>
            </a:r>
            <a:endParaRPr lang="en-US" sz="1050" dirty="0"/>
          </a:p>
        </p:txBody>
      </p:sp>
      <p:sp>
        <p:nvSpPr>
          <p:cNvPr id="15" name="Text 13"/>
          <p:cNvSpPr/>
          <p:nvPr/>
        </p:nvSpPr>
        <p:spPr>
          <a:xfrm>
            <a:off x="8503920" y="2871216"/>
            <a:ext cx="3017520" cy="603504"/>
          </a:xfrm>
          <a:prstGeom prst="rect">
            <a:avLst/>
          </a:prstGeom>
          <a:noFill/>
          <a:ln/>
        </p:spPr>
        <p:txBody>
          <a:bodyPr wrap="square" lIns="0" tIns="0" rIns="0" bIns="0" rtlCol="0" anchor="ctr"/>
          <a:lstStyle/>
          <a:p>
            <a:pPr marL="0" indent="0">
              <a:lnSpc>
                <a:spcPct val="110000"/>
              </a:lnSpc>
              <a:buNone/>
            </a:pPr>
            <a:r>
              <a:rPr lang="en-US" sz="950" dirty="0">
                <a:solidFill>
                  <a:srgbClr val="222222"/>
                </a:solidFill>
                <a:latin typeface="Noto Sans JP" pitchFamily="34" charset="0"/>
                <a:ea typeface="Noto Sans JP" pitchFamily="34" charset="-122"/>
                <a:cs typeface="Noto Sans JP" pitchFamily="34" charset="-120"/>
              </a:rPr>
              <a:t>既知だが検討でAIを使った
</a:t>
            </a:r>
            <a:endParaRPr lang="en-US" sz="950" dirty="0"/>
          </a:p>
          <a:p>
            <a:pPr marL="0" indent="0">
              <a:lnSpc>
                <a:spcPct val="110000"/>
              </a:lnSpc>
              <a:buNone/>
            </a:pPr>
            <a:r>
              <a:rPr lang="en-US" sz="1000" b="1" dirty="0">
                <a:solidFill>
                  <a:srgbClr val="A970E8"/>
                </a:solidFill>
                <a:latin typeface="Noto Sans JP" pitchFamily="34" charset="0"/>
                <a:ea typeface="Noto Sans JP" pitchFamily="34" charset="-122"/>
                <a:cs typeface="Noto Sans JP" pitchFamily="34" charset="-120"/>
              </a:rPr>
              <a:t>貢献係数（初期50%）</a:t>
            </a:r>
            <a:endParaRPr lang="en-US" sz="950" dirty="0"/>
          </a:p>
        </p:txBody>
      </p:sp>
      <p:sp>
        <p:nvSpPr>
          <p:cNvPr id="16" name="Shape 14"/>
          <p:cNvSpPr/>
          <p:nvPr/>
        </p:nvSpPr>
        <p:spPr>
          <a:xfrm>
            <a:off x="6537960" y="3621024"/>
            <a:ext cx="1828800" cy="548640"/>
          </a:xfrm>
          <a:prstGeom prst="roundRect">
            <a:avLst>
              <a:gd name="adj" fmla="val 13333"/>
            </a:avLst>
          </a:prstGeom>
          <a:solidFill>
            <a:srgbClr val="8A8F98"/>
          </a:solidFill>
          <a:ln/>
        </p:spPr>
        <p:txBody>
          <a:bodyPr/>
          <a:lstStyle/>
          <a:p>
            <a:endParaRPr lang="ja-JP" altLang="en-US"/>
          </a:p>
        </p:txBody>
      </p:sp>
      <p:sp>
        <p:nvSpPr>
          <p:cNvPr id="17" name="Text 15"/>
          <p:cNvSpPr/>
          <p:nvPr/>
        </p:nvSpPr>
        <p:spPr>
          <a:xfrm>
            <a:off x="6492240" y="3602736"/>
            <a:ext cx="1920240" cy="585216"/>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AI非関与</a:t>
            </a:r>
            <a:endParaRPr lang="en-US" sz="1050" dirty="0"/>
          </a:p>
        </p:txBody>
      </p:sp>
      <p:sp>
        <p:nvSpPr>
          <p:cNvPr id="18" name="Text 16"/>
          <p:cNvSpPr/>
          <p:nvPr/>
        </p:nvSpPr>
        <p:spPr>
          <a:xfrm>
            <a:off x="8503920" y="3584448"/>
            <a:ext cx="3017520" cy="603504"/>
          </a:xfrm>
          <a:prstGeom prst="rect">
            <a:avLst/>
          </a:prstGeom>
          <a:noFill/>
          <a:ln/>
        </p:spPr>
        <p:txBody>
          <a:bodyPr wrap="square" lIns="0" tIns="0" rIns="0" bIns="0" rtlCol="0" anchor="ctr"/>
          <a:lstStyle/>
          <a:p>
            <a:pPr marL="0" indent="0">
              <a:lnSpc>
                <a:spcPct val="110000"/>
              </a:lnSpc>
              <a:buNone/>
            </a:pPr>
            <a:r>
              <a:rPr lang="en-US" sz="950" dirty="0">
                <a:solidFill>
                  <a:srgbClr val="222222"/>
                </a:solidFill>
                <a:latin typeface="Noto Sans JP" pitchFamily="34" charset="0"/>
                <a:ea typeface="Noto Sans JP" pitchFamily="34" charset="-122"/>
                <a:cs typeface="Noto Sans JP" pitchFamily="34" charset="-120"/>
              </a:rPr>
              <a:t>AIを使っていない
</a:t>
            </a:r>
            <a:endParaRPr lang="en-US" sz="950" dirty="0"/>
          </a:p>
          <a:p>
            <a:pPr marL="0" indent="0">
              <a:lnSpc>
                <a:spcPct val="110000"/>
              </a:lnSpc>
              <a:buNone/>
            </a:pPr>
            <a:r>
              <a:rPr lang="en-US" sz="1000" b="1" dirty="0">
                <a:solidFill>
                  <a:srgbClr val="8A8F98"/>
                </a:solidFill>
                <a:latin typeface="Noto Sans JP" pitchFamily="34" charset="0"/>
                <a:ea typeface="Noto Sans JP" pitchFamily="34" charset="-122"/>
                <a:cs typeface="Noto Sans JP" pitchFamily="34" charset="-120"/>
              </a:rPr>
              <a:t>対象外</a:t>
            </a:r>
            <a:endParaRPr lang="en-US" sz="950" dirty="0"/>
          </a:p>
        </p:txBody>
      </p:sp>
      <p:sp>
        <p:nvSpPr>
          <p:cNvPr id="19" name="Shape 17"/>
          <p:cNvSpPr/>
          <p:nvPr/>
        </p:nvSpPr>
        <p:spPr>
          <a:xfrm>
            <a:off x="502920" y="4617720"/>
            <a:ext cx="11183112" cy="868680"/>
          </a:xfrm>
          <a:prstGeom prst="roundRect">
            <a:avLst>
              <a:gd name="adj" fmla="val 11579"/>
            </a:avLst>
          </a:prstGeom>
          <a:solidFill>
            <a:srgbClr val="4A1F87"/>
          </a:solidFill>
          <a:ln/>
        </p:spPr>
        <p:txBody>
          <a:bodyPr/>
          <a:lstStyle/>
          <a:p>
            <a:endParaRPr lang="ja-JP" altLang="en-US"/>
          </a:p>
        </p:txBody>
      </p:sp>
      <p:sp>
        <p:nvSpPr>
          <p:cNvPr id="20" name="Text 18"/>
          <p:cNvSpPr/>
          <p:nvPr/>
        </p:nvSpPr>
        <p:spPr>
          <a:xfrm>
            <a:off x="777240" y="4681728"/>
            <a:ext cx="10607040" cy="457200"/>
          </a:xfrm>
          <a:prstGeom prst="rect">
            <a:avLst/>
          </a:prstGeom>
          <a:noFill/>
          <a:ln/>
        </p:spPr>
        <p:txBody>
          <a:bodyPr wrap="square" lIns="0" tIns="0" rIns="0" bIns="0" rtlCol="0" anchor="ctr"/>
          <a:lstStyle/>
          <a:p>
            <a:pPr marL="0" indent="0">
              <a:buNone/>
            </a:pPr>
            <a:r>
              <a:rPr lang="en-US" sz="1350" b="1" dirty="0">
                <a:solidFill>
                  <a:srgbClr val="FFFFFF"/>
                </a:solidFill>
                <a:latin typeface="Noto Sans JP" pitchFamily="34" charset="0"/>
                <a:ea typeface="Noto Sans JP" pitchFamily="34" charset="-122"/>
                <a:cs typeface="Noto Sans JP" pitchFamily="34" charset="-120"/>
              </a:rPr>
              <a:t>AI売上貢献額 ＝ AI新規認知の売上 × 100% ＋ AI検討関与の売上 × 貢献係数（初期50%）</a:t>
            </a:r>
            <a:endParaRPr lang="en-US" sz="1350" dirty="0"/>
          </a:p>
        </p:txBody>
      </p:sp>
      <p:sp>
        <p:nvSpPr>
          <p:cNvPr id="21" name="Text 19"/>
          <p:cNvSpPr/>
          <p:nvPr/>
        </p:nvSpPr>
        <p:spPr>
          <a:xfrm>
            <a:off x="777240" y="5120640"/>
            <a:ext cx="10607040" cy="320040"/>
          </a:xfrm>
          <a:prstGeom prst="rect">
            <a:avLst/>
          </a:prstGeom>
          <a:noFill/>
          <a:ln/>
        </p:spPr>
        <p:txBody>
          <a:bodyPr wrap="square" lIns="0" tIns="0" rIns="0" bIns="0" rtlCol="0" anchor="ctr"/>
          <a:lstStyle/>
          <a:p>
            <a:pPr marL="0" indent="0">
              <a:buNone/>
            </a:pPr>
            <a:r>
              <a:rPr lang="en-US" sz="1000" dirty="0">
                <a:solidFill>
                  <a:srgbClr val="D9CBF2"/>
                </a:solidFill>
                <a:latin typeface="Noto Sans JP" pitchFamily="34" charset="0"/>
                <a:ea typeface="Noto Sans JP" pitchFamily="34" charset="-122"/>
                <a:cs typeface="Noto Sans JP" pitchFamily="34" charset="-120"/>
              </a:rPr>
              <a:t>※係数はデータ蓄積後に30〜70%で見直し。粗利が分かれば“AI粗利貢献額”で評価する。</a:t>
            </a:r>
            <a:endParaRPr lang="en-US" sz="1000" dirty="0"/>
          </a:p>
        </p:txBody>
      </p:sp>
      <p:sp>
        <p:nvSpPr>
          <p:cNvPr id="22" name="Shape 20"/>
          <p:cNvSpPr/>
          <p:nvPr/>
        </p:nvSpPr>
        <p:spPr>
          <a:xfrm>
            <a:off x="502920" y="5623560"/>
            <a:ext cx="11183112" cy="658368"/>
          </a:xfrm>
          <a:prstGeom prst="roundRect">
            <a:avLst>
              <a:gd name="adj" fmla="val 15278"/>
            </a:avLst>
          </a:prstGeom>
          <a:solidFill>
            <a:srgbClr val="F0E6FC"/>
          </a:solidFill>
          <a:ln/>
        </p:spPr>
        <p:txBody>
          <a:bodyPr/>
          <a:lstStyle/>
          <a:p>
            <a:endParaRPr lang="ja-JP" altLang="en-US"/>
          </a:p>
        </p:txBody>
      </p:sp>
      <p:sp>
        <p:nvSpPr>
          <p:cNvPr id="23" name="Text 21"/>
          <p:cNvSpPr/>
          <p:nvPr/>
        </p:nvSpPr>
        <p:spPr>
          <a:xfrm>
            <a:off x="777240" y="5669280"/>
            <a:ext cx="10607040" cy="566928"/>
          </a:xfrm>
          <a:prstGeom prst="rect">
            <a:avLst/>
          </a:prstGeom>
          <a:noFill/>
          <a:ln/>
        </p:spPr>
        <p:txBody>
          <a:bodyPr wrap="square" lIns="0" tIns="0" rIns="0" bIns="0" rtlCol="0" anchor="ctr"/>
          <a:lstStyle/>
          <a:p>
            <a:pPr marL="0" indent="0">
              <a:buNone/>
            </a:pPr>
            <a:r>
              <a:rPr lang="en-US" sz="1500" b="1" dirty="0">
                <a:solidFill>
                  <a:srgbClr val="F57527"/>
                </a:solidFill>
                <a:latin typeface="Noto Sans JP" pitchFamily="34" charset="0"/>
                <a:ea typeface="Noto Sans JP" pitchFamily="34" charset="-122"/>
                <a:cs typeface="Noto Sans JP" pitchFamily="34" charset="-120"/>
              </a:rPr>
              <a:t>16%　</a:t>
            </a:r>
            <a:r>
              <a:rPr lang="en-US" sz="1100" b="1" dirty="0">
                <a:solidFill>
                  <a:srgbClr val="222222"/>
                </a:solidFill>
                <a:latin typeface="Noto Sans JP" pitchFamily="34" charset="0"/>
                <a:ea typeface="Noto Sans JP" pitchFamily="34" charset="-122"/>
                <a:cs typeface="Noto Sans JP" pitchFamily="34" charset="-120"/>
              </a:rPr>
              <a:t>AI検索の成果を体系的に追跡できているブランドはわずか16%（McKinsey）。＝“先行優位”を取るチャンス。</a:t>
            </a:r>
            <a:endParaRPr lang="en-US" sz="1500" dirty="0"/>
          </a:p>
        </p:txBody>
      </p:sp>
      <p:sp>
        <p:nvSpPr>
          <p:cNvPr id="24" name="Text 22"/>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5" name="Text 23"/>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MEASUREMENT — 試算例</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AI経由売上貢献額の試算（イメージ）</a:t>
            </a:r>
            <a:endParaRPr lang="en-US" sz="2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3112" cy="2514600"/>
        </p:xfrm>
        <a:graphic>
          <a:graphicData uri="http://schemas.openxmlformats.org/drawingml/2006/table">
            <a:tbl>
              <a:tblPr/>
              <a:tblGrid>
                <a:gridCol w="4233672">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502920">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指標</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AI新規認知</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AI検討関与</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extLst>
                  <a:ext uri="{0D108BD9-81ED-4DB2-BD59-A6C34878D82A}">
                    <a16:rowId xmlns:a16="http://schemas.microsoft.com/office/drawing/2014/main" val="10000"/>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AI経由の新規利用者</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300人</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300人</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1"/>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年間利用額（LTV @8,000円）</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240万円</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240万円</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AI貢献度</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100%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50%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3"/>
                  </a:ext>
                </a:extLst>
              </a:tr>
              <a:tr h="502920">
                <a:tc>
                  <a:txBody>
                    <a:bodyPr/>
                    <a:lstStyle/>
                    <a:p>
                      <a:pPr marL="0" indent="0" algn="l">
                        <a:buNone/>
                      </a:pPr>
                      <a:r>
                        <a:rPr lang="en-US" sz="1100" b="1" dirty="0">
                          <a:solidFill>
                            <a:srgbClr val="8541DC"/>
                          </a:solidFill>
                          <a:latin typeface="Noto Sans JP" pitchFamily="34" charset="0"/>
                          <a:ea typeface="Noto Sans JP" pitchFamily="34" charset="-122"/>
                          <a:cs typeface="Noto Sans JP" pitchFamily="34" charset="-120"/>
                        </a:rPr>
                        <a:t>AI売上貢献額</a:t>
                      </a:r>
                      <a:endParaRPr lang="en-US" sz="11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0E6FC"/>
                    </a:solidFill>
                  </a:tcPr>
                </a:tc>
                <a:tc>
                  <a:txBody>
                    <a:bodyPr/>
                    <a:lstStyle/>
                    <a:p>
                      <a:pPr marL="0" indent="0" algn="ctr">
                        <a:buNone/>
                      </a:pPr>
                      <a:r>
                        <a:rPr lang="en-US" sz="1100" b="1" dirty="0">
                          <a:solidFill>
                            <a:srgbClr val="8541DC"/>
                          </a:solidFill>
                          <a:latin typeface="Noto Sans JP" pitchFamily="34" charset="0"/>
                          <a:ea typeface="Noto Sans JP" pitchFamily="34" charset="-122"/>
                          <a:cs typeface="Noto Sans JP" pitchFamily="34" charset="-120"/>
                        </a:rPr>
                        <a:t>240万円</a:t>
                      </a:r>
                      <a:endParaRPr lang="en-US" sz="11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0E6FC"/>
                    </a:solidFill>
                  </a:tcPr>
                </a:tc>
                <a:tc>
                  <a:txBody>
                    <a:bodyPr/>
                    <a:lstStyle/>
                    <a:p>
                      <a:pPr marL="0" indent="0" algn="ctr">
                        <a:buNone/>
                      </a:pPr>
                      <a:r>
                        <a:rPr lang="en-US" sz="1100" b="1" dirty="0">
                          <a:solidFill>
                            <a:srgbClr val="8541DC"/>
                          </a:solidFill>
                          <a:latin typeface="Noto Sans JP" pitchFamily="34" charset="0"/>
                          <a:ea typeface="Noto Sans JP" pitchFamily="34" charset="-122"/>
                          <a:cs typeface="Noto Sans JP" pitchFamily="34" charset="-120"/>
                        </a:rPr>
                        <a:t>120万円</a:t>
                      </a:r>
                      <a:endParaRPr lang="en-US" sz="11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0E6FC"/>
                    </a:solidFill>
                  </a:tcPr>
                </a:tc>
                <a:extLst>
                  <a:ext uri="{0D108BD9-81ED-4DB2-BD59-A6C34878D82A}">
                    <a16:rowId xmlns:a16="http://schemas.microsoft.com/office/drawing/2014/main" val="10004"/>
                  </a:ext>
                </a:extLst>
              </a:tr>
            </a:tbl>
          </a:graphicData>
        </a:graphic>
      </p:graphicFrame>
      <p:sp>
        <p:nvSpPr>
          <p:cNvPr id="5" name="Shape 2"/>
          <p:cNvSpPr/>
          <p:nvPr/>
        </p:nvSpPr>
        <p:spPr>
          <a:xfrm>
            <a:off x="502920" y="4572000"/>
            <a:ext cx="11183112" cy="777240"/>
          </a:xfrm>
          <a:prstGeom prst="roundRect">
            <a:avLst>
              <a:gd name="adj" fmla="val 12941"/>
            </a:avLst>
          </a:prstGeom>
          <a:solidFill>
            <a:srgbClr val="4A1F87"/>
          </a:solidFill>
          <a:ln/>
        </p:spPr>
        <p:txBody>
          <a:bodyPr/>
          <a:lstStyle/>
          <a:p>
            <a:endParaRPr lang="ja-JP" altLang="en-US"/>
          </a:p>
        </p:txBody>
      </p:sp>
      <p:sp>
        <p:nvSpPr>
          <p:cNvPr id="6" name="Text 3"/>
          <p:cNvSpPr/>
          <p:nvPr/>
        </p:nvSpPr>
        <p:spPr>
          <a:xfrm>
            <a:off x="777240" y="4663440"/>
            <a:ext cx="6400800" cy="548640"/>
          </a:xfrm>
          <a:prstGeom prst="rect">
            <a:avLst/>
          </a:prstGeom>
          <a:noFill/>
          <a:ln/>
        </p:spPr>
        <p:txBody>
          <a:bodyPr wrap="square" lIns="0" tIns="0" rIns="0" bIns="0" rtlCol="0" anchor="ctr"/>
          <a:lstStyle/>
          <a:p>
            <a:pPr marL="0" indent="0">
              <a:buNone/>
            </a:pPr>
            <a:r>
              <a:rPr lang="en-US" sz="1500" b="1" dirty="0">
                <a:solidFill>
                  <a:srgbClr val="D9CBF2"/>
                </a:solidFill>
                <a:latin typeface="Noto Sans JP" pitchFamily="34" charset="0"/>
                <a:ea typeface="Noto Sans JP" pitchFamily="34" charset="-122"/>
                <a:cs typeface="Noto Sans JP" pitchFamily="34" charset="-120"/>
              </a:rPr>
              <a:t>合計 AI売上貢献額</a:t>
            </a:r>
            <a:endParaRPr lang="en-US" sz="1500" dirty="0"/>
          </a:p>
        </p:txBody>
      </p:sp>
      <p:sp>
        <p:nvSpPr>
          <p:cNvPr id="7" name="Text 4"/>
          <p:cNvSpPr/>
          <p:nvPr/>
        </p:nvSpPr>
        <p:spPr>
          <a:xfrm>
            <a:off x="6858000" y="4617720"/>
            <a:ext cx="4572000" cy="640080"/>
          </a:xfrm>
          <a:prstGeom prst="rect">
            <a:avLst/>
          </a:prstGeom>
          <a:noFill/>
          <a:ln/>
        </p:spPr>
        <p:txBody>
          <a:bodyPr wrap="square" lIns="0" tIns="0" rIns="0" bIns="0" rtlCol="0" anchor="ctr"/>
          <a:lstStyle/>
          <a:p>
            <a:pPr marL="0" indent="0" algn="r">
              <a:buNone/>
            </a:pPr>
            <a:r>
              <a:rPr lang="en-US" sz="2400" b="1" dirty="0">
                <a:solidFill>
                  <a:srgbClr val="FFFFFF"/>
                </a:solidFill>
                <a:latin typeface="Noto Sans JP" pitchFamily="34" charset="0"/>
                <a:ea typeface="Noto Sans JP" pitchFamily="34" charset="-122"/>
                <a:cs typeface="Noto Sans JP" pitchFamily="34" charset="-120"/>
              </a:rPr>
              <a:t>＝ 年間 360万円</a:t>
            </a:r>
            <a:endParaRPr lang="en-US" sz="2400" dirty="0"/>
          </a:p>
        </p:txBody>
      </p:sp>
      <p:sp>
        <p:nvSpPr>
          <p:cNvPr id="8" name="Text 5"/>
          <p:cNvSpPr/>
          <p:nvPr/>
        </p:nvSpPr>
        <p:spPr>
          <a:xfrm>
            <a:off x="502920" y="5532120"/>
            <a:ext cx="11183112" cy="365760"/>
          </a:xfrm>
          <a:prstGeom prst="rect">
            <a:avLst/>
          </a:prstGeom>
          <a:noFill/>
          <a:ln/>
        </p:spPr>
        <p:txBody>
          <a:bodyPr wrap="square" lIns="0" tIns="0" rIns="0" bIns="0" rtlCol="0" anchor="ctr"/>
          <a:lstStyle/>
          <a:p>
            <a:pPr marL="0" indent="0">
              <a:buNone/>
            </a:pPr>
            <a:r>
              <a:rPr lang="en-US" sz="950" dirty="0">
                <a:solidFill>
                  <a:srgbClr val="8A8F98"/>
                </a:solidFill>
                <a:latin typeface="Noto Sans JP" pitchFamily="34" charset="0"/>
                <a:ea typeface="Noto Sans JP" pitchFamily="34" charset="-122"/>
                <a:cs typeface="Noto Sans JP" pitchFamily="34" charset="-120"/>
              </a:rPr>
              <a:t>※数値は仮のイメージです。実際は貴社の問い合わせ/予約数・成約率・単価に置き換えて算出します（初回はアンケート設計から）。</a:t>
            </a:r>
            <a:endParaRPr lang="en-US" sz="950" dirty="0"/>
          </a:p>
        </p:txBody>
      </p:sp>
      <p:sp>
        <p:nvSpPr>
          <p:cNvPr id="9"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0"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txBody>
          <a:bodyPr/>
          <a:lstStyle/>
          <a:p>
            <a:endParaRPr lang="ja-JP" altLang="en-US"/>
          </a:p>
        </p:txBody>
      </p:sp>
      <p:sp>
        <p:nvSpPr>
          <p:cNvPr id="3" name="Shape 1"/>
          <p:cNvSpPr/>
          <p:nvPr/>
        </p:nvSpPr>
        <p:spPr>
          <a:xfrm>
            <a:off x="9680753" y="5368388"/>
            <a:ext cx="1133856" cy="1133856"/>
          </a:xfrm>
          <a:prstGeom prst="ellipse">
            <a:avLst/>
          </a:prstGeom>
          <a:solidFill>
            <a:srgbClr val="D9CBF2">
              <a:alpha val="32000"/>
            </a:srgbClr>
          </a:solidFill>
          <a:ln/>
        </p:spPr>
        <p:txBody>
          <a:bodyPr/>
          <a:lstStyle/>
          <a:p>
            <a:endParaRPr lang="ja-JP" altLang="en-US"/>
          </a:p>
        </p:txBody>
      </p:sp>
      <p:sp>
        <p:nvSpPr>
          <p:cNvPr id="4" name="Shape 2"/>
          <p:cNvSpPr/>
          <p:nvPr/>
        </p:nvSpPr>
        <p:spPr>
          <a:xfrm>
            <a:off x="10332720" y="5368388"/>
            <a:ext cx="1133856" cy="1133856"/>
          </a:xfrm>
          <a:prstGeom prst="ellipse">
            <a:avLst/>
          </a:prstGeom>
          <a:solidFill>
            <a:srgbClr val="B49AE6">
              <a:alpha val="32000"/>
            </a:srgbClr>
          </a:solidFill>
          <a:ln/>
        </p:spPr>
        <p:txBody>
          <a:bodyPr/>
          <a:lstStyle/>
          <a:p>
            <a:endParaRPr lang="ja-JP" altLang="en-US"/>
          </a:p>
        </p:txBody>
      </p:sp>
      <p:sp>
        <p:nvSpPr>
          <p:cNvPr id="5" name="Text 3"/>
          <p:cNvSpPr/>
          <p:nvPr/>
        </p:nvSpPr>
        <p:spPr>
          <a:xfrm>
            <a:off x="822960" y="1920240"/>
            <a:ext cx="4572000" cy="822960"/>
          </a:xfrm>
          <a:prstGeom prst="rect">
            <a:avLst/>
          </a:prstGeom>
          <a:noFill/>
          <a:ln/>
        </p:spPr>
        <p:txBody>
          <a:bodyPr wrap="square" lIns="0" tIns="0" rIns="0" bIns="0" rtlCol="0" anchor="ctr"/>
          <a:lstStyle/>
          <a:p>
            <a:pPr marL="0" indent="0">
              <a:buNone/>
            </a:pPr>
            <a:r>
              <a:rPr lang="en-US" sz="4000" b="1" dirty="0">
                <a:solidFill>
                  <a:srgbClr val="8E76C8"/>
                </a:solidFill>
                <a:latin typeface="Noto Sans JP" pitchFamily="34" charset="0"/>
                <a:ea typeface="Noto Sans JP" pitchFamily="34" charset="-122"/>
                <a:cs typeface="Noto Sans JP" pitchFamily="34" charset="-120"/>
              </a:rPr>
              <a:t>06</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marL="0" indent="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ここから先のご支援</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marL="0" indent="0">
              <a:lnSpc>
                <a:spcPct val="135000"/>
              </a:lnSpc>
              <a:buNone/>
            </a:pPr>
            <a:r>
              <a:rPr lang="en-US" sz="1400" dirty="0">
                <a:solidFill>
                  <a:srgbClr val="D9CBF2"/>
                </a:solidFill>
                <a:latin typeface="Noto Sans JP" pitchFamily="34" charset="0"/>
                <a:ea typeface="Noto Sans JP" pitchFamily="34" charset="-122"/>
                <a:cs typeface="Noto Sans JP" pitchFamily="34" charset="-120"/>
              </a:rPr>
              <a:t>実行まで任せる／自社で回す／軽く続ける。</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B9A7E0"/>
                </a:solidFill>
                <a:latin typeface="Noto Sans JP" pitchFamily="34" charset="0"/>
                <a:ea typeface="Noto Sans JP" pitchFamily="34" charset="-122"/>
                <a:cs typeface="Noto Sans JP"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SUPPORT MENU — ここから先のご支援</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無料分析の範囲と、次の選択肢</a:t>
            </a:r>
            <a:endParaRPr lang="en-US" sz="2500" dirty="0"/>
          </a:p>
        </p:txBody>
      </p:sp>
      <p:sp>
        <p:nvSpPr>
          <p:cNvPr id="4" name="Shape 2"/>
          <p:cNvSpPr/>
          <p:nvPr/>
        </p:nvSpPr>
        <p:spPr>
          <a:xfrm>
            <a:off x="502920" y="1463040"/>
            <a:ext cx="11183112" cy="731520"/>
          </a:xfrm>
          <a:prstGeom prst="roundRect">
            <a:avLst>
              <a:gd name="adj" fmla="val 13750"/>
            </a:avLst>
          </a:prstGeom>
          <a:solidFill>
            <a:srgbClr val="F5F5F7"/>
          </a:solidFill>
          <a:ln w="12700">
            <a:solidFill>
              <a:srgbClr val="E5E5EA"/>
            </a:solidFill>
            <a:prstDash val="solid"/>
          </a:ln>
        </p:spPr>
        <p:txBody>
          <a:bodyPr/>
          <a:lstStyle/>
          <a:p>
            <a:endParaRPr lang="ja-JP" altLang="en-US"/>
          </a:p>
        </p:txBody>
      </p:sp>
      <p:sp>
        <p:nvSpPr>
          <p:cNvPr id="5" name="Text 3"/>
          <p:cNvSpPr/>
          <p:nvPr/>
        </p:nvSpPr>
        <p:spPr>
          <a:xfrm>
            <a:off x="777240" y="1517904"/>
            <a:ext cx="10698480" cy="621792"/>
          </a:xfrm>
          <a:prstGeom prst="rect">
            <a:avLst/>
          </a:prstGeom>
          <a:noFill/>
          <a:ln/>
        </p:spPr>
        <p:txBody>
          <a:bodyPr wrap="square" lIns="0" tIns="0" rIns="0" bIns="0" rtlCol="0" anchor="ctr"/>
          <a:lstStyle/>
          <a:p>
            <a:pPr marL="0" indent="0">
              <a:lnSpc>
                <a:spcPct val="125000"/>
              </a:lnSpc>
              <a:buNone/>
            </a:pPr>
            <a:r>
              <a:rPr lang="en-US" sz="1100" b="1" dirty="0">
                <a:solidFill>
                  <a:srgbClr val="4A1F87"/>
                </a:solidFill>
                <a:latin typeface="Noto Sans JP" pitchFamily="34" charset="0"/>
                <a:ea typeface="Noto Sans JP" pitchFamily="34" charset="-122"/>
                <a:cs typeface="Noto Sans JP" pitchFamily="34" charset="-120"/>
              </a:rPr>
              <a:t>本無料分析の範囲　</a:t>
            </a:r>
            <a:r>
              <a:rPr lang="en-US" sz="1050" dirty="0">
                <a:solidFill>
                  <a:srgbClr val="222222"/>
                </a:solidFill>
                <a:latin typeface="Noto Sans JP" pitchFamily="34" charset="0"/>
                <a:ea typeface="Noto Sans JP" pitchFamily="34" charset="-122"/>
                <a:cs typeface="Noto Sans JP" pitchFamily="34" charset="-120"/>
              </a:rPr>
              <a:t>計測プロンプトは限定本数／掲載メディアリストは一部サンプルのみ／対策は「方向性」までのご提示です。詳細のタスク設計・実行はコンサルティング領域となります。</a:t>
            </a:r>
            <a:endParaRPr lang="en-US" sz="1100" dirty="0"/>
          </a:p>
        </p:txBody>
      </p:sp>
      <p:sp>
        <p:nvSpPr>
          <p:cNvPr id="6" name="Shape 4"/>
          <p:cNvSpPr/>
          <p:nvPr/>
        </p:nvSpPr>
        <p:spPr>
          <a:xfrm>
            <a:off x="502920" y="2395728"/>
            <a:ext cx="3547872" cy="2651760"/>
          </a:xfrm>
          <a:prstGeom prst="roundRect">
            <a:avLst>
              <a:gd name="adj" fmla="val 3793"/>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7" name="Shape 5"/>
          <p:cNvSpPr/>
          <p:nvPr/>
        </p:nvSpPr>
        <p:spPr>
          <a:xfrm>
            <a:off x="502920" y="2395728"/>
            <a:ext cx="3547872" cy="82296"/>
          </a:xfrm>
          <a:prstGeom prst="roundRect">
            <a:avLst>
              <a:gd name="adj" fmla="val 44444"/>
            </a:avLst>
          </a:prstGeom>
          <a:solidFill>
            <a:srgbClr val="F57527"/>
          </a:solidFill>
          <a:ln/>
        </p:spPr>
        <p:txBody>
          <a:bodyPr/>
          <a:lstStyle/>
          <a:p>
            <a:endParaRPr lang="ja-JP" altLang="en-US"/>
          </a:p>
        </p:txBody>
      </p:sp>
      <p:sp>
        <p:nvSpPr>
          <p:cNvPr id="8" name="Shape 6"/>
          <p:cNvSpPr/>
          <p:nvPr/>
        </p:nvSpPr>
        <p:spPr>
          <a:xfrm>
            <a:off x="758952" y="2606040"/>
            <a:ext cx="1737360" cy="310896"/>
          </a:xfrm>
          <a:prstGeom prst="roundRect">
            <a:avLst>
              <a:gd name="adj" fmla="val 50000"/>
            </a:avLst>
          </a:prstGeom>
          <a:solidFill>
            <a:srgbClr val="FDE9DA"/>
          </a:solidFill>
          <a:ln/>
        </p:spPr>
        <p:txBody>
          <a:bodyPr/>
          <a:lstStyle/>
          <a:p>
            <a:endParaRPr lang="ja-JP" altLang="en-US"/>
          </a:p>
        </p:txBody>
      </p:sp>
      <p:sp>
        <p:nvSpPr>
          <p:cNvPr id="9" name="Text 7"/>
          <p:cNvSpPr/>
          <p:nvPr/>
        </p:nvSpPr>
        <p:spPr>
          <a:xfrm>
            <a:off x="713232" y="2587752"/>
            <a:ext cx="1828800" cy="347472"/>
          </a:xfrm>
          <a:prstGeom prst="rect">
            <a:avLst/>
          </a:prstGeom>
          <a:noFill/>
          <a:ln/>
        </p:spPr>
        <p:txBody>
          <a:bodyPr wrap="square" lIns="0" tIns="0" rIns="0" bIns="0" rtlCol="0" anchor="ctr"/>
          <a:lstStyle/>
          <a:p>
            <a:pPr marL="0" indent="0" algn="ctr">
              <a:buNone/>
            </a:pPr>
            <a:r>
              <a:rPr lang="en-US" sz="1050" b="1" dirty="0">
                <a:solidFill>
                  <a:srgbClr val="F57527"/>
                </a:solidFill>
                <a:latin typeface="Noto Sans JP" pitchFamily="34" charset="0"/>
                <a:ea typeface="Noto Sans JP" pitchFamily="34" charset="-122"/>
                <a:cs typeface="Noto Sans JP" pitchFamily="34" charset="-120"/>
              </a:rPr>
              <a:t>実行まで任せたい</a:t>
            </a:r>
            <a:endParaRPr lang="en-US" sz="1050" dirty="0"/>
          </a:p>
        </p:txBody>
      </p:sp>
      <p:sp>
        <p:nvSpPr>
          <p:cNvPr id="10" name="Text 8"/>
          <p:cNvSpPr/>
          <p:nvPr/>
        </p:nvSpPr>
        <p:spPr>
          <a:xfrm>
            <a:off x="758952" y="3017520"/>
            <a:ext cx="3063240" cy="411480"/>
          </a:xfrm>
          <a:prstGeom prst="rect">
            <a:avLst/>
          </a:prstGeom>
          <a:noFill/>
          <a:ln/>
        </p:spPr>
        <p:txBody>
          <a:bodyPr wrap="square" lIns="0" tIns="0" rIns="0" bIns="0" rtlCol="0" anchor="ctr"/>
          <a:lstStyle/>
          <a:p>
            <a:pPr marL="0" indent="0">
              <a:buNone/>
            </a:pPr>
            <a:r>
              <a:rPr lang="en-US" sz="1450" b="1" dirty="0">
                <a:solidFill>
                  <a:srgbClr val="222222"/>
                </a:solidFill>
                <a:latin typeface="Noto Sans JP" pitchFamily="34" charset="0"/>
                <a:ea typeface="Noto Sans JP" pitchFamily="34" charset="-122"/>
                <a:cs typeface="Noto Sans JP" pitchFamily="34" charset="-120"/>
              </a:rPr>
              <a:t>LLMOコンサルティング</a:t>
            </a:r>
            <a:endParaRPr lang="en-US" sz="1450" dirty="0"/>
          </a:p>
        </p:txBody>
      </p:sp>
      <p:sp>
        <p:nvSpPr>
          <p:cNvPr id="11" name="Text 9"/>
          <p:cNvSpPr/>
          <p:nvPr/>
        </p:nvSpPr>
        <p:spPr>
          <a:xfrm>
            <a:off x="758952" y="3429000"/>
            <a:ext cx="3063240" cy="384048"/>
          </a:xfrm>
          <a:prstGeom prst="rect">
            <a:avLst/>
          </a:prstGeom>
          <a:noFill/>
          <a:ln/>
        </p:spPr>
        <p:txBody>
          <a:bodyPr wrap="square" lIns="0" tIns="0" rIns="0" bIns="0" rtlCol="0" anchor="ctr"/>
          <a:lstStyle/>
          <a:p>
            <a:pPr marL="0" indent="0">
              <a:buNone/>
            </a:pPr>
            <a:r>
              <a:rPr lang="en-US" sz="1600" b="1" dirty="0">
                <a:solidFill>
                  <a:srgbClr val="F57527"/>
                </a:solidFill>
                <a:latin typeface="Noto Sans JP" pitchFamily="34" charset="0"/>
                <a:ea typeface="Noto Sans JP" pitchFamily="34" charset="-122"/>
                <a:cs typeface="Noto Sans JP" pitchFamily="34" charset="-120"/>
              </a:rPr>
              <a:t>月60万円〜</a:t>
            </a:r>
            <a:endParaRPr lang="en-US" sz="1600" dirty="0"/>
          </a:p>
        </p:txBody>
      </p:sp>
      <p:sp>
        <p:nvSpPr>
          <p:cNvPr id="12" name="Text 10"/>
          <p:cNvSpPr/>
          <p:nvPr/>
        </p:nvSpPr>
        <p:spPr>
          <a:xfrm>
            <a:off x="758952" y="3858768"/>
            <a:ext cx="3063240" cy="1097280"/>
          </a:xfrm>
          <a:prstGeom prst="rect">
            <a:avLst/>
          </a:prstGeom>
          <a:noFill/>
          <a:ln/>
        </p:spPr>
        <p:txBody>
          <a:bodyPr wrap="square" lIns="0" tIns="0" rIns="0" bIns="0" rtlCol="0" anchor="ctr"/>
          <a:lstStyle/>
          <a:p>
            <a:pPr marL="0" indent="0">
              <a:lnSpc>
                <a:spcPct val="130000"/>
              </a:lnSpc>
              <a:buNone/>
            </a:pPr>
            <a:r>
              <a:rPr lang="en-US" sz="980" dirty="0">
                <a:solidFill>
                  <a:srgbClr val="555A63"/>
                </a:solidFill>
                <a:latin typeface="Noto Sans JP" pitchFamily="34" charset="0"/>
                <a:ea typeface="Noto Sans JP" pitchFamily="34" charset="-122"/>
                <a:cs typeface="Noto Sans JP" pitchFamily="34" charset="-120"/>
              </a:rPr>
              <a:t>対策の詳細タスク設計から実行まで伴走。メディア掲載交渉・コンテンツ整備・構造化・月次モニタリングまで一気通貫で支援します。</a:t>
            </a:r>
            <a:endParaRPr lang="en-US" sz="980" dirty="0"/>
          </a:p>
        </p:txBody>
      </p:sp>
      <p:sp>
        <p:nvSpPr>
          <p:cNvPr id="13" name="Shape 11"/>
          <p:cNvSpPr/>
          <p:nvPr/>
        </p:nvSpPr>
        <p:spPr>
          <a:xfrm>
            <a:off x="4270248" y="2395728"/>
            <a:ext cx="3547872" cy="2651760"/>
          </a:xfrm>
          <a:prstGeom prst="roundRect">
            <a:avLst>
              <a:gd name="adj" fmla="val 3793"/>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4" name="Shape 12"/>
          <p:cNvSpPr/>
          <p:nvPr/>
        </p:nvSpPr>
        <p:spPr>
          <a:xfrm>
            <a:off x="4270248" y="2395728"/>
            <a:ext cx="3547872" cy="82296"/>
          </a:xfrm>
          <a:prstGeom prst="roundRect">
            <a:avLst>
              <a:gd name="adj" fmla="val 44444"/>
            </a:avLst>
          </a:prstGeom>
          <a:solidFill>
            <a:srgbClr val="8541DC"/>
          </a:solidFill>
          <a:ln/>
        </p:spPr>
        <p:txBody>
          <a:bodyPr/>
          <a:lstStyle/>
          <a:p>
            <a:endParaRPr lang="ja-JP" altLang="en-US"/>
          </a:p>
        </p:txBody>
      </p:sp>
      <p:sp>
        <p:nvSpPr>
          <p:cNvPr id="15" name="Shape 13"/>
          <p:cNvSpPr/>
          <p:nvPr/>
        </p:nvSpPr>
        <p:spPr>
          <a:xfrm>
            <a:off x="4526280" y="2606040"/>
            <a:ext cx="1737360" cy="310896"/>
          </a:xfrm>
          <a:prstGeom prst="roundRect">
            <a:avLst>
              <a:gd name="adj" fmla="val 50000"/>
            </a:avLst>
          </a:prstGeom>
          <a:solidFill>
            <a:srgbClr val="F0E6FC"/>
          </a:solidFill>
          <a:ln/>
        </p:spPr>
        <p:txBody>
          <a:bodyPr/>
          <a:lstStyle/>
          <a:p>
            <a:endParaRPr lang="ja-JP" altLang="en-US"/>
          </a:p>
        </p:txBody>
      </p:sp>
      <p:sp>
        <p:nvSpPr>
          <p:cNvPr id="16" name="Text 14"/>
          <p:cNvSpPr/>
          <p:nvPr/>
        </p:nvSpPr>
        <p:spPr>
          <a:xfrm>
            <a:off x="4480560" y="2587752"/>
            <a:ext cx="1828800" cy="347472"/>
          </a:xfrm>
          <a:prstGeom prst="rect">
            <a:avLst/>
          </a:prstGeom>
          <a:noFill/>
          <a:ln/>
        </p:spPr>
        <p:txBody>
          <a:bodyPr wrap="square" lIns="0" tIns="0" rIns="0" bIns="0" rtlCol="0" anchor="ctr"/>
          <a:lstStyle/>
          <a:p>
            <a:pPr marL="0" indent="0" algn="ctr">
              <a:buNone/>
            </a:pPr>
            <a:r>
              <a:rPr lang="en-US" sz="1050" b="1" dirty="0">
                <a:solidFill>
                  <a:srgbClr val="8541DC"/>
                </a:solidFill>
                <a:latin typeface="Noto Sans JP" pitchFamily="34" charset="0"/>
                <a:ea typeface="Noto Sans JP" pitchFamily="34" charset="-122"/>
                <a:cs typeface="Noto Sans JP" pitchFamily="34" charset="-120"/>
              </a:rPr>
              <a:t>自社で回したい</a:t>
            </a:r>
            <a:endParaRPr lang="en-US" sz="1050" dirty="0"/>
          </a:p>
        </p:txBody>
      </p:sp>
      <p:sp>
        <p:nvSpPr>
          <p:cNvPr id="17" name="Text 15"/>
          <p:cNvSpPr/>
          <p:nvPr/>
        </p:nvSpPr>
        <p:spPr>
          <a:xfrm>
            <a:off x="4526280" y="3017520"/>
            <a:ext cx="3063240" cy="411480"/>
          </a:xfrm>
          <a:prstGeom prst="rect">
            <a:avLst/>
          </a:prstGeom>
          <a:noFill/>
          <a:ln/>
        </p:spPr>
        <p:txBody>
          <a:bodyPr wrap="square" lIns="0" tIns="0" rIns="0" bIns="0" rtlCol="0" anchor="ctr"/>
          <a:lstStyle/>
          <a:p>
            <a:pPr marL="0" indent="0">
              <a:buNone/>
            </a:pPr>
            <a:r>
              <a:rPr lang="en-US" sz="1450" b="1" dirty="0">
                <a:solidFill>
                  <a:srgbClr val="222222"/>
                </a:solidFill>
                <a:latin typeface="Noto Sans JP" pitchFamily="34" charset="0"/>
                <a:ea typeface="Noto Sans JP" pitchFamily="34" charset="-122"/>
                <a:cs typeface="Noto Sans JP" pitchFamily="34" charset="-120"/>
              </a:rPr>
              <a:t>ツール契約</a:t>
            </a:r>
            <a:endParaRPr lang="en-US" sz="1450" dirty="0"/>
          </a:p>
        </p:txBody>
      </p:sp>
      <p:sp>
        <p:nvSpPr>
          <p:cNvPr id="18" name="Text 16"/>
          <p:cNvSpPr/>
          <p:nvPr/>
        </p:nvSpPr>
        <p:spPr>
          <a:xfrm>
            <a:off x="4526280" y="3429000"/>
            <a:ext cx="3063240" cy="384048"/>
          </a:xfrm>
          <a:prstGeom prst="rect">
            <a:avLst/>
          </a:prstGeom>
          <a:noFill/>
          <a:ln/>
        </p:spPr>
        <p:txBody>
          <a:bodyPr wrap="square" lIns="0" tIns="0" rIns="0" bIns="0" rtlCol="0" anchor="ctr"/>
          <a:lstStyle/>
          <a:p>
            <a:pPr marL="0" indent="0">
              <a:buNone/>
            </a:pPr>
            <a:r>
              <a:rPr lang="en-US" sz="1600" b="1" dirty="0">
                <a:solidFill>
                  <a:srgbClr val="8541DC"/>
                </a:solidFill>
                <a:latin typeface="Noto Sans JP" pitchFamily="34" charset="0"/>
                <a:ea typeface="Noto Sans JP" pitchFamily="34" charset="-122"/>
                <a:cs typeface="Noto Sans JP" pitchFamily="34" charset="-120"/>
              </a:rPr>
              <a:t>要お見積り</a:t>
            </a:r>
            <a:endParaRPr lang="en-US" sz="1600" dirty="0"/>
          </a:p>
        </p:txBody>
      </p:sp>
      <p:sp>
        <p:nvSpPr>
          <p:cNvPr id="19" name="Text 17"/>
          <p:cNvSpPr/>
          <p:nvPr/>
        </p:nvSpPr>
        <p:spPr>
          <a:xfrm>
            <a:off x="4526280" y="3858768"/>
            <a:ext cx="3063240" cy="1097280"/>
          </a:xfrm>
          <a:prstGeom prst="rect">
            <a:avLst/>
          </a:prstGeom>
          <a:noFill/>
          <a:ln/>
        </p:spPr>
        <p:txBody>
          <a:bodyPr wrap="square" lIns="0" tIns="0" rIns="0" bIns="0" rtlCol="0" anchor="ctr"/>
          <a:lstStyle/>
          <a:p>
            <a:pPr marL="0" indent="0">
              <a:lnSpc>
                <a:spcPct val="130000"/>
              </a:lnSpc>
              <a:buNone/>
            </a:pPr>
            <a:r>
              <a:rPr lang="en-US" sz="980" dirty="0">
                <a:solidFill>
                  <a:srgbClr val="555A63"/>
                </a:solidFill>
                <a:latin typeface="Noto Sans JP" pitchFamily="34" charset="0"/>
                <a:ea typeface="Noto Sans JP" pitchFamily="34" charset="-122"/>
                <a:cs typeface="Noto Sans JP" pitchFamily="34" charset="-120"/>
              </a:rPr>
              <a:t>本分析で使用したモニタリング等、部分的な機能だけのツール契約が可能。自社チームでAI検索の定点観測を回せます。</a:t>
            </a:r>
            <a:endParaRPr lang="en-US" sz="980" dirty="0"/>
          </a:p>
        </p:txBody>
      </p:sp>
      <p:sp>
        <p:nvSpPr>
          <p:cNvPr id="20" name="Shape 18"/>
          <p:cNvSpPr/>
          <p:nvPr/>
        </p:nvSpPr>
        <p:spPr>
          <a:xfrm>
            <a:off x="8037576" y="2395728"/>
            <a:ext cx="3547872" cy="2651760"/>
          </a:xfrm>
          <a:prstGeom prst="roundRect">
            <a:avLst>
              <a:gd name="adj" fmla="val 3793"/>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21" name="Shape 19"/>
          <p:cNvSpPr/>
          <p:nvPr/>
        </p:nvSpPr>
        <p:spPr>
          <a:xfrm>
            <a:off x="8037576" y="2395728"/>
            <a:ext cx="3547872" cy="82296"/>
          </a:xfrm>
          <a:prstGeom prst="roundRect">
            <a:avLst>
              <a:gd name="adj" fmla="val 44444"/>
            </a:avLst>
          </a:prstGeom>
          <a:solidFill>
            <a:srgbClr val="6A2FB8"/>
          </a:solidFill>
          <a:ln/>
        </p:spPr>
        <p:txBody>
          <a:bodyPr/>
          <a:lstStyle/>
          <a:p>
            <a:endParaRPr lang="ja-JP" altLang="en-US"/>
          </a:p>
        </p:txBody>
      </p:sp>
      <p:sp>
        <p:nvSpPr>
          <p:cNvPr id="22" name="Shape 20"/>
          <p:cNvSpPr/>
          <p:nvPr/>
        </p:nvSpPr>
        <p:spPr>
          <a:xfrm>
            <a:off x="8293608" y="2606040"/>
            <a:ext cx="1737360" cy="310896"/>
          </a:xfrm>
          <a:prstGeom prst="roundRect">
            <a:avLst>
              <a:gd name="adj" fmla="val 50000"/>
            </a:avLst>
          </a:prstGeom>
          <a:solidFill>
            <a:srgbClr val="F0E6FC"/>
          </a:solidFill>
          <a:ln/>
        </p:spPr>
        <p:txBody>
          <a:bodyPr/>
          <a:lstStyle/>
          <a:p>
            <a:endParaRPr lang="ja-JP" altLang="en-US"/>
          </a:p>
        </p:txBody>
      </p:sp>
      <p:sp>
        <p:nvSpPr>
          <p:cNvPr id="23" name="Text 21"/>
          <p:cNvSpPr/>
          <p:nvPr/>
        </p:nvSpPr>
        <p:spPr>
          <a:xfrm>
            <a:off x="8247888" y="2587752"/>
            <a:ext cx="1828800" cy="347472"/>
          </a:xfrm>
          <a:prstGeom prst="rect">
            <a:avLst/>
          </a:prstGeom>
          <a:noFill/>
          <a:ln/>
        </p:spPr>
        <p:txBody>
          <a:bodyPr wrap="square" lIns="0" tIns="0" rIns="0" bIns="0" rtlCol="0" anchor="ctr"/>
          <a:lstStyle/>
          <a:p>
            <a:pPr marL="0" indent="0" algn="ctr">
              <a:buNone/>
            </a:pPr>
            <a:r>
              <a:rPr lang="en-US" sz="1050" b="1" dirty="0">
                <a:solidFill>
                  <a:srgbClr val="6A2FB8"/>
                </a:solidFill>
                <a:latin typeface="Noto Sans JP" pitchFamily="34" charset="0"/>
                <a:ea typeface="Noto Sans JP" pitchFamily="34" charset="-122"/>
                <a:cs typeface="Noto Sans JP" pitchFamily="34" charset="-120"/>
              </a:rPr>
              <a:t>軽く続けたい</a:t>
            </a:r>
            <a:endParaRPr lang="en-US" sz="1050" dirty="0"/>
          </a:p>
        </p:txBody>
      </p:sp>
      <p:sp>
        <p:nvSpPr>
          <p:cNvPr id="24" name="Text 22"/>
          <p:cNvSpPr/>
          <p:nvPr/>
        </p:nvSpPr>
        <p:spPr>
          <a:xfrm>
            <a:off x="8293608" y="3017520"/>
            <a:ext cx="3063240" cy="411480"/>
          </a:xfrm>
          <a:prstGeom prst="rect">
            <a:avLst/>
          </a:prstGeom>
          <a:noFill/>
          <a:ln/>
        </p:spPr>
        <p:txBody>
          <a:bodyPr wrap="square" lIns="0" tIns="0" rIns="0" bIns="0" rtlCol="0" anchor="ctr"/>
          <a:lstStyle/>
          <a:p>
            <a:pPr marL="0" indent="0">
              <a:buNone/>
            </a:pPr>
            <a:r>
              <a:rPr lang="en-US" sz="1450" b="1" dirty="0">
                <a:solidFill>
                  <a:srgbClr val="222222"/>
                </a:solidFill>
                <a:latin typeface="Noto Sans JP" pitchFamily="34" charset="0"/>
                <a:ea typeface="Noto Sans JP" pitchFamily="34" charset="-122"/>
                <a:cs typeface="Noto Sans JP" pitchFamily="34" charset="-120"/>
              </a:rPr>
              <a:t>レポーティング＋助言</a:t>
            </a:r>
            <a:endParaRPr lang="en-US" sz="1450" dirty="0"/>
          </a:p>
        </p:txBody>
      </p:sp>
      <p:sp>
        <p:nvSpPr>
          <p:cNvPr id="25" name="Text 23"/>
          <p:cNvSpPr/>
          <p:nvPr/>
        </p:nvSpPr>
        <p:spPr>
          <a:xfrm>
            <a:off x="8293608" y="3429000"/>
            <a:ext cx="3063240" cy="384048"/>
          </a:xfrm>
          <a:prstGeom prst="rect">
            <a:avLst/>
          </a:prstGeom>
          <a:noFill/>
          <a:ln/>
        </p:spPr>
        <p:txBody>
          <a:bodyPr wrap="square" lIns="0" tIns="0" rIns="0" bIns="0" rtlCol="0" anchor="ctr"/>
          <a:lstStyle/>
          <a:p>
            <a:pPr marL="0" indent="0">
              <a:buNone/>
            </a:pPr>
            <a:r>
              <a:rPr lang="en-US" sz="1600" b="1" dirty="0">
                <a:solidFill>
                  <a:srgbClr val="6A2FB8"/>
                </a:solidFill>
                <a:latin typeface="Noto Sans JP" pitchFamily="34" charset="0"/>
                <a:ea typeface="Noto Sans JP" pitchFamily="34" charset="-122"/>
                <a:cs typeface="Noto Sans JP" pitchFamily="34" charset="-120"/>
              </a:rPr>
              <a:t>月1回</a:t>
            </a:r>
            <a:endParaRPr lang="en-US" sz="1600" dirty="0"/>
          </a:p>
        </p:txBody>
      </p:sp>
      <p:sp>
        <p:nvSpPr>
          <p:cNvPr id="26" name="Text 24"/>
          <p:cNvSpPr/>
          <p:nvPr/>
        </p:nvSpPr>
        <p:spPr>
          <a:xfrm>
            <a:off x="8293608" y="3858768"/>
            <a:ext cx="3063240" cy="1097280"/>
          </a:xfrm>
          <a:prstGeom prst="rect">
            <a:avLst/>
          </a:prstGeom>
          <a:noFill/>
          <a:ln/>
        </p:spPr>
        <p:txBody>
          <a:bodyPr wrap="square" lIns="0" tIns="0" rIns="0" bIns="0" rtlCol="0" anchor="ctr"/>
          <a:lstStyle/>
          <a:p>
            <a:pPr marL="0" indent="0">
              <a:lnSpc>
                <a:spcPct val="130000"/>
              </a:lnSpc>
              <a:buNone/>
            </a:pPr>
            <a:r>
              <a:rPr lang="en-US" sz="980" dirty="0">
                <a:solidFill>
                  <a:srgbClr val="555A63"/>
                </a:solidFill>
                <a:latin typeface="Noto Sans JP" pitchFamily="34" charset="0"/>
                <a:ea typeface="Noto Sans JP" pitchFamily="34" charset="-122"/>
                <a:cs typeface="Noto Sans JP" pitchFamily="34" charset="-120"/>
              </a:rPr>
              <a:t>本レポート形式での定期レポーティングと改善助言のみのご契約も可能。社内の意思決定材料としてご活用いただけます。</a:t>
            </a:r>
            <a:endParaRPr lang="en-US" sz="980" dirty="0"/>
          </a:p>
        </p:txBody>
      </p:sp>
      <p:sp>
        <p:nvSpPr>
          <p:cNvPr id="27" name="Shape 25"/>
          <p:cNvSpPr/>
          <p:nvPr/>
        </p:nvSpPr>
        <p:spPr>
          <a:xfrm>
            <a:off x="502920" y="5257800"/>
            <a:ext cx="11183112" cy="914400"/>
          </a:xfrm>
          <a:prstGeom prst="roundRect">
            <a:avLst>
              <a:gd name="adj" fmla="val 11000"/>
            </a:avLst>
          </a:prstGeom>
          <a:solidFill>
            <a:srgbClr val="4A1F87"/>
          </a:solidFill>
          <a:ln/>
        </p:spPr>
        <p:txBody>
          <a:bodyPr/>
          <a:lstStyle/>
          <a:p>
            <a:endParaRPr lang="ja-JP" altLang="en-US"/>
          </a:p>
        </p:txBody>
      </p:sp>
      <p:sp>
        <p:nvSpPr>
          <p:cNvPr id="28" name="Text 26"/>
          <p:cNvSpPr/>
          <p:nvPr/>
        </p:nvSpPr>
        <p:spPr>
          <a:xfrm>
            <a:off x="777240" y="5349240"/>
            <a:ext cx="10607040" cy="777240"/>
          </a:xfrm>
          <a:prstGeom prst="rect">
            <a:avLst/>
          </a:prstGeom>
          <a:noFill/>
          <a:ln/>
        </p:spPr>
        <p:txBody>
          <a:bodyPr wrap="square" lIns="0" tIns="0" rIns="0" bIns="0" rtlCol="0" anchor="ctr"/>
          <a:lstStyle/>
          <a:p>
            <a:pPr marL="0" indent="0">
              <a:lnSpc>
                <a:spcPct val="130000"/>
              </a:lnSpc>
              <a:buNone/>
            </a:pPr>
            <a:r>
              <a:rPr lang="en-US" sz="1200" b="1" dirty="0">
                <a:solidFill>
                  <a:srgbClr val="D9CBF2"/>
                </a:solidFill>
                <a:latin typeface="Noto Sans JP" pitchFamily="34" charset="0"/>
                <a:ea typeface="Noto Sans JP" pitchFamily="34" charset="-122"/>
                <a:cs typeface="Noto Sans JP" pitchFamily="34" charset="-120"/>
              </a:rPr>
              <a:t>ブランド定義から見直したい場合　</a:t>
            </a:r>
            <a:endParaRPr lang="en-US" sz="1200" dirty="0"/>
          </a:p>
          <a:p>
            <a:pPr marL="0" indent="0">
              <a:lnSpc>
                <a:spcPct val="130000"/>
              </a:lnSpc>
              <a:buNone/>
            </a:pPr>
            <a:r>
              <a:rPr lang="en-US" sz="1100" dirty="0">
                <a:solidFill>
                  <a:srgbClr val="FFFFFF"/>
                </a:solidFill>
                <a:latin typeface="Noto Sans JP" pitchFamily="34" charset="0"/>
                <a:ea typeface="Noto Sans JP" pitchFamily="34" charset="-122"/>
                <a:cs typeface="Noto Sans JP" pitchFamily="34" charset="-120"/>
              </a:rPr>
              <a:t>LLMOは「AIに何者として覚えてもらうか」＝ブランド定義が起点です。CEP分析・n1分析・カテゴリコンセプト開発など、定義そのものを作り直すご支援も可能です。</a:t>
            </a:r>
            <a:endParaRPr lang="en-US" sz="1200" dirty="0"/>
          </a:p>
        </p:txBody>
      </p:sp>
      <p:sp>
        <p:nvSpPr>
          <p:cNvPr id="29" name="Text 27"/>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0" name="Text 28"/>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SCOPE — ツール／モニタリングの対応範囲</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どこまでがツールで、どこからがモニタリング・コンサルティングか</a:t>
            </a:r>
            <a:endParaRPr lang="en-US" sz="2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3657600"/>
        </p:xfrm>
        <a:graphic>
          <a:graphicData uri="http://schemas.openxmlformats.org/drawingml/2006/table">
            <a:tbl>
              <a:tblPr/>
              <a:tblGrid>
                <a:gridCol w="29260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496312">
                  <a:extLst>
                    <a:ext uri="{9D8B030D-6E8A-4147-A177-3AD203B41FA5}">
                      <a16:colId xmlns:a16="http://schemas.microsoft.com/office/drawing/2014/main" val="20003"/>
                    </a:ext>
                  </a:extLst>
                </a:gridCol>
              </a:tblGrid>
              <a:tr h="457200">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提供項目</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ツール</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モニタリング</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コンサルティング</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extLst>
                  <a:ext uri="{0D108BD9-81ED-4DB2-BD59-A6C34878D82A}">
                    <a16:rowId xmlns:a16="http://schemas.microsoft.com/office/drawing/2014/main" val="10000"/>
                  </a:ext>
                </a:extLst>
              </a:tr>
              <a:tr h="45720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提供価値</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低単価で定常チェックできる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状況がわかり、実行に移す土台ができる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結果が出るまで伴走・コミット</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1"/>
                  </a:ext>
                </a:extLst>
              </a:tr>
              <a:tr h="45720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プロンプトモニタリング（週3回）</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プラン本数まで</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ツールと同じ</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業界・ブランドに合わせ設計</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サイテーション一覧</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一覧表示のみ（優先度なし）</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優先度付け＋狙うべき引用元の提案</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選定から掲載獲得の実行まで</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3"/>
                  </a:ext>
                </a:extLst>
              </a:tr>
              <a:tr h="45720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サイト最適化診断</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全ページ・制限なし（ページ別）</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横断整理して「サイト共通対策」に</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全ページ＋個別改善の実行</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ブランドポジション分析</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×（自社の出現率のみ）</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ファネル別・AI別に競合と比較</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業界構造・KBFまで設計</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5"/>
                  </a:ext>
                </a:extLst>
              </a:tr>
              <a:tr h="45720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月1回の深掘りレポート</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前月比・前月アクションの振り返り付き</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より広範囲・深い分析</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実行プランの策定・伴走</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×（対策の方向性まで）</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 個別策定＋定例で伴走</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7"/>
                  </a:ext>
                </a:extLst>
              </a:tr>
            </a:tbl>
          </a:graphicData>
        </a:graphic>
      </p:graphicFrame>
      <p:sp>
        <p:nvSpPr>
          <p:cNvPr id="5" name="Text 2"/>
          <p:cNvSpPr/>
          <p:nvPr/>
        </p:nvSpPr>
        <p:spPr>
          <a:xfrm>
            <a:off x="502920" y="5029200"/>
            <a:ext cx="11155680" cy="502920"/>
          </a:xfrm>
          <a:prstGeom prst="rect">
            <a:avLst/>
          </a:prstGeom>
          <a:noFill/>
          <a:ln/>
        </p:spPr>
        <p:txBody>
          <a:bodyPr wrap="square" lIns="0" tIns="0" rIns="0" bIns="0" rtlCol="0" anchor="ctr"/>
          <a:lstStyle/>
          <a:p>
            <a:pPr marL="0" indent="0">
              <a:lnSpc>
                <a:spcPct val="125000"/>
              </a:lnSpc>
              <a:buNone/>
            </a:pPr>
            <a:r>
              <a:rPr lang="en-US" sz="1100" b="1" dirty="0">
                <a:solidFill>
                  <a:srgbClr val="F57527"/>
                </a:solidFill>
                <a:latin typeface="Noto Sans JP" pitchFamily="34" charset="0"/>
                <a:ea typeface="Noto Sans JP" pitchFamily="34" charset="-122"/>
                <a:cs typeface="Noto Sans JP" pitchFamily="34" charset="-120"/>
              </a:rPr>
              <a:t>本レポートの内容は「モニタリング」の月1レポートに相当します。継続してこの粒度で見ていくのがモニタリング、実行まで任せるのがコンサルティングです。</a:t>
            </a:r>
            <a:endParaRPr lang="en-US" sz="1100" dirty="0"/>
          </a:p>
        </p:txBody>
      </p:sp>
      <p:sp>
        <p:nvSpPr>
          <p:cNvPr id="6" name="Text 3"/>
          <p:cNvSpPr/>
          <p:nvPr/>
        </p:nvSpPr>
        <p:spPr>
          <a:xfrm>
            <a:off x="502920" y="5989320"/>
            <a:ext cx="1115568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○＝含む／△＝一部／×＝含まない。計測頻度は週3回・各1回（プロンプトあたり月約13回）で全プラン一律です。</a:t>
            </a:r>
            <a:endParaRPr lang="en-US" sz="900" dirty="0"/>
          </a:p>
        </p:txBody>
      </p:sp>
      <p:sp>
        <p:nvSpPr>
          <p:cNvPr id="7" name="Text 4"/>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8" name="Text 5"/>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PRICING — 料金の考え方とサンプル料金</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プロンプト本数 × レポートの有無 × 計測するAIの数 で決まります</a:t>
            </a:r>
            <a:endParaRPr lang="en-US" sz="2500" dirty="0"/>
          </a:p>
        </p:txBody>
      </p:sp>
      <p:sp>
        <p:nvSpPr>
          <p:cNvPr id="4" name="Shape 2"/>
          <p:cNvSpPr/>
          <p:nvPr/>
        </p:nvSpPr>
        <p:spPr>
          <a:xfrm>
            <a:off x="502920" y="1508760"/>
            <a:ext cx="3547872" cy="1481328"/>
          </a:xfrm>
          <a:prstGeom prst="roundRect">
            <a:avLst>
              <a:gd name="adj" fmla="val 6790"/>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5" name="Shape 3"/>
          <p:cNvSpPr/>
          <p:nvPr/>
        </p:nvSpPr>
        <p:spPr>
          <a:xfrm>
            <a:off x="502920" y="1508760"/>
            <a:ext cx="3547872" cy="82296"/>
          </a:xfrm>
          <a:prstGeom prst="roundRect">
            <a:avLst>
              <a:gd name="adj" fmla="val 44444"/>
            </a:avLst>
          </a:prstGeom>
          <a:solidFill>
            <a:srgbClr val="8541DC"/>
          </a:solidFill>
          <a:ln/>
        </p:spPr>
        <p:txBody>
          <a:bodyPr/>
          <a:lstStyle/>
          <a:p>
            <a:endParaRPr lang="ja-JP" altLang="en-US"/>
          </a:p>
        </p:txBody>
      </p:sp>
      <p:sp>
        <p:nvSpPr>
          <p:cNvPr id="6" name="Text 4"/>
          <p:cNvSpPr/>
          <p:nvPr/>
        </p:nvSpPr>
        <p:spPr>
          <a:xfrm>
            <a:off x="758952" y="1700784"/>
            <a:ext cx="3063240" cy="329184"/>
          </a:xfrm>
          <a:prstGeom prst="rect">
            <a:avLst/>
          </a:prstGeom>
          <a:noFill/>
          <a:ln/>
        </p:spPr>
        <p:txBody>
          <a:bodyPr wrap="square" lIns="0" tIns="0" rIns="0" bIns="0" rtlCol="0" anchor="ctr"/>
          <a:lstStyle/>
          <a:p>
            <a:pPr marL="0" indent="0">
              <a:buNone/>
            </a:pPr>
            <a:r>
              <a:rPr lang="en-US" sz="1250" b="1" dirty="0">
                <a:solidFill>
                  <a:srgbClr val="8541DC"/>
                </a:solidFill>
                <a:latin typeface="Noto Sans JP" pitchFamily="34" charset="0"/>
                <a:ea typeface="Noto Sans JP" pitchFamily="34" charset="-122"/>
                <a:cs typeface="Noto Sans JP" pitchFamily="34" charset="-120"/>
              </a:rPr>
              <a:t>① プロンプト本数（従量）</a:t>
            </a:r>
            <a:endParaRPr lang="en-US" sz="1250" dirty="0"/>
          </a:p>
        </p:txBody>
      </p:sp>
      <p:sp>
        <p:nvSpPr>
          <p:cNvPr id="7" name="Text 5"/>
          <p:cNvSpPr/>
          <p:nvPr/>
        </p:nvSpPr>
        <p:spPr>
          <a:xfrm>
            <a:off x="758952" y="2066544"/>
            <a:ext cx="3063240" cy="868680"/>
          </a:xfrm>
          <a:prstGeom prst="rect">
            <a:avLst/>
          </a:prstGeom>
          <a:noFill/>
          <a:ln/>
        </p:spPr>
        <p:txBody>
          <a:bodyPr wrap="square" lIns="0" tIns="0" rIns="0" bIns="0" rtlCol="0" anchor="ctr"/>
          <a:lstStyle/>
          <a:p>
            <a:pPr marL="0" indent="0">
              <a:lnSpc>
                <a:spcPct val="130000"/>
              </a:lnSpc>
              <a:buNone/>
            </a:pPr>
            <a:r>
              <a:rPr lang="en-US" sz="980" dirty="0">
                <a:solidFill>
                  <a:srgbClr val="555A63"/>
                </a:solidFill>
                <a:latin typeface="Noto Sans JP" pitchFamily="34" charset="0"/>
                <a:ea typeface="Noto Sans JP" pitchFamily="34" charset="-122"/>
                <a:cs typeface="Noto Sans JP" pitchFamily="34" charset="-120"/>
              </a:rPr>
              <a:t>計測するプロンプト数に応じた従量制。本数が増えるほど1本あたりの単価は下がります（¥980/本 → ¥250/本）。</a:t>
            </a:r>
            <a:endParaRPr lang="en-US" sz="980" dirty="0"/>
          </a:p>
        </p:txBody>
      </p:sp>
      <p:sp>
        <p:nvSpPr>
          <p:cNvPr id="8" name="Shape 6"/>
          <p:cNvSpPr/>
          <p:nvPr/>
        </p:nvSpPr>
        <p:spPr>
          <a:xfrm>
            <a:off x="4270248" y="1508760"/>
            <a:ext cx="3547872" cy="1481328"/>
          </a:xfrm>
          <a:prstGeom prst="roundRect">
            <a:avLst>
              <a:gd name="adj" fmla="val 6790"/>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9" name="Shape 7"/>
          <p:cNvSpPr/>
          <p:nvPr/>
        </p:nvSpPr>
        <p:spPr>
          <a:xfrm>
            <a:off x="4270248" y="1508760"/>
            <a:ext cx="3547872" cy="82296"/>
          </a:xfrm>
          <a:prstGeom prst="roundRect">
            <a:avLst>
              <a:gd name="adj" fmla="val 44444"/>
            </a:avLst>
          </a:prstGeom>
          <a:solidFill>
            <a:srgbClr val="F57527"/>
          </a:solidFill>
          <a:ln/>
        </p:spPr>
        <p:txBody>
          <a:bodyPr/>
          <a:lstStyle/>
          <a:p>
            <a:endParaRPr lang="ja-JP" altLang="en-US"/>
          </a:p>
        </p:txBody>
      </p:sp>
      <p:sp>
        <p:nvSpPr>
          <p:cNvPr id="10" name="Text 8"/>
          <p:cNvSpPr/>
          <p:nvPr/>
        </p:nvSpPr>
        <p:spPr>
          <a:xfrm>
            <a:off x="4526280" y="1700784"/>
            <a:ext cx="3063240" cy="329184"/>
          </a:xfrm>
          <a:prstGeom prst="rect">
            <a:avLst/>
          </a:prstGeom>
          <a:noFill/>
          <a:ln/>
        </p:spPr>
        <p:txBody>
          <a:bodyPr wrap="square" lIns="0" tIns="0" rIns="0" bIns="0" rtlCol="0" anchor="ctr"/>
          <a:lstStyle/>
          <a:p>
            <a:pPr marL="0" indent="0">
              <a:buNone/>
            </a:pPr>
            <a:r>
              <a:rPr lang="en-US" sz="1250" b="1" dirty="0">
                <a:solidFill>
                  <a:srgbClr val="F57527"/>
                </a:solidFill>
                <a:latin typeface="Noto Sans JP" pitchFamily="34" charset="0"/>
                <a:ea typeface="Noto Sans JP" pitchFamily="34" charset="-122"/>
                <a:cs typeface="Noto Sans JP" pitchFamily="34" charset="-120"/>
              </a:rPr>
              <a:t>② モニタリング（月1レポート）</a:t>
            </a:r>
            <a:endParaRPr lang="en-US" sz="1250" dirty="0"/>
          </a:p>
        </p:txBody>
      </p:sp>
      <p:sp>
        <p:nvSpPr>
          <p:cNvPr id="11" name="Text 9"/>
          <p:cNvSpPr/>
          <p:nvPr/>
        </p:nvSpPr>
        <p:spPr>
          <a:xfrm>
            <a:off x="4526280" y="2066544"/>
            <a:ext cx="3063240" cy="868680"/>
          </a:xfrm>
          <a:prstGeom prst="rect">
            <a:avLst/>
          </a:prstGeom>
          <a:noFill/>
          <a:ln/>
        </p:spPr>
        <p:txBody>
          <a:bodyPr wrap="square" lIns="0" tIns="0" rIns="0" bIns="0" rtlCol="0" anchor="ctr"/>
          <a:lstStyle/>
          <a:p>
            <a:pPr marL="0" indent="0">
              <a:lnSpc>
                <a:spcPct val="130000"/>
              </a:lnSpc>
              <a:buNone/>
            </a:pPr>
            <a:r>
              <a:rPr lang="en-US" sz="980" dirty="0">
                <a:solidFill>
                  <a:srgbClr val="555A63"/>
                </a:solidFill>
                <a:latin typeface="Noto Sans JP" pitchFamily="34" charset="0"/>
                <a:ea typeface="Noto Sans JP" pitchFamily="34" charset="-122"/>
                <a:cs typeface="Noto Sans JP" pitchFamily="34" charset="-120"/>
              </a:rPr>
              <a:t>ツール利用に月1回の深掘りレポートを追加。本数帯で上乗せ額が決まります（100本まで＋¥100,000／101〜500本＋¥150,000／501本〜＋¥200,000）。</a:t>
            </a:r>
            <a:endParaRPr lang="en-US" sz="980" dirty="0"/>
          </a:p>
        </p:txBody>
      </p:sp>
      <p:sp>
        <p:nvSpPr>
          <p:cNvPr id="12" name="Shape 10"/>
          <p:cNvSpPr/>
          <p:nvPr/>
        </p:nvSpPr>
        <p:spPr>
          <a:xfrm>
            <a:off x="8037576" y="1508760"/>
            <a:ext cx="3547872" cy="1481328"/>
          </a:xfrm>
          <a:prstGeom prst="roundRect">
            <a:avLst>
              <a:gd name="adj" fmla="val 6790"/>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3" name="Shape 11"/>
          <p:cNvSpPr/>
          <p:nvPr/>
        </p:nvSpPr>
        <p:spPr>
          <a:xfrm>
            <a:off x="8037576" y="1508760"/>
            <a:ext cx="3547872" cy="82296"/>
          </a:xfrm>
          <a:prstGeom prst="roundRect">
            <a:avLst>
              <a:gd name="adj" fmla="val 44444"/>
            </a:avLst>
          </a:prstGeom>
          <a:solidFill>
            <a:srgbClr val="6A2FB8"/>
          </a:solidFill>
          <a:ln/>
        </p:spPr>
        <p:txBody>
          <a:bodyPr/>
          <a:lstStyle/>
          <a:p>
            <a:endParaRPr lang="ja-JP" altLang="en-US"/>
          </a:p>
        </p:txBody>
      </p:sp>
      <p:sp>
        <p:nvSpPr>
          <p:cNvPr id="14" name="Text 12"/>
          <p:cNvSpPr/>
          <p:nvPr/>
        </p:nvSpPr>
        <p:spPr>
          <a:xfrm>
            <a:off x="8293608" y="1700784"/>
            <a:ext cx="3063240" cy="329184"/>
          </a:xfrm>
          <a:prstGeom prst="rect">
            <a:avLst/>
          </a:prstGeom>
          <a:noFill/>
          <a:ln/>
        </p:spPr>
        <p:txBody>
          <a:bodyPr wrap="square" lIns="0" tIns="0" rIns="0" bIns="0" rtlCol="0" anchor="ctr"/>
          <a:lstStyle/>
          <a:p>
            <a:pPr marL="0" indent="0">
              <a:buNone/>
            </a:pPr>
            <a:r>
              <a:rPr lang="en-US" sz="1250" b="1" dirty="0">
                <a:solidFill>
                  <a:srgbClr val="6A2FB8"/>
                </a:solidFill>
                <a:latin typeface="Noto Sans JP" pitchFamily="34" charset="0"/>
                <a:ea typeface="Noto Sans JP" pitchFamily="34" charset="-122"/>
                <a:cs typeface="Noto Sans JP" pitchFamily="34" charset="-120"/>
              </a:rPr>
              <a:t>③ 計測するAIの数</a:t>
            </a:r>
            <a:endParaRPr lang="en-US" sz="1250" dirty="0"/>
          </a:p>
        </p:txBody>
      </p:sp>
      <p:sp>
        <p:nvSpPr>
          <p:cNvPr id="15" name="Text 13"/>
          <p:cNvSpPr/>
          <p:nvPr/>
        </p:nvSpPr>
        <p:spPr>
          <a:xfrm>
            <a:off x="8293608" y="2066544"/>
            <a:ext cx="3063240" cy="868680"/>
          </a:xfrm>
          <a:prstGeom prst="rect">
            <a:avLst/>
          </a:prstGeom>
          <a:noFill/>
          <a:ln/>
        </p:spPr>
        <p:txBody>
          <a:bodyPr wrap="square" lIns="0" tIns="0" rIns="0" bIns="0" rtlCol="0" anchor="ctr"/>
          <a:lstStyle/>
          <a:p>
            <a:pPr marL="0" indent="0">
              <a:lnSpc>
                <a:spcPct val="130000"/>
              </a:lnSpc>
              <a:buNone/>
            </a:pPr>
            <a:r>
              <a:rPr lang="en-US" sz="980" dirty="0">
                <a:solidFill>
                  <a:srgbClr val="555A63"/>
                </a:solidFill>
                <a:latin typeface="Noto Sans JP" pitchFamily="34" charset="0"/>
                <a:ea typeface="Noto Sans JP" pitchFamily="34" charset="-122"/>
                <a:cs typeface="Noto Sans JP" pitchFamily="34" charset="-120"/>
              </a:rPr>
              <a:t>標準はChatGPT・Gemini・AI Overviewsの3エンジン。Perplexity ＋¥100/本・月、Claude ＋¥450/本・月で追加できます。</a:t>
            </a:r>
            <a:endParaRPr lang="en-US" sz="980" dirty="0"/>
          </a:p>
        </p:txBody>
      </p:sp>
      <p:sp>
        <p:nvSpPr>
          <p:cNvPr id="16" name="Text 14"/>
          <p:cNvSpPr/>
          <p:nvPr/>
        </p:nvSpPr>
        <p:spPr>
          <a:xfrm>
            <a:off x="502920" y="3127248"/>
            <a:ext cx="7315200" cy="320040"/>
          </a:xfrm>
          <a:prstGeom prst="rect">
            <a:avLst/>
          </a:prstGeom>
          <a:noFill/>
          <a:ln/>
        </p:spPr>
        <p:txBody>
          <a:bodyPr wrap="square" lIns="0" tIns="0" rIns="0" bIns="0" rtlCol="0" anchor="ctr"/>
          <a:lstStyle/>
          <a:p>
            <a:pPr marL="0" indent="0">
              <a:buNone/>
            </a:pPr>
            <a:r>
              <a:rPr lang="en-US" sz="1250" b="1" dirty="0">
                <a:solidFill>
                  <a:srgbClr val="8541DC"/>
                </a:solidFill>
                <a:latin typeface="Noto Sans JP" pitchFamily="34" charset="0"/>
                <a:ea typeface="Noto Sans JP" pitchFamily="34" charset="-122"/>
                <a:cs typeface="Noto Sans JP" pitchFamily="34" charset="-120"/>
              </a:rPr>
              <a:t>サンプル料金（月額・税抜）</a:t>
            </a:r>
            <a:endParaRPr lang="en-US" sz="12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3493008"/>
          <a:ext cx="11183112" cy="2304288"/>
        </p:xfrm>
        <a:graphic>
          <a:graphicData uri="http://schemas.openxmlformats.org/drawingml/2006/table">
            <a:tbl>
              <a:tblPr/>
              <a:tblGrid>
                <a:gridCol w="23774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gridCol w="1947672">
                  <a:extLst>
                    <a:ext uri="{9D8B030D-6E8A-4147-A177-3AD203B41FA5}">
                      <a16:colId xmlns:a16="http://schemas.microsoft.com/office/drawing/2014/main" val="20004"/>
                    </a:ext>
                  </a:extLst>
                </a:gridCol>
              </a:tblGrid>
              <a:tr h="384048">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プラン</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プロンプト数</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ツールのみ</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＋モニタリング</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1本あたり</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extLst>
                  <a:ext uri="{0D108BD9-81ED-4DB2-BD59-A6C34878D82A}">
                    <a16:rowId xmlns:a16="http://schemas.microsoft.com/office/drawing/2014/main" val="10000"/>
                  </a:ext>
                </a:extLst>
              </a:tr>
              <a:tr h="38404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Starter</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10本</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¥9,800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－（Standard以上が対象）</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¥980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1"/>
                  </a:ext>
                </a:extLst>
              </a:tr>
              <a:tr h="38404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Standard</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50本</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¥50,000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¥150,000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¥1,000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Pro</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125本</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¥100,000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¥250,000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¥800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3"/>
                  </a:ext>
                </a:extLst>
              </a:tr>
              <a:tr h="38404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Enterprise（要見積）</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500本</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¥275,000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¥425,000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¥550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Enterprise（要見積）</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2,000本</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¥500,000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¥700,000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¥250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5"/>
                  </a:ext>
                </a:extLst>
              </a:tr>
            </a:tbl>
          </a:graphicData>
        </a:graphic>
      </p:graphicFrame>
      <p:sp>
        <p:nvSpPr>
          <p:cNvPr id="18" name="Text 15"/>
          <p:cNvSpPr/>
          <p:nvPr/>
        </p:nvSpPr>
        <p:spPr>
          <a:xfrm>
            <a:off x="502920" y="5943600"/>
            <a:ext cx="11155680" cy="384048"/>
          </a:xfrm>
          <a:prstGeom prst="rect">
            <a:avLst/>
          </a:prstGeom>
          <a:noFill/>
          <a:ln/>
        </p:spPr>
        <p:txBody>
          <a:bodyPr wrap="square" lIns="0" tIns="0" rIns="0" bIns="0" rtlCol="0" anchor="ctr"/>
          <a:lstStyle/>
          <a:p>
            <a:pPr marL="0" indent="0">
              <a:lnSpc>
                <a:spcPct val="120000"/>
              </a:lnSpc>
              <a:buNone/>
            </a:pPr>
            <a:r>
              <a:rPr lang="en-US" sz="900" dirty="0">
                <a:solidFill>
                  <a:srgbClr val="8A8F98"/>
                </a:solidFill>
                <a:latin typeface="Noto Sans JP" pitchFamily="34" charset="0"/>
                <a:ea typeface="Noto Sans JP" pitchFamily="34" charset="-122"/>
                <a:cs typeface="Noto Sans JP" pitchFamily="34" charset="-120"/>
              </a:rPr>
              <a:t>月額・税抜。Enterprise帯は要見積です（表の金額は本数逓減カーブに基づく参考単価）。導入前に1週間の無料トライアル（Starter相当をフル開放）をご用意しています。｜本ご案内は2026-09-01時点のものです。</a:t>
            </a:r>
            <a:endParaRPr lang="en-US" sz="900" dirty="0"/>
          </a:p>
        </p:txBody>
      </p:sp>
      <p:sp>
        <p:nvSpPr>
          <p:cNvPr id="19" name="Text 1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0" name="Text 1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794367" y="4836673"/>
            <a:ext cx="1554480" cy="1554480"/>
          </a:xfrm>
          <a:prstGeom prst="ellipse">
            <a:avLst/>
          </a:prstGeom>
          <a:solidFill>
            <a:srgbClr val="8541DC">
              <a:alpha val="25000"/>
            </a:srgbClr>
          </a:solidFill>
          <a:ln/>
        </p:spPr>
        <p:txBody>
          <a:bodyPr/>
          <a:lstStyle/>
          <a:p>
            <a:endParaRPr lang="ja-JP" altLang="en-US"/>
          </a:p>
        </p:txBody>
      </p:sp>
      <p:sp>
        <p:nvSpPr>
          <p:cNvPr id="3" name="Shape 1"/>
          <p:cNvSpPr/>
          <p:nvPr/>
        </p:nvSpPr>
        <p:spPr>
          <a:xfrm>
            <a:off x="9347454" y="5551734"/>
            <a:ext cx="1554480" cy="1554480"/>
          </a:xfrm>
          <a:prstGeom prst="ellipse">
            <a:avLst/>
          </a:prstGeom>
          <a:solidFill>
            <a:srgbClr val="A970E8">
              <a:alpha val="25000"/>
            </a:srgbClr>
          </a:solidFill>
          <a:ln/>
        </p:spPr>
        <p:txBody>
          <a:bodyPr/>
          <a:lstStyle/>
          <a:p>
            <a:endParaRPr lang="ja-JP" altLang="en-US"/>
          </a:p>
        </p:txBody>
      </p:sp>
      <p:sp>
        <p:nvSpPr>
          <p:cNvPr id="4" name="Shape 2"/>
          <p:cNvSpPr/>
          <p:nvPr/>
        </p:nvSpPr>
        <p:spPr>
          <a:xfrm>
            <a:off x="10241280" y="5551734"/>
            <a:ext cx="1554480" cy="1554480"/>
          </a:xfrm>
          <a:prstGeom prst="ellipse">
            <a:avLst/>
          </a:prstGeom>
          <a:solidFill>
            <a:srgbClr val="6A2FB8">
              <a:alpha val="25000"/>
            </a:srgbClr>
          </a:solidFill>
          <a:ln/>
        </p:spPr>
        <p:txBody>
          <a:bodyPr/>
          <a:lstStyle/>
          <a:p>
            <a:endParaRPr lang="ja-JP" altLang="en-US"/>
          </a:p>
        </p:txBody>
      </p:sp>
      <p:sp>
        <p:nvSpPr>
          <p:cNvPr id="5" name="Text 3"/>
          <p:cNvSpPr/>
          <p:nvPr/>
        </p:nvSpPr>
        <p:spPr>
          <a:xfrm>
            <a:off x="822960" y="1463040"/>
            <a:ext cx="8229600" cy="320040"/>
          </a:xfrm>
          <a:prstGeom prst="rect">
            <a:avLst/>
          </a:prstGeom>
          <a:noFill/>
          <a:ln/>
        </p:spPr>
        <p:txBody>
          <a:bodyPr wrap="square" lIns="0" tIns="0" rIns="0" bIns="0" rtlCol="0" anchor="ctr"/>
          <a:lstStyle/>
          <a:p>
            <a:pPr marL="0" indent="0">
              <a:buNone/>
            </a:pPr>
            <a:r>
              <a:rPr lang="en-US" sz="1300" b="1" kern="0" spc="300" dirty="0">
                <a:solidFill>
                  <a:srgbClr val="D9CBF2"/>
                </a:solidFill>
                <a:latin typeface="Noto Sans JP" pitchFamily="34" charset="0"/>
                <a:ea typeface="Noto Sans JP" pitchFamily="34" charset="-122"/>
                <a:cs typeface="Noto Sans JP" pitchFamily="34" charset="-120"/>
              </a:rPr>
              <a:t>NEXT STEP</a:t>
            </a:r>
            <a:endParaRPr lang="en-US" sz="1300" dirty="0"/>
          </a:p>
        </p:txBody>
      </p:sp>
      <p:sp>
        <p:nvSpPr>
          <p:cNvPr id="6" name="Text 4"/>
          <p:cNvSpPr/>
          <p:nvPr/>
        </p:nvSpPr>
        <p:spPr>
          <a:xfrm>
            <a:off x="822960" y="1920240"/>
            <a:ext cx="10058400" cy="1554480"/>
          </a:xfrm>
          <a:prstGeom prst="rect">
            <a:avLst/>
          </a:prstGeom>
          <a:noFill/>
          <a:ln/>
        </p:spPr>
        <p:txBody>
          <a:bodyPr wrap="square" lIns="0" tIns="0" rIns="0" bIns="0" rtlCol="0" anchor="ctr"/>
          <a:lstStyle/>
          <a:p>
            <a:pPr marL="0" indent="0">
              <a:lnSpc>
                <a:spcPct val="120000"/>
              </a:lnSpc>
              <a:buNone/>
            </a:pPr>
            <a:r>
              <a:rPr lang="en-US" sz="2800" b="1" dirty="0">
                <a:solidFill>
                  <a:srgbClr val="FFFFFF"/>
                </a:solidFill>
                <a:latin typeface="Noto Sans JP" pitchFamily="34" charset="0"/>
                <a:ea typeface="Noto Sans JP" pitchFamily="34" charset="-122"/>
                <a:cs typeface="Noto Sans JP" pitchFamily="34" charset="-120"/>
              </a:rPr>
              <a:t>現在地は見えました。</a:t>
            </a:r>
            <a:endParaRPr lang="en-US" sz="2800" dirty="0"/>
          </a:p>
          <a:p>
            <a:pPr marL="0" indent="0">
              <a:lnSpc>
                <a:spcPct val="120000"/>
              </a:lnSpc>
              <a:buNone/>
            </a:pPr>
            <a:r>
              <a:rPr lang="en-US" sz="2800" b="1" dirty="0">
                <a:solidFill>
                  <a:srgbClr val="FFFFFF"/>
                </a:solidFill>
                <a:latin typeface="Noto Sans JP" pitchFamily="34" charset="0"/>
                <a:ea typeface="Noto Sans JP" pitchFamily="34" charset="-122"/>
                <a:cs typeface="Noto Sans JP" pitchFamily="34" charset="-120"/>
              </a:rPr>
              <a:t>次は“AIに選ばれる側”へ。</a:t>
            </a:r>
            <a:endParaRPr lang="en-US" sz="2800" dirty="0"/>
          </a:p>
        </p:txBody>
      </p:sp>
      <p:sp>
        <p:nvSpPr>
          <p:cNvPr id="7" name="Text 5"/>
          <p:cNvSpPr/>
          <p:nvPr/>
        </p:nvSpPr>
        <p:spPr>
          <a:xfrm>
            <a:off x="868680" y="3657600"/>
            <a:ext cx="9784080" cy="182880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300" dirty="0">
                <a:solidFill>
                  <a:srgbClr val="D9CBF2"/>
                </a:solidFill>
                <a:latin typeface="Noto Sans JP" pitchFamily="34" charset="0"/>
                <a:ea typeface="Noto Sans JP" pitchFamily="34" charset="-122"/>
                <a:cs typeface="Noto Sans JP" pitchFamily="34" charset="-120"/>
              </a:rPr>
              <a:t>有償分析：計測プロンプトの拡張×全メディアの優先度付きリスト×対策タスク設計</a:t>
            </a:r>
            <a:endParaRPr lang="en-US" sz="1300" dirty="0"/>
          </a:p>
          <a:p>
            <a:pPr marL="152400" indent="-152400">
              <a:lnSpc>
                <a:spcPct val="128000"/>
              </a:lnSpc>
              <a:spcAft>
                <a:spcPts val="700"/>
              </a:spcAft>
              <a:buSzPct val="100000"/>
              <a:buChar char="•"/>
            </a:pPr>
            <a:r>
              <a:rPr lang="en-US" sz="1300" dirty="0">
                <a:solidFill>
                  <a:srgbClr val="D9CBF2"/>
                </a:solidFill>
                <a:latin typeface="Noto Sans JP" pitchFamily="34" charset="0"/>
                <a:ea typeface="Noto Sans JP" pitchFamily="34" charset="-122"/>
                <a:cs typeface="Noto Sans JP" pitchFamily="34" charset="-120"/>
              </a:rPr>
              <a:t>コンサルティング（月60万円〜）：メディア掲載交渉・コンテンツ整備・構造化まで実行伴走</a:t>
            </a:r>
            <a:endParaRPr lang="en-US" sz="1300" dirty="0"/>
          </a:p>
          <a:p>
            <a:pPr marL="152400" indent="-152400">
              <a:lnSpc>
                <a:spcPct val="128000"/>
              </a:lnSpc>
              <a:spcAft>
                <a:spcPts val="700"/>
              </a:spcAft>
              <a:buSzPct val="100000"/>
              <a:buChar char="•"/>
            </a:pPr>
            <a:r>
              <a:rPr lang="en-US" sz="1300" dirty="0">
                <a:solidFill>
                  <a:srgbClr val="D9CBF2"/>
                </a:solidFill>
                <a:latin typeface="Noto Sans JP" pitchFamily="34" charset="0"/>
                <a:ea typeface="Noto Sans JP" pitchFamily="34" charset="-122"/>
                <a:cs typeface="Noto Sans JP" pitchFamily="34" charset="-120"/>
              </a:rPr>
              <a:t>まずは本レポートの内容について、30分のご説明の場を設定させてください</a:t>
            </a:r>
            <a:endParaRPr lang="en-US" sz="1300" dirty="0"/>
          </a:p>
        </p:txBody>
      </p:sp>
      <p:sp>
        <p:nvSpPr>
          <p:cNvPr id="8" name="Text 6"/>
          <p:cNvSpPr/>
          <p:nvPr/>
        </p:nvSpPr>
        <p:spPr>
          <a:xfrm>
            <a:off x="822960" y="6035040"/>
            <a:ext cx="7315200" cy="274320"/>
          </a:xfrm>
          <a:prstGeom prst="rect">
            <a:avLst/>
          </a:prstGeom>
          <a:noFill/>
          <a:ln/>
        </p:spPr>
        <p:txBody>
          <a:bodyPr wrap="square" lIns="0" tIns="0" rIns="0" bIns="0" rtlCol="0" anchor="ctr"/>
          <a:lstStyle/>
          <a:p>
            <a:pPr marL="0" indent="0">
              <a:buNone/>
            </a:pPr>
            <a:r>
              <a:rPr lang="en-US" sz="1100" dirty="0">
                <a:solidFill>
                  <a:srgbClr val="B9A7E0"/>
                </a:solidFill>
                <a:latin typeface="Noto Sans JP" pitchFamily="34" charset="0"/>
                <a:ea typeface="Noto Sans JP" pitchFamily="34" charset="-122"/>
                <a:cs typeface="Noto Sans JP" pitchFamily="34" charset="-120"/>
              </a:rPr>
              <a:t>株式会社EXIDEA　EmmaTools / LLMO</a:t>
            </a:r>
            <a:endParaRPr lang="en-US" sz="1100" dirty="0"/>
          </a:p>
        </p:txBody>
      </p:sp>
      <p:sp>
        <p:nvSpPr>
          <p:cNvPr id="9" name="Text 7"/>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3097</Words>
  <Application>Microsoft Office PowerPoint</Application>
  <PresentationFormat>ワイド画面</PresentationFormat>
  <Paragraphs>583</Paragraphs>
  <Slides>30</Slides>
  <Notes>30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30</vt:i4>
      </vt:variant>
    </vt:vector>
  </HeadingPairs>
  <TitlesOfParts>
    <vt:vector size="33" baseType="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カーセブン様 LLMO無料分析</dc:title>
  <dc:subject>PptxGenJS Presentation</dc:subject>
  <dc:creator>EXIDEA Inc.</dc:creator>
  <cp:lastModifiedBy>瀬田 淳平 | EXIDEA</cp:lastModifiedBy>
  <cp:revision>3</cp:revision>
  <dcterms:created xsi:type="dcterms:W3CDTF">2026-09-01T01:58:11Z</dcterms:created>
  <dcterms:modified xsi:type="dcterms:W3CDTF">2026-09-01T02:04:28Z</dcterms:modified>
</cp:coreProperties>
</file>