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669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03970" y="2629357"/>
            <a:ext cx="2743200" cy="2743200"/>
          </a:xfrm>
          <a:prstGeom prst="ellipse">
            <a:avLst/>
          </a:prstGeom>
          <a:solidFill>
            <a:srgbClr val="8541DC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8115300" y="3891229"/>
            <a:ext cx="2743200" cy="2743200"/>
          </a:xfrm>
          <a:prstGeom prst="ellipse">
            <a:avLst/>
          </a:prstGeom>
          <a:solidFill>
            <a:srgbClr val="A970E8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692640" y="3891229"/>
            <a:ext cx="2743200" cy="2743200"/>
          </a:xfrm>
          <a:prstGeom prst="ellipse">
            <a:avLst/>
          </a:prstGeom>
          <a:solidFill>
            <a:srgbClr val="6A2FB8">
              <a:alpha val="3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 現状分析レポート｜B2B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購買担当者に、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AIから“選ばれる”ために。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41248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株式会社トライアンフ・ニジュウイチ 様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 err="1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対象：間接材購買管理クラウド</a:t>
            </a:r>
            <a:r>
              <a:rPr lang="en-US" sz="125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OffSide（tryumph21.co.jp）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計測エンジン：ChatGPT・Gemini・AI Overviews ｜ 取得日：2026-08-26 ｜ 直近30日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EXIDEA Inc. / EmmaTools LLMO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本日お話しすること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14630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LLMOの考え方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852160" y="146304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AI時代に“選ばれる”とは何か（当社の考え方）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231136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777240" y="223113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22311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調査の前提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852160" y="2231136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計測したプロンプトと読み方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999232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777240" y="299923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28800" y="2999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852160" y="2999232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AIランキング登場状況・競合・参照ソース・自社サイト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777240" y="37673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37673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戦略提言（4つの柱）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852160" y="3767328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最初に取り組むべき方向性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535424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777240" y="45354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28800" y="453542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ロードマップ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852160" y="4535424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効果が出るまでの道筋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5303520"/>
            <a:ext cx="11183112" cy="640080"/>
          </a:xfrm>
          <a:prstGeom prst="roundRect">
            <a:avLst>
              <a:gd name="adj" fmla="val 1571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77240" y="53035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0" y="53035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AI経由売上の測り方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852160" y="530352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露出で終わらせず、貢献額を金額で示す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LLMOの考え方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まず「AIに選ばれる」とは何かを揃えます。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ADOPTION — 生成AIの普及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生成AIは、1年で“情報インフラ”になった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日本の生成AI利用率（1年で27%→51%・1.9倍）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NTTドコモ モバイル社会研究所 2026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57%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商品推薦で生成AIを主要ツールに（16%→57%）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Capgemini 2025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44%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2770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購買判断の主要情報源1位＝AI検索（従来検索31%）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183112" cy="2057400"/>
          </a:xfrm>
          <a:prstGeom prst="roundRect">
            <a:avLst>
              <a:gd name="adj" fmla="val 488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68680" y="41879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要するに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商品・サービス選びの入口が、検索エンジンからAIへ移りつつある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検索順位ではなく“AI上での選定率”が、問い合わせ・売上を左右する</a:t>
            </a:r>
            <a:endParaRPr lang="en-US" sz="12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AIに出てこない＝比較の土俵に乗っていない、という状態になりうる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SALES IMPACT — 売上への直撃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AIは、すでに“候補選び”を変えている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89%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BtoB買い手が購買で生成AIを利用（95%が今後も継続）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Forrester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434840" y="187452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434840" y="277063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AIによって“従来より多く/異なる候補”を検討に入れた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34840" y="33558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Forrester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229600" y="1874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90〜95%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0" y="2770632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AIが評価で参照する“外部情報源”の比率（自社サイトは5〜10%）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0" y="335584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McKinsey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11183112" cy="2057400"/>
          </a:xfrm>
          <a:prstGeom prst="roundRect">
            <a:avLst>
              <a:gd name="adj" fmla="val 4889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68680" y="4206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だから“自社サイト改善だけ”では、AI評価は動かない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「他人がどう言っているか（第三者情報）」を強く参照する。比較検討の段階で、AIの回答の中で候補が絞られている。自社発信に加え、第三者メディア・クチコミでの“言われ方”を設計する必要がある。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REVISIT — AI推奨後の行動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AIで見た後、顧客は“後から”訪れる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183112" cy="1234440"/>
          </a:xfrm>
          <a:prstGeom prst="roundRect">
            <a:avLst>
              <a:gd name="adj" fmla="val 8148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2.5倍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68680" y="2468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1783080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7日以内のサイト訪問可能性
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AIで推奨された後、7日以内に公式サイトを訪問する可能性が通常時より2.5倍に高まる。効果は“直接流入”だけでは測れない。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731520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76656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AIで推奨される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81528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55848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584448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529584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57016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その場ではクリックしない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34456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08776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437376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382512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9944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後日ブランド名で検索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787384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061704" y="3200400"/>
            <a:ext cx="2670048" cy="1371600"/>
          </a:xfrm>
          <a:prstGeom prst="roundRect">
            <a:avLst>
              <a:gd name="adj" fmla="val 7333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9290304" y="3401568"/>
            <a:ext cx="384048" cy="384048"/>
          </a:xfrm>
          <a:prstGeom prst="ellipse">
            <a:avLst/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235440" y="338328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62872" y="38404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公式サイトを訪問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11183112" cy="1051560"/>
          </a:xfrm>
          <a:prstGeom prst="roundRect">
            <a:avLst>
              <a:gd name="adj" fmla="val 9565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/>
          <p:nvPr/>
        </p:nvSpPr>
        <p:spPr>
          <a:xfrm>
            <a:off x="868680" y="51389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LLMOだけでも、SEOだけでもダメ。AIで“認識・推奨”された後、Webで“適切に流入・獲得”できて初めて売上になる。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OUR APPROACH — 当社のLLMOの考え方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分析で終わらせない。“背骨”で貫くのが当社の考え方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CEP → KBF → 参照先 → RTB で逆算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AIが「どんな質問で」「何を基準に」「どこを根拠に」語るかを分解し、置くべき証拠まで設計する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245352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565392" y="19476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引用は“数”でなく“役割”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65392" y="25603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認知＝メンション／比較＝推奨／意思決定＝整合性。ファネルごとに果たす役割を設計する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02920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22960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3つの声を一致させる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Company（自社発信）× User（本音）× AI（語られ方）のズレを解消し、AIの認識を正す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245352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565392" y="40965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着手は必ず診断から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4709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現状を可視化してから投資判断。分析だけで終わらせず、実行して勝たせるところまで伴走する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5943600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用語　</a:t>
            </a: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CEP＝AIに想起されたい“質問の文脈”／KBF（Key Buying Factor）＝顧客が選ぶ際に重視する判断軸＝AIが“選ばれる理由”として語る軸／RTB＝それを裏づける証拠。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 FULL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LLMO対策の全体像 — AIに選ばれるために必要なこと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11183112" cy="475488"/>
          </a:xfrm>
          <a:prstGeom prst="roundRect">
            <a:avLst>
              <a:gd name="adj" fmla="val 21154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31520" y="149047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ゴール：AIの回答に、正しい文脈で引用・推薦される（＝LLMOの成果）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722376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 Voice｜自社発信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22376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正しい文脈のコンテンツと、AIが認識できるエンティティを自社側で形成する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25112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F5EFF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44568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User Voice｜実際の声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44568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ユーザーの本音（選ぶ理由・不満）を把握し、デジタル上に流通させる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47304" y="2048256"/>
            <a:ext cx="3538728" cy="1810512"/>
          </a:xfrm>
          <a:prstGeom prst="roundRect">
            <a:avLst>
              <a:gd name="adj" fmla="val 5556"/>
            </a:avLst>
          </a:prstGeom>
          <a:solidFill>
            <a:srgbClr val="E9DE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366760" y="21945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Voice｜外部引用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366760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第三者メディア・動画・UGCで、狙った文脈での言及・引用を獲得する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4005072"/>
            <a:ext cx="11183112" cy="841248"/>
          </a:xfrm>
          <a:prstGeom prst="roundRect">
            <a:avLst>
              <a:gd name="adj" fmla="val 11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731520" y="4242816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85800" y="423367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4123944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内部要因（構造化データ・E‑E‑A‑T・サイト/情報設計）が、SEOとLLMOの両方に耐える土台になっていること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956048"/>
            <a:ext cx="11183112" cy="841248"/>
          </a:xfrm>
          <a:prstGeom prst="roundRect">
            <a:avLst>
              <a:gd name="adj" fmla="val 11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731520" y="5193792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85800" y="5184648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計測・文脈管理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5074920"/>
            <a:ext cx="795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AIでの「言われ方」を継続的に測り、3つの声の文脈を一貫させ続けること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どれか1つでは効かない — 全レイヤーの“一貫性”が、LLMOの成否を分ける。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OUR METHODOLOGY — 支援の全体像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診断から改善まで — 3フェーズ・9工程で一気通貫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A970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1｜診断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現在地の診断（AIでの言われ方）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520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AIカスタマージャーニー設計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731520" y="3785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エンティティ・参照先の特定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53712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2｜実装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 サイト・技術基盤の整備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553712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⑤ ブランドナレッジベース構築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553712" y="3785616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⑥ ウェブ全体のプレゼンス形成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4553712" y="4443984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⑦ コンバージョン出口の整備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8147304" y="1691640"/>
            <a:ext cx="3538728" cy="397764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8147304" y="169164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8375904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PHASE 3｜計測・改善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75904" y="2468880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⑧ AIモニタリングと継続改善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375904" y="3127248"/>
            <a:ext cx="3108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⑨ AI経由売上の計測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502920" y="585216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本無料分析は PHASE 1（診断）に相当します。ここで現状と機会を可視化し、次の一手を設計します。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FUNNEL &amp; KPI — ファネルとKPI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ファネルで捉え、KPIは“3層”で立てる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111831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365760" cy="365760"/>
          </a:xfrm>
          <a:prstGeom prst="ellipse">
            <a:avLst/>
          </a:prstGeom>
          <a:solidFill>
            <a:srgbClr val="A970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630936" y="17922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認知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691640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AIでカテゴリを調べている → 名前が挙がる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0" y="1691640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KPI：メンション率 / AI上シェア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2432304"/>
            <a:ext cx="107259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1143000" y="2596896"/>
            <a:ext cx="365760" cy="365760"/>
          </a:xfrm>
          <a:prstGeom prst="ellipse">
            <a:avLst/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1088136" y="257860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45920" y="24963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比較・検討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2478024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複数ブランドを比較 → 推奨され“選ばれる理由”が示される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2478024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KPI：推奨率 / 比較勝率 / 推奨理由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17320" y="3218688"/>
            <a:ext cx="10268712" cy="694944"/>
          </a:xfrm>
          <a:prstGeom prst="roundRect">
            <a:avLst>
              <a:gd name="adj" fmla="val 14474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1600200" y="3383280"/>
            <a:ext cx="365760" cy="365760"/>
          </a:xfrm>
          <a:prstGeom prst="ellipse">
            <a:avLst/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1545336" y="33649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103120" y="32826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23360" y="3264408"/>
            <a:ext cx="4754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問い合わせ・予約前の確認 → 信頼を獲得しCV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0" y="3264408"/>
            <a:ext cx="3474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KPI：信頼情報の充足 / 否定要因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77240" y="413308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最上位：事業成果（AI認知・AI検討関与・AI経由の問い合わせ/予約）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61772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777240" y="463600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中間：AI上の成果（メンション率 / 推奨率 / 比較勝率 / AI上シェア）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5120640"/>
            <a:ext cx="11183112" cy="438912"/>
          </a:xfrm>
          <a:prstGeom prst="roundRect">
            <a:avLst>
              <a:gd name="adj" fmla="val 22917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777240" y="5138928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基盤：Webプレゼンス（第三者言及 / 比較掲載 / レビュー / 参照ドメイン）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“順位・クリック”から“AI上の言及・推薦”へ。測る指標を変える。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調査の前提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どのプロンプトで・どう読むか。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SCOPE — 計測対象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製造業・研究開発 購買担当者のファネル別・主要プロンプトで計測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各主要プロンプトは、3エンジン（ChatGPT / Gemini / AI Overviews）で観測。★＝最重要インテント。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25302"/>
              </p:ext>
            </p:extLst>
          </p:nvPr>
        </p:nvGraphicFramePr>
        <p:xfrm>
          <a:off x="999460" y="1947671"/>
          <a:ext cx="9952074" cy="3831337"/>
        </p:xfrm>
        <a:graphic>
          <a:graphicData uri="http://schemas.openxmlformats.org/drawingml/2006/table">
            <a:tbl>
              <a:tblPr/>
              <a:tblGrid>
                <a:gridCol w="1464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73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09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ファネル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主要プロンプト（インテント）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情報収集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製造業の購買管理システムでおすすめの会社ありますか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情報収集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開発研究のおすすめの購買管理システムありますか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ブランド想起★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tryumph21とビズネットはどちらがいいですか？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1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ブランド想起★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tryumph21とRFQクラウドはどちらがいいですか？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比較検討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ビズネットからの乗り換え先でおすすめは？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比較検討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RFQクラウドからの乗り換え先でおすすめは？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OffSideは初心者でも使えますか？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OffSideの料金プランを教えてください。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OffSideでできることを教えてください。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OffSideのメリット・デメリットは？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OffSideの評判・口コミはどうですか？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609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OffSideの導入事例を教えてください。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競合セット：ビズネット（プラス株式会社グループ）／RFQクラウド（A1A株式会社）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AIランキングでの登場状況と、その原因。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KEY FINDINGS — わかった事実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本分析で判明した3つの事実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58952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58952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58952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乗り換え候補として選ばれていない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「ビズネット乗り換え先」「RFQクラウド乗り換え先」でOffSideは3エンジン全て0%。競合ユーザーがAIに相談しても、OffSideは候補に挙がってこない状況。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270248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4270248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4526280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26280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名前が出れば比較で強い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26280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「tryumph21 vs ビズネット」「tryumph21 vs RFQクラウド」の比較プロンプトでは5/6（83%）登場。製品の特長はAIに正確に認識されている。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8037576" y="1691640"/>
            <a:ext cx="3547872" cy="4160520"/>
          </a:xfrm>
          <a:prstGeom prst="roundRect">
            <a:avLst>
              <a:gd name="adj" fmla="val 2835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8037576" y="169164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293608" y="1874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FACT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93608" y="2148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93608" y="2971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カテゴリ検索では埋没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93608" y="3886200"/>
            <a:ext cx="3063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8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「製造業 購買管理システムおすすめ」などの一般カテゴリ検索では1/6（17%）のみ。主要比較メディアに掲載がなく、一般検索からの流入口がほぼない。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02920" y="59893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観測（Dify・全36観測/領域）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現状分析① — 登場頻度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OffSide：ファネル別・エンジン別の登場率</a:t>
            </a:r>
            <a:endParaRPr lang="en-US" sz="2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0149840" cy="301752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プロンプト（ファネル）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ChatGPT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Gemini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 Overviews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合計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情報収集：カテゴリ検索（Q1-2）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17%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ブランド想起：競合比較（Q3-4）★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83%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比較検討：乗り換え候補（Q5-6）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意思決定：OffSide直接（Q7-12）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全体（36観測）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67%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67%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67%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67%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114800"/>
            <a:ext cx="11183112" cy="1783080"/>
          </a:xfrm>
          <a:prstGeom prst="roundRect">
            <a:avLst>
              <a:gd name="adj" fmla="val 564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77240" y="42793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読み取り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77240" y="46177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意思決定（OffSide直接質問）は100%。製品情報はAIに十分届いており、“知っている人には答えられる”状態。</a:t>
            </a:r>
            <a:endParaRPr lang="en-US" sz="108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ブランド想起（競合比較）は83%。名前を出した比較では強く、ChatGPT以外は全て登場している。</a:t>
            </a:r>
            <a:endParaRPr lang="en-US" sz="108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最大の課題は比較検討（乗り換え）0%＋情報収集17%。AIに“探してもらえない”段階で完全に不在。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観測（EmmaTools）／※OffSide＝自社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 — 競合とAIが語る強み(KBF)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AIが“選ばれる理由”として語る軸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931612"/>
              </p:ext>
            </p:extLst>
          </p:nvPr>
        </p:nvGraphicFramePr>
        <p:xfrm>
          <a:off x="502920" y="1600200"/>
          <a:ext cx="11548872" cy="32918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競合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傾向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AIが言及する強み（KBF）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OffSide（自社）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意思決定◎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比較検討✕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間接材・試薬対応の購買管理、発注〜検収〜支払一本化、初期費用0円・ユーザー追加費用なし、利用料率課金、最短3ヶ月導入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ビズネット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カテゴリ検索◎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プラス株式会社100%子会社・グループ安定性、大企業・中堅企業向け、オフィス消耗品〜MRO調達まで幅広い間接材対応、承認ワークフロー・購買データ集約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RFQクラウド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見積特化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見積依頼・相見積・査定に特化（A1A株式会社）、複数サプライヤーへの一括依頼・価格妥当性検証、製造業の直接材・部品調達に強み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リーナー購買 / reprua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下位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AI活用購買管理（リーナー）、研究開発・試薬特化（reprua）。AI回答での言及は限定的。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推定（Claudeベース：AI回答本文・各社公開情報より）／おそらく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02920" y="605332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OffSideは「間接材全般の購買フロー一本化」が差別化軸。ビズネットとは「試薬・研究開発対応・初期費用ゼロ」、RFQクラウドとは「検収〜支払まで」で差別化できる。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 — 自社がAIにどう語られているか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Voice：AIの中の“自社像”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2286000"/>
          </a:xfrm>
          <a:prstGeom prst="roundRect">
            <a:avLst>
              <a:gd name="adj" fmla="val 4400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AIが語る自社像（観測）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「製造業・研究開発向け間接材購買管理クラウド」として認識（試薬・理化学品対応も言及）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「発注〜検収〜支払い請求代行を一本化」「初期費用0円・ユーザー追加費用なし・利用料率課金」が強みとして語られる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意思決定（OffSide直接質問）は100%登場＝製品情報はAIに正確に届いている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22392" cy="2286000"/>
          </a:xfrm>
          <a:prstGeom prst="roundRect">
            <a:avLst>
              <a:gd name="adj" fmla="val 44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537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想起の歪み・課題（推定）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37960" y="2121408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比較検討（乗り換え先）で0%＝AIが代替候補として推薦しない。第三者での言及・評価が不足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情報収集（カテゴリ検索）で17%＝SaaS比較メディアへの未掲載が主因と推定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ChatGPTの比較回答（Q3）で「転職比較」と誤解釈＝自社名の認知度・ブランド明確化が課題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3977640"/>
            <a:ext cx="11183112" cy="1920240"/>
          </a:xfrm>
          <a:prstGeom prst="roundRect">
            <a:avLst>
              <a:gd name="adj" fmla="val 5238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 Voice（自社サイト）との突き合わせ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526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tryumph21.co.jp は「間接材一本化・初期費用0円・利用料率課金・試薬対応・3ヶ月導入」を発信＝Company Voiceは充実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しかし第三者メディア（SaaS比較・乗り換えガイド）への掲載がほぼなく、AIが「選択肢として」引用できない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＝製品の内容は強い。「AIに探してもらえる場所」に製品情報を置くことが急務（柱1・柱2）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 — AIが参照しているソース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AIの回答は“外部メディアの要約”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4343400"/>
          </a:xfrm>
          <a:prstGeom prst="roundRect">
            <a:avLst>
              <a:gd name="adj" fmla="val 2316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参照されやすいソース（Claudeベース）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21408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saas.imitsu.jp（9件）：SaaS比較メディア＝OffSideは掲載あり（一部回答で引用確認）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industry-dx-sainavi.com（6件）：製造業DX比較メディア＝掲載状況要確認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aspicjapan.org（5件）：ASPICアワード系＝OffSideの受賞・掲載は現状限定的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purchasingsys-primer.com（5件）・manegy.com（5件）：購買管理比較・SaaSメディア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OffSideが不在のカテゴリ検索では、ビズネット・fitgap・SAP Aribaなど大手が引用され登場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22392" cy="4343400"/>
          </a:xfrm>
          <a:prstGeom prst="roundRect">
            <a:avLst>
              <a:gd name="adj" fmla="val 2316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AI回答が生成される仕組み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37960" y="2286000"/>
            <a:ext cx="4846320" cy="749808"/>
          </a:xfrm>
          <a:prstGeom prst="roundRect">
            <a:avLst>
              <a:gd name="adj" fmla="val 1341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SaaS比較メディア・乗り換えガイド・購買管理比較サイト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3337560"/>
            <a:ext cx="4846320" cy="749808"/>
          </a:xfrm>
          <a:prstGeom prst="roundRect">
            <a:avLst>
              <a:gd name="adj" fmla="val 13415"/>
            </a:avLst>
          </a:prstGeom>
          <a:solidFill>
            <a:srgbClr val="E9DE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720840" y="338328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が要約（ChatGPT / Gemini / AI Overviews）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4087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4389120"/>
            <a:ext cx="4846320" cy="749808"/>
          </a:xfrm>
          <a:prstGeom prst="roundRect">
            <a:avLst>
              <a:gd name="adj" fmla="val 13415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720840" y="4434840"/>
            <a:ext cx="4526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購買担当者が回答として受け取る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比較メディア掲載強化＋第三者ガイドへの掲載が、情報収集・比較検討の露出を直接押し上げる（柱1）。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 — 公式サイトの現状所見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Company Voice：強みと“AIに読ませる作り”の課題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5532120" cy="4206240"/>
          </a:xfrm>
          <a:prstGeom prst="roundRect">
            <a:avLst>
              <a:gd name="adj" fmla="val 239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評価できる点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間接材・試薬・理化学品対応の購買管理クラウド（製造業・研究開発向け特化）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発注〜検収〜支払い請求を一本化（サプライヤーとの窓口集約）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初期費用0円・ユーザー追加費用なし・利用料率課金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最短3ヶ月で本稼動・デモアカウント貸し出し対応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10名規模から数千名規模まで導入実績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22392" cy="4206240"/>
          </a:xfrm>
          <a:prstGeom prst="roundRect">
            <a:avLst>
              <a:gd name="adj" fmla="val 2391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537960" y="1783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🟡 AIに引用されにくい要因（課題）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7960" y="219456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SaaS比較メディアへの掲載が限定的＝AIが「選択肢として」拾えない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「ビズネットとの違い」「RFQクラウドとの違い」を明示した比較解説ページが弱い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乗り換えガイド・代替候補系コンテンツが存在しない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口コミ・評判ページへの第三者言及が少ない</a:t>
            </a:r>
            <a:endParaRPr lang="en-US" sz="105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FAQの構造化（FAQスキーマ）の整備余地あり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🔵クロール所見＋🟡推定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現状分析 — 保有している強み資産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AIにまだ十分伝わっていない“武器”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478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58952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間接材特化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8952" y="23408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製造業・試薬・理化学品対応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737360"/>
            <a:ext cx="35478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270248" y="173736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26280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一本化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26280" y="23408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発注〜検収〜支払を代行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37576" y="1737360"/>
            <a:ext cx="35478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037576" y="173736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293608" y="19385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93608" y="23408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0円・ユーザー追加費用なし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37560"/>
            <a:ext cx="35478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502920" y="333756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58952" y="35387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課金方式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58952" y="39410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利用料率課金（変動費型）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3337560"/>
            <a:ext cx="35478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4270248" y="333756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526280" y="35387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導入期間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26280" y="39410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最短3ヶ月で本稼動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37576" y="3337560"/>
            <a:ext cx="3547872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8037576" y="3337560"/>
            <a:ext cx="3547872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293608" y="353872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規模対応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293608" y="3941064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10名〜数千名まで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1206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製品の強みはAIに届いている。「探してもらえる場所」への展開が次のステップ。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🔵 クロール（自社サイト・公開情報）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戦略提言（4つの柱）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最初に取り組むべき方向性。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STRATEGY — 4つの柱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事実をふまえた対策の方向性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柱1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60520" y="1874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DE9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4114800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高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比較メディア掲載の拡充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saas.imitsu.jp・industry-dx-sainavi・purchasingsys-primer・benrinet等への積極掲載。「乗り換え先」「ビズネット比較」「RFQクラウド比較」カテゴリへの登録を優先する。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45352" y="169164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245352" y="194767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565392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柱2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902952" y="18745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857232" y="18562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即効性 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65392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競合乗り換えコンテンツの整備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565392" y="2651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「ビズネットからOffSideへ」「RFQクラウドからOffSideへ」の乗り換えガイドを自社サイトに設置。比較検討0%を改善する最短ルート。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02920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822960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柱3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60520" y="4023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4114800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基盤整備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カテゴリ検索向け解説コンテンツ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「製造業 購買管理システム おすすめ」「研究開発 調達 クラウド」等への記事・FAQ整備。構造化データ（FAQスキーマ・製品スキーマ）を実装しAIの引用精度を上げる。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45352" y="3840480"/>
            <a:ext cx="5440680" cy="192024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  <a:effectLst>
            <a:outerShdw blurRad="101600" dist="38100" dir="5400000" algn="bl" rotWithShape="0">
              <a:srgbClr val="8541DC">
                <a:alpha val="18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6245352" y="4096512"/>
            <a:ext cx="82296" cy="1371600"/>
          </a:xfrm>
          <a:prstGeom prst="roundRect">
            <a:avLst>
              <a:gd name="adj" fmla="val 44444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6565392" y="40233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柱4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902952" y="402336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/>
          <p:nvPr/>
        </p:nvSpPr>
        <p:spPr>
          <a:xfrm>
            <a:off x="9857232" y="4005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中長期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565392" y="4343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第三者言及・口コミの増加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565392" y="48006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555A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ITreview・G2・ASPIC掲載・導入事例の外部展開。「OffSideを選んだ理由」を第三者コンテンツとして蓄積し、比較検討フェーズでAIに拾われやすくする。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ROADMAP — 道筋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効果が出るまでのロードマップ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38728" cy="384048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F5752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短期（〜1–2ヶ月）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主要SaaS比較メディア（saas.imitsu.jp等）への掲載申請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「ビズネット比較」「RFQクラウド比較」乗り換えページの作成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競合乗り換えコンテンツのドラフト・公開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25112" y="1737360"/>
            <a:ext cx="3538728" cy="384048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455371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中期（3–4ヶ月）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53712" y="24231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industry-dx-sainavi・purchasingsys-primer等への掲載拡大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FAQ構造化データ（スキーマ）実装・カテゴリ記事の整備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口コミ収集（ITreview・G2等）・ASPIC掲載検討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47304" y="1737360"/>
            <a:ext cx="3538728" cy="3840480"/>
          </a:xfrm>
          <a:prstGeom prst="roundRect">
            <a:avLst>
              <a:gd name="adj" fmla="val 284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8147304" y="1737360"/>
            <a:ext cx="3538728" cy="82296"/>
          </a:xfrm>
          <a:prstGeom prst="roundRect">
            <a:avLst>
              <a:gd name="adj" fmla="val 44444"/>
            </a:avLst>
          </a:prstGeom>
          <a:solidFill>
            <a:srgbClr val="6A2FB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8375904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長期（5ヶ月〜）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75904" y="2423160"/>
            <a:ext cx="3108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比較検討フェーズでの登場率引き上げ（目標：20%以上）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カテゴリ検索での登場率引き上げ（目標：50%以上）</a:t>
            </a:r>
            <a:endParaRPr lang="en-US" sz="103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月次再計測で乗り換え候補シェアを追跡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502920" y="57607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意思決定100%は強み。「探してもらえない」情報収集・比較検討を埋めれば、新規流入が大幅に増加する。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6736" y="4846814"/>
            <a:ext cx="1133856" cy="1133856"/>
          </a:xfrm>
          <a:prstGeom prst="ellipse">
            <a:avLst/>
          </a:prstGeom>
          <a:solidFill>
            <a:srgbClr val="FFFFFF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680753" y="5368388"/>
            <a:ext cx="1133856" cy="1133856"/>
          </a:xfrm>
          <a:prstGeom prst="ellipse">
            <a:avLst/>
          </a:prstGeom>
          <a:solidFill>
            <a:srgbClr val="D9CBF2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332720" y="5368388"/>
            <a:ext cx="1133856" cy="1133856"/>
          </a:xfrm>
          <a:prstGeom prst="ellipse">
            <a:avLst/>
          </a:prstGeom>
          <a:solidFill>
            <a:srgbClr val="B49AE6">
              <a:alpha val="3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8E76C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AI経由売上の測り方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41248" y="37947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露出指標で終わらせず、AIが貢献した売上を金額で示す。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MEASUREMENT — AI経由売上貢献の算定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露出で終わらせない。“AIが貢献した売上”を金額で示す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532120" cy="2880360"/>
          </a:xfrm>
          <a:prstGeom prst="roundRect">
            <a:avLst>
              <a:gd name="adj" fmla="val 3492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計測方法：問い合わせフォームに2問追加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Q1. 当社をどこで知ったか（検索／生成AI／比較・一括請求サイト／紹介 等）</a:t>
            </a:r>
            <a:endParaRPr lang="en-US" sz="11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Q2. 検討に生成AIを使ったか（はい／いいえ）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4A1F8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回答を AI新規認知／AI検討関与／AI非関与 に分類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422392" cy="2880360"/>
          </a:xfrm>
          <a:prstGeom prst="roundRect">
            <a:avLst>
              <a:gd name="adj" fmla="val 3492"/>
            </a:avLst>
          </a:prstGeom>
          <a:solidFill>
            <a:srgbClr val="FFFFFF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A2F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回答の分類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8541D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6492240" y="21762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AI新規認知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03920" y="215798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AIがきっかけで知った
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貢献度 100%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37960" y="2907792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A970E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492240" y="2889504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AI検討関与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03920" y="287121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既知だが検討でAIを使った
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A970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貢献係数（初期50%）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3621024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8A8F9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92240" y="3602736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AI非関与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503920" y="35844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AIを使っていない
</a:t>
            </a:r>
            <a:endParaRPr lang="en-US" sz="9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4617720"/>
            <a:ext cx="11183112" cy="868680"/>
          </a:xfrm>
          <a:prstGeom prst="roundRect">
            <a:avLst>
              <a:gd name="adj" fmla="val 11579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77240" y="46817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AI売上貢献額 ＝ AI新規認知の売上 × 100% ＋ AI検討関与の売上 × 貢献係数（初期50%）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77240" y="51206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※係数はデータ蓄積後に30〜70%で見直し。粗利が分かれば“AI粗利貢献額”で評価する。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623560"/>
            <a:ext cx="11183112" cy="658368"/>
          </a:xfrm>
          <a:prstGeom prst="roundRect">
            <a:avLst>
              <a:gd name="adj" fmla="val 15278"/>
            </a:avLst>
          </a:prstGeom>
          <a:solidFill>
            <a:srgbClr val="F0E6F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752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16%　</a:t>
            </a:r>
            <a:r>
              <a:rPr lang="en-US" sz="11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AI検索の成果を体系的に追跡できているブランドはわずか16%（McKinsey）。＝“先行優位”を取るチャンス。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541D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MEASUREMENT — 試算例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2222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AI経由売上貢献額の試算（イメージ）</a:t>
            </a:r>
            <a:endParaRPr lang="en-US" sz="2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83112" cy="3017520"/>
        </p:xfrm>
        <a:graphic>
          <a:graphicData uri="http://schemas.openxmlformats.org/drawingml/2006/table">
            <a:tbl>
              <a:tblPr/>
              <a:tblGrid>
                <a:gridCol w="4233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指標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AI新規認知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AI検討関与</a:t>
                      </a:r>
                      <a:endParaRPr lang="en-US" sz="10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F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問い合わせ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20件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成約（成約率20%）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4件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年間収益（@60万円/件）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1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AI貢献度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100%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50%</a:t>
                      </a:r>
                      <a:endParaRPr lang="en-US" sz="10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AI売上貢献額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240万円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8541D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120万円</a:t>
                      </a:r>
                      <a:endParaRPr lang="en-US" sz="11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74920"/>
            <a:ext cx="11183112" cy="777240"/>
          </a:xfrm>
          <a:prstGeom prst="roundRect">
            <a:avLst>
              <a:gd name="adj" fmla="val 12941"/>
            </a:avLst>
          </a:prstGeom>
          <a:solidFill>
            <a:srgbClr val="4A1F87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3"/>
          <p:cNvSpPr/>
          <p:nvPr/>
        </p:nvSpPr>
        <p:spPr>
          <a:xfrm>
            <a:off x="777240" y="5166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合計 AI売上貢献額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0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＝ 年間 360万円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60350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F9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※数値は仮のイメージです。実際は貴社の問い合わせ/予約数・成約率・単価に置き換えて算出します（初回はアンケート設計から）。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9AA0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94367" y="4836673"/>
            <a:ext cx="1554480" cy="1554480"/>
          </a:xfrm>
          <a:prstGeom prst="ellipse">
            <a:avLst/>
          </a:prstGeom>
          <a:solidFill>
            <a:srgbClr val="8541DC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9347454" y="5551734"/>
            <a:ext cx="1554480" cy="1554480"/>
          </a:xfrm>
          <a:prstGeom prst="ellipse">
            <a:avLst/>
          </a:prstGeom>
          <a:solidFill>
            <a:srgbClr val="A970E8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10241280" y="5551734"/>
            <a:ext cx="1554480" cy="1554480"/>
          </a:xfrm>
          <a:prstGeom prst="ellipse">
            <a:avLst/>
          </a:prstGeom>
          <a:solidFill>
            <a:srgbClr val="6A2FB8">
              <a:alpha val="2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製品の強みはAI済み。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“探してもらえる場所”を作る。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657600"/>
            <a:ext cx="9784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有料ショット分析：競合乗り換えKW拡張×比較メディア掲載状況の深掘り×対策TODO</a:t>
            </a:r>
            <a:endParaRPr lang="en-US" sz="13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実行支援：比較メディア掲載・乗り換えコンテンツ作成・構造化データ実装の伴走</a:t>
            </a:r>
            <a:endParaRPr lang="en-US" sz="1300" dirty="0"/>
          </a:p>
          <a:p>
            <a:pPr marL="152400" indent="-152400">
              <a:lnSpc>
                <a:spcPct val="128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D9CBF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月次モニタリングで比較検討・情報収集の登場率を継続追跡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株式会社EXIDEA　EmmaTools / LLMO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64739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B9A7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EXIDEA Inc.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2404</Words>
  <Application>Microsoft Macintosh PowerPoint</Application>
  <PresentationFormat>ワイド画面</PresentationFormat>
  <Paragraphs>467</Paragraphs>
  <Slides>27</Slides>
  <Notes>27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0" baseType="lpstr">
      <vt:lpstr>Noto Sans JP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株式会社トライアンフ・ニジュウイチ 様 LLMO現状分析</dc:title>
  <dc:subject>PptxGenJS Presentation</dc:subject>
  <dc:creator>EXIDEA Inc.</dc:creator>
  <cp:lastModifiedBy>大出 岳 | EXIDEA</cp:lastModifiedBy>
  <cp:revision>3</cp:revision>
  <cp:lastPrinted>2026-08-27T14:07:28Z</cp:lastPrinted>
  <dcterms:created xsi:type="dcterms:W3CDTF">2026-08-26T09:28:12Z</dcterms:created>
  <dcterms:modified xsi:type="dcterms:W3CDTF">2026-08-27T14:07:32Z</dcterms:modified>
</cp:coreProperties>
</file>