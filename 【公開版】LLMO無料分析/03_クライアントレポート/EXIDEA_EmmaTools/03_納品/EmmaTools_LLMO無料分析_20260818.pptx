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Slide-3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Slide-11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Slide-13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Slide-19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Slide-21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Slide-24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3970" y="2629357"/>
            <a:ext cx="2743200" cy="2743200"/>
          </a:xfrm>
          <a:prstGeom prst="ellipse">
            <a:avLst/>
          </a:prstGeom>
          <a:solidFill>
            <a:srgbClr val="8541D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15300" y="3891229"/>
            <a:ext cx="2743200" cy="2743200"/>
          </a:xfrm>
          <a:prstGeom prst="ellipse">
            <a:avLst/>
          </a:prstGeom>
          <a:solidFill>
            <a:srgbClr val="A970E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891229"/>
            <a:ext cx="2743200" cy="2743200"/>
          </a:xfrm>
          <a:prstGeom prst="ellipse">
            <a:avLst/>
          </a:prstGeom>
          <a:solidFill>
            <a:srgbClr val="6A2FB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 無料分析レポート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AI検索で、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“選ばれるブランド”になるために。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EmmaTools（株式会社EXIDEA）様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対象サイト：https://emma.tools/ ｜ 事業カテゴリー：AI搭載コンテンツSEOツール／LLMO対策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計測：EmmaTools LLMOツール（ChatGPT・Gemini・AI Overviews）｜ 計測日：2026-08-13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EXIDEA Inc. / EmmaTools LLMO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本日お話しすること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463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LLMOの考え方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52160" y="1463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AI時代に“選ばれる”とは何か（当社の考え方）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31136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23113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調査の前提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52160" y="2231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計測したプロンプトと読み方（無料版・限定本数）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0E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92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2999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52160" y="2999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ファネルKPI・ブランド認識・サイテーション・サイト診断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3767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対策の方向性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52160" y="376732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事実をふまえた4つの方向性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354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45354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AI経由売上の測り方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52160" y="453542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露出で終わらせず、貢献額を金額で示す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03520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03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28800" y="5303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ここから先のご支援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52160" y="5303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実行まで任せる／自社で回す／軽く続ける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LLMOの考え方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まず「AIに選ばれる」とは何かを揃えます。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ADOPTION — 生成AIの普及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生成AIは、1年で“情報インフラ”になった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日本の生成AI利用率（1年で27%→51%・1.9倍）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NTTドコモ モバイル社会研究所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商品推薦で生成AIを主要ツールに（16%→57%）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Capgemini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0" y="2770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購買判断の主要情報源1位＝AI検索（従来検索31%）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McKinsey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11183112" cy="2057400"/>
          </a:xfrm>
          <a:prstGeom prst="roundRect">
            <a:avLst>
              <a:gd name="adj" fmla="val 4889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879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要するに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商品・サービス選びの入口が、検索エンジンからAIへ移りつつある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検索順位ではなく“AI上での選定率”が、問い合わせ・売上を左右する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AIに出てこない＝比較の土俵に乗っていない、という状態になりうる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 IMPACT — 売上への直撃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AIは、すでに“候補選び”を変えている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89%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BtoB買い手が購買で生成AIを利用（95%が今後も継続）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Forrester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AIによって“従来より多く/異なる候補”を検討に入れた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Forrester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90〜95%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0" y="2770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AIが評価で参照する“外部情報源”の比率（自社サイトは5〜10%）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McKinsey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11183112" cy="2057400"/>
          </a:xfrm>
          <a:prstGeom prst="roundRect">
            <a:avLst>
              <a:gd name="adj" fmla="val 4889"/>
            </a:avLst>
          </a:prstGeom>
          <a:solidFill>
            <a:srgbClr val="4A1F8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だから“自社サイト改善だけ”では、AI評価は動かない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「他人がどう言っているか（第三者情報）」を強く参照する。比較検討の段階で、AIの回答の中で候補が絞られている。自社発信に加え、第三者メディア・クチコミでの“言われ方”を設計する必要があ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REVISIT — AI推奨後の行動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AIで見た後、顧客は“後から”訪れる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234440"/>
          </a:xfrm>
          <a:prstGeom prst="roundRect">
            <a:avLst>
              <a:gd name="adj" fmla="val 8148"/>
            </a:avLst>
          </a:prstGeom>
          <a:solidFill>
            <a:srgbClr val="F0E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2.5倍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17830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7日以内のサイト訪問可能性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AIで推奨された後、7日以内に公式サイトを訪問する可能性が通常時より2.5倍に高まる。効果は“直接流入”だけでは測れない。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AIで推奨される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81528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55848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5" name="Text 13"/>
          <p:cNvSpPr/>
          <p:nvPr/>
        </p:nvSpPr>
        <p:spPr>
          <a:xfrm>
            <a:off x="3529584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701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その場ではクリックしない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34456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後日ブランド名で検索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87384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61704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0304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62872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公式サイトを訪問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9565"/>
            </a:avLst>
          </a:prstGeom>
          <a:solidFill>
            <a:srgbClr val="4A1F87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38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LLMOだけでも、SEOだけでもダメ。AIで“認識・推奨”された後、Webで“適切に流入・獲得”できて初めて売上になる。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OUR APPROACH — 当社のLLMOの考え方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分析で終わらせない。“背骨”で貫くのが当社の考え方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CEP → KBF → 参照先 → RTB で逆算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AIが「どんな質問で」「何を基準に」「どこを根拠に」語るかを分解し、置くべき証拠まで設計する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47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引用は“数”でなく“役割”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認知＝メンション／比較＝推奨／意思決定＝整合性。ファネルごとに果たす役割を設計する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3つの声を一致させる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Company（自社発信）× User（本音）× AI（語られ方）のズレを解消し、AIの認識を正す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5352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着手は必ず診断から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現状を可視化してから投資判断。分析だけで終わらせず、実行して勝たせるところまで伴走する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943600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用語　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CEP＝AIに想起されたい“質問の文脈”／KBF（Key Buying Factor）＝顧客が選ぶ際に重視する判断軸＝AIが“選ばれる理由”として語る軸／RTB＝それを裏づける証拠。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FULL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LLMO対策の全体像 — AIに選ばれるために必要なこと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11183112" cy="475488"/>
          </a:xfrm>
          <a:prstGeom prst="roundRect">
            <a:avLst>
              <a:gd name="adj" fmla="val 21154"/>
            </a:avLst>
          </a:prstGeom>
          <a:solidFill>
            <a:srgbClr val="4A1F8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047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ゴール：AIの回答に、正しい文脈で引用・推薦される（＝LLMOの成果）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F0E6FC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 Voice｜自社発信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正しい文脈のコンテンツと、AIが認識できるエンティティを自社側で形成する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F5EFFD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User Voice｜実際の声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44568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ユーザーの本音（選ぶ理由・不満）を把握し、デジタル上に流通させる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47304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E9DEF9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Digital Voice｜外部引用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第三者メディア・動画・UGCで、狙った文脈での言及・引用を獲得する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11183112" cy="841248"/>
          </a:xfrm>
          <a:prstGeom prst="roundRect">
            <a:avLst>
              <a:gd name="adj" fmla="val 11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242816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4A1F8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33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412394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内部要因（構造化データ・E‑E‑A‑T・サイト/情報設計）が、SEOとLLMOの両方に耐える土台になっていること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956048"/>
            <a:ext cx="11183112" cy="841248"/>
          </a:xfrm>
          <a:prstGeom prst="roundRect">
            <a:avLst>
              <a:gd name="adj" fmla="val 11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6A2FB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84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計測・文脈管理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507492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AIでの「言われ方」を継続的に測り、3つの声の文脈を一貫させ続けること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どれか1つでは効かない — 全レイヤーの“一貫性”が、LLMOの成否を分ける。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OUR METHODOLOGY — 支援の全体像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診断から改善まで — 3フェーズ・9工程で一気通貫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1｜診断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現在地の診断（AIでの言われ方）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520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AIカスタマージャーニー設計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37856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エンティティ・参照先の特定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2｜実装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サイト・技術基盤の整備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53712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ブランドナレッジベース構築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53712" y="37856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⑥ ウェブ全体のプレゼンス形成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53712" y="44439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⑦ コンバージョン出口の整備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47304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3｜計測・改善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75904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⑧ AIモニタリングと継続改善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375904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⑨ AI経由売上の計測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2920" y="58521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本無料分析は PHASE 1（診断）に相当します。ここで現状と機会を可視化し、次の一手を設計します。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FUNNEL &amp; KPI — ファネルとKPI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ファネルで捉え、KPIは“3層”で立てる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831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10512"/>
            <a:ext cx="365760" cy="365760"/>
          </a:xfrm>
          <a:prstGeom prst="ellipse">
            <a:avLst/>
          </a:prstGeom>
          <a:solidFill>
            <a:srgbClr val="A970E8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7922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69164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AIでカテゴリを調べている → 名前が挙がる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16916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KPI：メンション率 / AI上シェア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32304"/>
            <a:ext cx="107259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596896"/>
            <a:ext cx="365760" cy="365760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257860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4963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比較・検討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47802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複数ブランドを比較 → 推奨され“選ばれる理由”が示される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2478024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KPI：推奨率 / 比較勝率 / 推奨理由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3218688"/>
            <a:ext cx="102687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3383280"/>
            <a:ext cx="365760" cy="365760"/>
          </a:xfrm>
          <a:prstGeom prst="ellipse">
            <a:avLst/>
          </a:prstGeom>
          <a:solidFill>
            <a:srgbClr val="6A2FB8"/>
          </a:solidFill>
          <a:ln/>
        </p:spPr>
      </p:sp>
      <p:sp>
        <p:nvSpPr>
          <p:cNvPr id="18" name="Text 16"/>
          <p:cNvSpPr/>
          <p:nvPr/>
        </p:nvSpPr>
        <p:spPr>
          <a:xfrm>
            <a:off x="1545336" y="336499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03120" y="32826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326440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問い合わせ・予約前の確認 → 信頼を獲得しCV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26440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KPI：信頼情報の充足 / 否定要因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4A1F8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3308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最上位：事業成果（AI認知・AI検討関与・AI経由の問い合わせ/予約）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61772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F0E6F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3600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中間：AI上の成果（メンション率 / 推奨率 / 比較勝率 / AI上シェア）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12064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3892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基盤：Webプレゼンス（第三者言及 / 比較掲載 / レビュー / 参照ドメイン）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“順位・クリック”から“AI上の言及・推薦”へ。測る指標を変える。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調査の前提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どのプロンプトで・どう読むか。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SCOPE — 計測対象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カスタマージャーニー4段階・78プロンプトで計測（下表は代表例）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AI検索の実利用を想定した質問文で、ChatGPT・Gemini・AI Overviews の回答を定点観測。★＝最重要インテント。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714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ジャーニー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計測プロンプトの例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情報収集（11本）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SEOライティングツールの選び方を教えてください。／LLMO対策のやり方は？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ブランド想起★（32本）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おすすめのSEOライティングツールは？／LLMO対策会社はどこがおすすめ？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比較検討（19本）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EmmaToolsとミエルカはどちらがいいですか？（主要競合との一騎打ち）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意思決定（16本）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EmmaToolsの料金プランを教えてください。／評判・口コミはどうですか？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競合セット：ミエルカ／キーワードマップ／タクトSEO／Catchy／SAKUBUN／BringRitera／Transcope ほか｜※無料版は計測プロンプト本数を限定しています。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AI検索上のKPI・ブランド認識・引用元・サイト要因。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FINDINGS — わかった事実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本分析で判明した3つの事実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1.9位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58952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主戦場「SEOライティングツール」では最上位級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「おすすめのSEOライティングツールは？」で言及率82〜100%・最高1.9位。SEO品質管理の認識軸ではシェア81%と圧勝。第一想起を取れている。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70248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陥落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強めたい認識「LLMO」が競合支配に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LLMO軸（登場127回）の自社シェアはわずか2%で首位はSemrush。LLMO系プロンプトでは全AIで想起圏外・引用ゼロ。2枚看板の片方が機能していない。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37576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37576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08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93608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24/137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93608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AIが引用する媒体の8割以上に未掲載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93608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AIが引用した137媒体のうち掲載済みは24媒体・平均掲載順位16位。掲載依頼候補は2,466URL。露出面の開拓余地が大きい。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LLMOツール・2026-08-13計測／サイテーションは2026-08-17確認）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現状分析① — ファネル別KPI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AI検索のカスタマージャーニー4段階での現在地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1810512"/>
            <a:ext cx="347472" cy="347472"/>
          </a:xfrm>
          <a:prstGeom prst="ellipse">
            <a:avLst/>
          </a:prstGeom>
          <a:solidFill>
            <a:srgbClr val="A970E8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情報収集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0664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引用率（自社コンテンツがAIの参照元になる率）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0664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 47/231回。SEOライティング系は最大92〜100%と強いが、料金相場・LLMO系は引用ゼロ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55848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5" name="Shape 13"/>
          <p:cNvSpPr/>
          <p:nvPr/>
        </p:nvSpPr>
        <p:spPr>
          <a:xfrm>
            <a:off x="3575304" y="1810512"/>
            <a:ext cx="347472" cy="347472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14216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ブランド想起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93592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言及率・平均順位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593592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5位/50ブランド。SEOライティング文脈は1.4〜4位、LLMO・汎用SEOツール文脈は圏外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07608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08776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8232" y="1810512"/>
            <a:ext cx="347472" cy="347472"/>
          </a:xfrm>
          <a:prstGeom prst="ellipse">
            <a:avLst/>
          </a:prstGeom>
          <a:solidFill>
            <a:srgbClr val="6A2FB8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67144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比較検討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競合比較の勝率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46520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151勝102敗。国産SEOツール勢には8〜10割で勝ち、AIライティング系・LLMO系ツールに負け越し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60536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61704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61704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33" name="Shape 31"/>
          <p:cNvSpPr/>
          <p:nvPr/>
        </p:nvSpPr>
        <p:spPr>
          <a:xfrm>
            <a:off x="9281160" y="1810512"/>
            <a:ext cx="347472" cy="347472"/>
          </a:xfrm>
          <a:prstGeom prst="ellipse">
            <a:avLst/>
          </a:prstGeom>
          <a:solidFill>
            <a:srgbClr val="4A1F87"/>
          </a:solidFill>
          <a:ln/>
        </p:spPr>
      </p:sp>
      <p:sp>
        <p:nvSpPr>
          <p:cNvPr id="34" name="Text 32"/>
          <p:cNvSpPr/>
          <p:nvPr/>
        </p:nvSpPr>
        <p:spPr>
          <a:xfrm>
            <a:off x="9226296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20072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299448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ポジティブ回答率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99448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81%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299448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非推奨1件。ただし料金0〜60%・解約0〜31%・著作権8〜46%と、契約直前テーマが弱い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343400"/>
            <a:ext cx="11183112" cy="1554480"/>
          </a:xfrm>
          <a:prstGeom prst="roundRect">
            <a:avLst>
              <a:gd name="adj" fmla="val 6471"/>
            </a:avLst>
          </a:prstGeom>
          <a:solidFill>
            <a:srgbClr val="F5F5F7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読み取り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77240" y="482803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強い領域（SEOライティング）と圏外の領域（LLMO・汎用SEOツール）が両極端。平均値ではなく“領域の勝ち負け”で読むべき状態</a:t>
            </a:r>
            <a:endParaRPr lang="en-US" sz="108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意思決定ポジ率81%は高いが、料金・解約・著作権はAIが答えられず低評価＝公式情報の穴が契約直前の不安を放置している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LLMO／2026-08-13計測・直近30日・78プロンプト）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現状分析② — AI上のブランド認識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AIの中で、何者として認識されているか（方針11軸・検出111軸）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ポジション方針：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11軸</a:t>
            </a:r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｜　意図どおり：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8/11</a:t>
            </a:r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｜　要対策：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3件</a:t>
            </a:r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｜　強めたい/抑えたい：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10/1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32120" cy="2240280"/>
          </a:xfrm>
          <a:prstGeom prst="roundRect">
            <a:avLst>
              <a:gd name="adj" fmla="val 4490"/>
            </a:avLst>
          </a:prstGeom>
          <a:solidFill>
            <a:srgbClr val="F0E6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強い認識（AIが自社の勝ち筋として語る軸）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SEO品質管理（シェア81%）・記事作成（52%）・SEO特化（60%）は自社が主な勝者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AIライティング・SEOライティング・リライト・コンテンツ制作・AI文章品質・初心者向け＝強めたい認識が意図どおり定着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国産SEOツール勢との比較勝率は8〜10割（キーワードマップ・タクトSEO・ミエルカ・パスカル）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22392" cy="2240280"/>
          </a:xfrm>
          <a:prstGeom prst="roundRect">
            <a:avLst>
              <a:gd name="adj" fmla="val 4490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弱い認識（競合が支配・自社が圏外の軸）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304288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LLMO軸：自社シェア2%・首位Semrush（登場127回）＝強めたい認識が「陥落」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操作性軸も陥落。価格（7%・首位BringRitera）・総合力（0%・Semrush）・データ分析（0%）は競合支配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抑えたい「個人向け」認識で勝ってしまっている（企業向けと認識されたいのに逆）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11183112" cy="1737360"/>
          </a:xfrm>
          <a:prstGeom prst="roundRect">
            <a:avLst>
              <a:gd name="adj" fmla="val 5789"/>
            </a:avLst>
          </a:prstGeom>
          <a:solidFill>
            <a:srgbClr val="4A1F8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159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ブランド差分分析 — “ありたい認識”（ヒアリング）とのギャップ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68172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ありたい姿＝「AI搭載コンテンツSEOツール」×「LLMO対策」の2枚看板。前者は意図どおり定着した一方、後者はSemrush・専業ツールに支配され“何者でもない”状態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LLMO文脈の認識をゼロから作る発信が最優先。同時に「企業・チーム向け」への認識上書きで“個人向けツール”像を抑える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強い/弱い認識＝観測（ブランドポジション・2026-08-13）｜🟡 差分分析＝ブランド定義（ありたい姿）との突き合わせ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現状分析③ — サイテーション（AIの引用元）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AIが引用するメディアに、自社は載っているか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47872" cy="1371600"/>
          </a:xfrm>
          <a:prstGeom prst="roundRect">
            <a:avLst>
              <a:gd name="adj" fmla="val 7333"/>
            </a:avLst>
          </a:prstGeom>
          <a:solidFill>
            <a:srgbClr val="F0E6F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" y="1664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 / 137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0664" y="2249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掲載済み媒体数（AIが引用した媒体のうち）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70248" y="1554480"/>
            <a:ext cx="3547872" cy="1371600"/>
          </a:xfrm>
          <a:prstGeom prst="roundRect">
            <a:avLst>
              <a:gd name="adj" fmla="val 7333"/>
            </a:avLst>
          </a:prstGeom>
          <a:solidFill>
            <a:srgbClr val="F0E6FC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1664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16位 / 127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07992" y="2249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掲載済み媒体内での平均掲載順位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37576" y="1554480"/>
            <a:ext cx="3547872" cy="1371600"/>
          </a:xfrm>
          <a:prstGeom prst="roundRect">
            <a:avLst>
              <a:gd name="adj" fmla="val 7333"/>
            </a:avLst>
          </a:prstGeom>
          <a:solidFill>
            <a:srgbClr val="FDE9D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64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2,466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75320" y="2249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掲載依頼の候補URL（対策余地）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掲載ギャップの例（サンプル）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1371600"/>
                <a:gridCol w="1280160"/>
                <a:gridCol w="12161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媒体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記事（AIが引用）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AI引用回数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自社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競合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it-trend.jp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SEOツール目的別おすすめ18選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151回/3AI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satori.marketing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無料/有料SEOツール比較・プロが厳選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118回/2AI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17社掲載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aspicjapan.org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AIライティングツールの比較15選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84回/3AI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sienca.jp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SEOツールおすすめ10選を徹底比較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28回/3AI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62356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AIが最も参照する比較メディア群に、競合は載って自社だけが載っていない。掲載獲得＝そのままAI回答への露出になる。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LLMO・2026-08-17確認）｜※無料版は一部サンプルのみ。優先度付きの全メディアリスト（2,000件超）は有償分析でご提供します。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現状分析④ — サイト要因診断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AIに引用されやすいサイトになっているか（35シグナル評価）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291840" cy="2651760"/>
          </a:xfrm>
          <a:prstGeom prst="roundRect">
            <a:avLst>
              <a:gd name="adj" fmla="val 3793"/>
            </a:avLst>
          </a:prstGeom>
          <a:solidFill>
            <a:srgbClr val="F0E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71.0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平均スコア（100点満点）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診断対象：196 ページ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S・A帯が9割超で土台は良好。B帯18ページの底上げが課題。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1600200"/>
            <a:ext cx="770839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スコア分布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1214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S（80点以上）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148840"/>
            <a:ext cx="816102" cy="256032"/>
          </a:xfrm>
          <a:prstGeom prst="roundRect">
            <a:avLst>
              <a:gd name="adj" fmla="val 14286"/>
            </a:avLst>
          </a:prstGeom>
          <a:solidFill>
            <a:srgbClr val="8541DC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0" y="21214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21%  42頁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A（60〜79点）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2660904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660904"/>
            <a:ext cx="2681478" cy="256032"/>
          </a:xfrm>
          <a:prstGeom prst="roundRect">
            <a:avLst>
              <a:gd name="adj" fmla="val 14286"/>
            </a:avLst>
          </a:prstGeom>
          <a:solidFill>
            <a:srgbClr val="A970E8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0" y="2633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69%  136頁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3145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B（40〜59点）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172968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3172968"/>
            <a:ext cx="349758" cy="256032"/>
          </a:xfrm>
          <a:prstGeom prst="roundRect">
            <a:avLst>
              <a:gd name="adj" fmla="val 14286"/>
            </a:avLst>
          </a:prstGeom>
          <a:solidFill>
            <a:srgbClr val="F57527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0" y="3145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9%  18頁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3657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C（40点未満）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3685032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3685032"/>
            <a:ext cx="27432" cy="256032"/>
          </a:xfrm>
          <a:prstGeom prst="roundRect">
            <a:avLst>
              <a:gd name="adj" fmla="val 133333"/>
            </a:avLst>
          </a:prstGeom>
          <a:solidFill>
            <a:srgbClr val="8A8F9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0" y="3657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0%  0頁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434840"/>
            <a:ext cx="11183112" cy="1463040"/>
          </a:xfrm>
          <a:prstGeom prst="roundRect">
            <a:avLst>
              <a:gd name="adj" fmla="val 6875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主な所見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491947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マガジン記事群は高評価（80点台後半）な一方、会社情報・導入事例・料金・機能一覧など“信頼を裏づけるページ”が低スコア＝意思決定KPIの弱さ（料金・解約）と直結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サイトマップ・お役立ち資料など構造面にも改善余地。構造化データ・FAQ整備でB帯18ページは底上げ可能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 サイト最適化診断・196ページ）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対策の方向性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無料版では“方向性”までをご提示します。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DIRECTION — 対策の方向性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事実をふまえた4つの方向性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874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比較メディアへの掲載獲得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AI引用回数の多い比較メディア（掲載依頼候補2,466URL）への掲載を優先度順に獲得し、情報収集〜想起の露出面を作る。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5352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02952" y="1874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857232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成長領域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「LLMO」認識の奪還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65392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陥落した強化軸LLMOについて、事例・解説・第三者言及を集中発信し、Semrush支配の文脈に自社の想起を作る。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4023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意思決定情報の整備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料金・解約・著作権などAIが答えられていない公式情報を構造化して公開し、契約直前の不安を解消する。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45352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45352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02952" y="4023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29" name="Text 27"/>
          <p:cNvSpPr/>
          <p:nvPr/>
        </p:nvSpPr>
        <p:spPr>
          <a:xfrm>
            <a:off x="9857232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65392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信頼ページの底上げ＋企業向け認識の上書き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65392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会社情報・導入事例・料金等の低スコアページを改善し、「企業・チーム向け」の文脈を一貫発信して“個人向け”認識を抑える。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提言（方向性のみ）｜どのメディアから・どのページから・どの順で行うかのタスク設計は、コンサルティングでご提供します。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AI経由売上の測り方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露出指標で終わらせず、AIが貢献した売上を金額で示す。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MEASUREMENT — AI経由売上貢献の算定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露出で終わらせない。“AIが貢献した売上”を金額で示す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2880360"/>
          </a:xfrm>
          <a:prstGeom prst="roundRect">
            <a:avLst>
              <a:gd name="adj" fmla="val 3492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計測方法：問い合わせフォームに2問追加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Q1. 当社をどこで知ったか（検索／生成AI／比較・一括請求サイト／紹介 等）</a:t>
            </a:r>
            <a:endParaRPr lang="en-US" sz="11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Q2. 検討に生成AIを使ったか（はい／いいえ）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回答を AI新規認知／AI検討関与／AI非関与 に分類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22392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回答の分類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8541D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762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AI新規認知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0" y="21579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AIがきっかけで知った
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貢献度 100%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37960" y="290779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A970E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88950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AI検討関与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3920" y="287121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既知だが検討でAIを使った
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貢献係数（初期50%）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8A8F9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60273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AI非関与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3920" y="35844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AIを使っていない
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617720"/>
            <a:ext cx="11183112" cy="868680"/>
          </a:xfrm>
          <a:prstGeom prst="roundRect">
            <a:avLst>
              <a:gd name="adj" fmla="val 11579"/>
            </a:avLst>
          </a:prstGeom>
          <a:solidFill>
            <a:srgbClr val="4A1F8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817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AI売上貢献額 ＝ AI新規認知の売上 × 100% ＋ AI検討関与の売上 × 貢献係数（初期50%）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※係数はデータ蓄積後に30〜70%で見直し。粗利が分かれば“AI粗利貢献額”で評価する。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15278"/>
            </a:avLst>
          </a:prstGeom>
          <a:solidFill>
            <a:srgbClr val="F0E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16%　</a:t>
            </a:r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AI検索の成果を体系的に追跡できているブランドはわずか16%（McKinsey）。＝“先行優位”を取るチャンス。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MEASUREMENT — 試算例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AI経由売上貢献額の試算（イメージ）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4233672"/>
                <a:gridCol w="347472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指標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AI新規認知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AI検討関与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問い合わせ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成約（成約率20%）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年間収益（@60万円/件）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AI貢献度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AI売上貢献額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120万円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777240"/>
          </a:xfrm>
          <a:prstGeom prst="roundRect">
            <a:avLst>
              <a:gd name="adj" fmla="val 12941"/>
            </a:avLst>
          </a:prstGeom>
          <a:solidFill>
            <a:srgbClr val="4A1F8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166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合計 AI売上貢献額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年間 360万円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※数値は仮のイメージです。実際は貴社の問い合わせ/予約数・成約率・単価に置き換えて算出します（初回はアンケート設計から）。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ここから先のご支援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実行まで任せる／自社で回す／軽く続ける。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SUPPORT MENU — ここから先のご支援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無料分析の範囲と、次の選択肢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731520"/>
          </a:xfrm>
          <a:prstGeom prst="roundRect">
            <a:avLst>
              <a:gd name="adj" fmla="val 1375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17904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本無料分析の範囲　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計測プロンプトは限定本数／掲載メディアリストは一部サンプルのみ／対策は「方向性」までのご提示です。詳細のタスク設計・実行はコンサルティング領域となります。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395728"/>
            <a:ext cx="354787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395728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2606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87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実行まで任せたい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LLMOコンサルティング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8952" y="3429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月60万円〜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3858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対策の詳細タスク設計から実行まで伴走。メディア掲載交渉・コンテンツ整備・構造化・月次モニタリングまで一気通貫で支援します。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270248" y="2395728"/>
            <a:ext cx="354787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0248" y="2395728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2606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587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自社で回したい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ツール契約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3429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要お見積り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3858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本分析で使用したモニタリング等、部分的な機能だけのツール契約が可能。自社チームでAI検索の定点観測を回せます。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037576" y="2395728"/>
            <a:ext cx="354787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37576" y="2395728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3608" y="2606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23" name="Text 21"/>
          <p:cNvSpPr/>
          <p:nvPr/>
        </p:nvSpPr>
        <p:spPr>
          <a:xfrm>
            <a:off x="8247888" y="2587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軽く続けたい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93608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レポーティング＋助言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93608" y="3429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月1回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3608" y="3858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本レポート形式での定期レポーティングと改善助言のみのご契約も可能。社内の意思決定材料としてご活用いただけます。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11183112" cy="914400"/>
          </a:xfrm>
          <a:prstGeom prst="roundRect">
            <a:avLst>
              <a:gd name="adj" fmla="val 11000"/>
            </a:avLst>
          </a:prstGeom>
          <a:solidFill>
            <a:srgbClr val="4A1F87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ブランド定義から見直したい場合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LLMOは「AIに何者として覚えてもらうか」＝ブランド定義が起点です。CEP分析・n1分析・カテゴリコンセプト開発など、定義そのものを作り直すご支援も可能です。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94367" y="4836673"/>
            <a:ext cx="1554480" cy="1554480"/>
          </a:xfrm>
          <a:prstGeom prst="ellipse">
            <a:avLst/>
          </a:prstGeom>
          <a:solidFill>
            <a:srgbClr val="8541D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47454" y="5551734"/>
            <a:ext cx="1554480" cy="1554480"/>
          </a:xfrm>
          <a:prstGeom prst="ellipse">
            <a:avLst/>
          </a:prstGeom>
          <a:solidFill>
            <a:srgbClr val="A970E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5551734"/>
            <a:ext cx="1554480" cy="1554480"/>
          </a:xfrm>
          <a:prstGeom prst="ellipse">
            <a:avLst/>
          </a:prstGeom>
          <a:solidFill>
            <a:srgbClr val="6A2FB8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主戦場は勝てている。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次は“LLMOの土俵”を取りにいく。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有償分析：計測プロンプト拡張×全メディアリスト×対策タスク設計</a:t>
            </a:r>
            <a:endParaRPr lang="en-US" sz="13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コンサルティング（月60万円〜）：メディア掲載交渉・コンテンツ整備・構造化まで実行伴走</a:t>
            </a:r>
            <a:endParaRPr lang="en-US" sz="13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まずは本レポートの内容について、30分のご説明の場を設定させてください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株式会社EXIDEA　EmmaTools / LLMO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EmmaTools（株式会社EXIDEA）様 LLMO無料分析</dc:title>
  <dc:subject>PptxGenJS Presentation</dc:subject>
  <dc:creator>EXIDEA Inc.</dc:creator>
  <cp:lastModifiedBy>EXIDEA Inc.</cp:lastModifiedBy>
  <cp:revision>1</cp:revision>
  <dcterms:created xsi:type="dcterms:W3CDTF">2026-08-18T03:30:35Z</dcterms:created>
  <dcterms:modified xsi:type="dcterms:W3CDTF">2026-08-18T03:30:35Z</dcterms:modified>
</cp:coreProperties>
</file>